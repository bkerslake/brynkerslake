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dbeea7ce764df4" /><Relationship Type="http://schemas.openxmlformats.org/officeDocument/2006/relationships/extended-properties" Target="/docProps/app.xml" Id="R37b81cc8447d4ce7" /><Relationship Type="http://schemas.openxmlformats.org/officeDocument/2006/relationships/officeDocument" Target="/ppt/presentation.xml" Id="Rbe35a40751c940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0b0d7d68784805"/>
  </p:sldMasterIdLst>
  <p:notesMasterIdLst>
    <p:notesMasterId xmlns:r="http://schemas.openxmlformats.org/officeDocument/2006/relationships" r:id="Ra3c87b1cee6741ca"/>
  </p:notesMasterIdLst>
  <p:sldIdLst>
    <p:sldId xmlns:r="http://schemas.openxmlformats.org/officeDocument/2006/relationships" id="256" r:id="R826073b54e804a2a"/>
    <p:sldId xmlns:r="http://schemas.openxmlformats.org/officeDocument/2006/relationships" id="257" r:id="R0a60acf92a6a47d1"/>
    <p:sldId xmlns:r="http://schemas.openxmlformats.org/officeDocument/2006/relationships" id="258" r:id="R1bbe3f269d9e4d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ea2d40b3b842a7" /><Relationship Type="http://schemas.openxmlformats.org/officeDocument/2006/relationships/slideMaster" Target="/ppt/slideMasters/slideMaster1.xml" Id="R030b0d7d68784805" /><Relationship Type="http://schemas.openxmlformats.org/officeDocument/2006/relationships/notesMaster" Target="/ppt/notesMasters/notesMaster1.xml" Id="Ra3c87b1cee6741ca" /><Relationship Type="http://schemas.openxmlformats.org/officeDocument/2006/relationships/presProps" Target="/ppt/presProps.xml" Id="R60c7d2b7242e4f55" /><Relationship Type="http://schemas.openxmlformats.org/officeDocument/2006/relationships/tableStyles" Target="/ppt/tableStyles.xml" Id="Rbd3e6b1212f64a1b" /><Relationship Type="http://schemas.openxmlformats.org/officeDocument/2006/relationships/slide" Target="/ppt/slides/slide1.xml" Id="R826073b54e804a2a" /><Relationship Type="http://schemas.openxmlformats.org/officeDocument/2006/relationships/slide" Target="/ppt/slides/slide2.xml" Id="R0a60acf92a6a47d1" /><Relationship Type="http://schemas.openxmlformats.org/officeDocument/2006/relationships/slide" Target="/ppt/slides/slide3.xml" Id="R1bbe3f269d9e4d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9b5569de5c4a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6da335ec754911" /><Relationship Type="http://schemas.openxmlformats.org/officeDocument/2006/relationships/notesMaster" Target="/ppt/notesMasters/notesMaster1.xml" Id="R2bde9961375842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2a387f970548a6" /><Relationship Type="http://schemas.openxmlformats.org/officeDocument/2006/relationships/notesMaster" Target="/ppt/notesMasters/notesMaster1.xml" Id="R20907fba18e34f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6d05228c894287" /><Relationship Type="http://schemas.openxmlformats.org/officeDocument/2006/relationships/notesMaster" Target="/ppt/notesMasters/notesMaster1.xml" Id="Rf30ab9b17d9740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Set the scene plainly: the logic worked in development, but the first full-scale refresh stalled.</a:t>
            </a:r>
          </a:p>
          <a:p xmlns:a="http://schemas.openxmlformats.org/drawingml/2006/main">
            <a:r>
              <a:t>- This was my first production-scale recommendation pipeline, so I had to learn data grain and query behavior while the launch was moving.</a:t>
            </a:r>
          </a:p>
          <a:p xmlns:a="http://schemas.openxmlformats.org/drawingml/2006/main">
            <a:r>
              <a:t>- I isolated the expansion stage by stage, moved feed eligibility earlier, and tested representative cohorts before rerunning the full population.</a:t>
            </a:r>
          </a:p>
          <a:p xmlns:a="http://schemas.openxmlformats.org/drawingml/2006/main">
            <a:r>
              <a:t>- The important outcome is operational: the refresh became predictable enough to support a safe launch. Keep the exact row-count detail for Q&amp;A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/Users/brynkerslake/Downloads/text-46FA-96B3-43-0.txt</a:t>
            </a:r>
          </a:p>
          <a:p xmlns:a="http://schemas.openxmlformats.org/drawingml/2006/main">
            <a:r>
              <a:t>- /Users/brynkerslake/Downloads/text-48360E4429C1-1.txt</a:t>
            </a:r>
          </a:p>
          <a:p xmlns:a="http://schemas.openxmlformats.org/drawingml/2006/main">
            <a:r>
              <a:t>- User-provided interview context,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The setback was a product-definition gap. Creation activity carries more ambiguity than listening activity.</a:t>
            </a:r>
          </a:p>
          <a:p xmlns:a="http://schemas.openxmlformats.org/drawingml/2006/main">
            <a:r>
              <a:t>- A user may be experimenting, making private work, or trying a style once. Pure similarity can therefore be technically correct and still feel wrong.</a:t>
            </a:r>
          </a:p>
          <a:p xmlns:a="http://schemas.openxmlformats.org/drawingml/2006/main">
            <a:r>
              <a:t>- We resolved this by giving each feed a distinct user job, eligibility rule, and primary outcome.</a:t>
            </a:r>
          </a:p>
          <a:p xmlns:a="http://schemas.openxmlformats.org/drawingml/2006/main">
            <a:r>
              <a:t>- For You supports broad discovery. Because You Create uses a visible eligible creation as its anchor. The creator feed is judged by follow relationships.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/Users/brynkerslake/Downloads/text-46FA-96B3-43-0.txt</a:t>
            </a:r>
          </a:p>
          <a:p xmlns:a="http://schemas.openxmlformats.org/drawingml/2006/main">
            <a:r>
              <a:t>- /Users/brynkerslake/Downloads/text-48360E4429C1-1.txt</a:t>
            </a:r>
          </a:p>
          <a:p xmlns:a="http://schemas.openxmlformats.org/drawingml/2006/main">
            <a:r>
              <a:t>- User-provided interview context,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Start with the plain-English decision: perform expensive personalization ahead of time, then keep the live request path to one fast lookup plus current safety checks.</a:t>
            </a:r>
          </a:p>
          <a:p xmlns:a="http://schemas.openxmlformats.org/drawingml/2006/main">
            <a:r>
              <a:t>- The control plane lets us change cohorts, sources, weights, feed size, cadence, and experiment variants without rebuilding the serving code.</a:t>
            </a:r>
          </a:p>
          <a:p xmlns:a="http://schemas.openxmlformats.org/drawingml/2006/main">
            <a:r>
              <a:t>- The offline path shares infrastructure, but retrieval and ranking stay feed-specific: clip similarity for songs, profile similarity for creators, and an explicit creation anchor for Because You Create.</a:t>
            </a:r>
          </a:p>
          <a:p xmlns:a="http://schemas.openxmlformats.org/drawingml/2006/main">
            <a:r>
              <a:t>- The serving API reads one ordered row per user and feed from DynamoDB, rechecks mutable access and rights, and falls back online when a row is missing, expired, or too short.</a:t>
            </a:r>
          </a:p>
          <a:p xmlns:a="http://schemas.openxmlformats.org/drawingml/2006/main">
            <a:r>
              <a:t>- Run, item, and config identifiers link what was generated to what was shown and what the user did, closing the experiment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/Users/brynkerslake/Downloads/text-46FA-96B3-43-0.txt</a:t>
            </a:r>
          </a:p>
          <a:p xmlns:a="http://schemas.openxmlformats.org/drawingml/2006/main">
            <a:r>
              <a:t>- /Users/brynkerslake/Downloads/text-48360E4429C1-1.txt</a:t>
            </a:r>
          </a:p>
          <a:p xmlns:a="http://schemas.openxmlformats.org/drawingml/2006/main">
            <a:r>
              <a:t>- User-provided interview context,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f8e64fbfaf48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a2e85de8a34943" /><Relationship Type="http://schemas.openxmlformats.org/officeDocument/2006/relationships/slideLayout" Target="/ppt/slideLayouts/slideLayout1.xml" Id="Rc58c5755106348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8c5755106348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17bd8cfa148d0" /><Relationship Type="http://schemas.openxmlformats.org/officeDocument/2006/relationships/notesSlide" Target="/ppt/notesSlides/notesSlide1.xml" Id="R355bcdb812f646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d9d7aedd94286" /><Relationship Type="http://schemas.openxmlformats.org/officeDocument/2006/relationships/notesSlide" Target="/ppt/notesSlides/notesSlide2.xml" Id="Rbe77ba7692f646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8fdd85ce64670" /><Relationship Type="http://schemas.openxmlformats.org/officeDocument/2006/relationships/notesSlide" Target="/ppt/notesSlides/notesSlide3.xml" Id="R1727a7b0445a42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7DE8C7-4026-4140-AAB6-00038C46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C1F2B-8E43-46EA-ADEC-7AC27858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SETBACK 1: PRODUCTION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32038-DA79-4279-9CFD-F2973839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Small tests passed; the first production-scale run stalled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75A11-DB38-4AAF-A6E8-E7C6BC66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14366-3163-4E37-94FA-1904E221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79CFA-3A3C-4C5D-9739-AF0A54A8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SUNO RECOMMENDATION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B4BD7-5AAE-4B77-9634-AB85C0D3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436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INTERVIEW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F2601-5731-40BF-AAC2-AF4738FC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89BF7-4D48-4962-85C7-4D6D50C7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A640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6403B"/>
                </a:solidFill>
                <a:latin typeface="Arial"/>
                <a:ea typeface="Arial"/>
                <a:cs typeface="Arial"/>
              </a:rPr>
              <a:t>WHAT HAPPENED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9CD10-E3DE-48E3-8E86-90D7DC72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5010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The feed logic worked on small cohorts. At full scale, intermediate data expanded before filtering and the refresh missed its operating window.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51AC4-2321-4F6F-B0C2-DFF5DC73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5200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CEB"/>
          </a:solidFill>
          <a:ln xmlns:a="http://schemas.openxmlformats.org/drawingml/2006/main" w="0">
            <a:solidFill>
              <a:srgbClr val="F8EC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718C6-8DF1-4324-B71F-7C931174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A640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6403B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B571C-4593-4B66-AB9A-86F60367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02A"/>
                </a:solidFill>
                <a:latin typeface="Arial"/>
                <a:ea typeface="Arial"/>
                <a:cs typeface="Arial"/>
              </a:rPr>
              <a:t>small-sample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3C3AB-DA97-4377-9DA5-128BE3AF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76575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A640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6403B"/>
                </a:solidFill>
                <a:latin typeface="Arial"/>
                <a:ea typeface="Arial"/>
                <a:cs typeface="Arial"/>
              </a:rPr>
              <a:t>Stalled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846D0-8C68-45D3-A8C0-3F26ABDA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38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02A"/>
                </a:solidFill>
                <a:latin typeface="Arial"/>
                <a:ea typeface="Arial"/>
                <a:cs typeface="Arial"/>
              </a:rPr>
              <a:t>full-data refresh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33851-8CBB-4525-94CE-ECF6C5CA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76575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A640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6403B"/>
                </a:solidFill>
                <a:latin typeface="Arial"/>
                <a:ea typeface="Arial"/>
                <a:cs typeface="Arial"/>
              </a:rPr>
              <a:t>At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66D6D-D232-421E-8E3C-5436945C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02A"/>
                </a:solidFill>
                <a:latin typeface="Arial"/>
                <a:ea typeface="Arial"/>
                <a:cs typeface="Arial"/>
              </a:rPr>
              <a:t>launch timeline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D410C-10E1-43B8-B4C7-E62C4B0D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76400"/>
            <a:ext cx="0" cy="2914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39EE2A-277D-4DE9-9101-D9F2FE9B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7A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A5B"/>
                </a:solidFill>
                <a:latin typeface="Arial"/>
                <a:ea typeface="Arial"/>
                <a:cs typeface="Arial"/>
              </a:rPr>
              <a:t>HOW I RECOVERED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C1E25A-B462-447A-AD4B-C0BD0846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I treated scale as part of correctness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D551B1-D5A6-4A79-8994-5D46F079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9080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Traced row growth stage by stage. Verified the data grain. Moved eligibility filters earlier. Re-tested on representative cohorts before the full population.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8CAAFF-5CBA-41AB-908C-0C0A87FB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667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0">
            <a:solidFill>
              <a:srgbClr val="E8F3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25577F-3C03-44D9-8F60-FEFCA685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24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67A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A5B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76F43E-4562-4F2F-A809-880EAD86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1000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Predictable refreshes and a safe production launch.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A39F77-D9E1-4788-947F-05F667A1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10534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EEE43E-25E4-49EF-9687-DCCE3536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244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LESSON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10C23F-B97B-45EF-AA69-CACE7B4A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86325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Scale is part of correctness for a production data product.</a:t>
            </a:r>
          </a:p>
        </p:txBody>
      </p:sp>
    </p:spTree>
    <p:extLst>
      <p:ext uri="{BB962C8B-B14F-4D97-AF65-F5344CB8AC3E}">
        <p14:creationId xmlns:p14="http://schemas.microsoft.com/office/powerpoint/2010/main" val="50436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013EC8-A89D-41C3-BA41-73B9ADEE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54CB0-0E5E-4098-B435-21F57121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PRODUCT DEFINITION SETBACK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8C133-0FA2-469D-9D84-CADF3023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Creation behavior made our first definition of relevance too simplistic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FA278-78C1-4CE3-B243-205DB780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EB550-4E1F-4456-8F68-5F6147A8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8A93B-11E3-42A2-812D-4E8FA314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SUNO RECOMMENDATION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6AA25-5869-4F23-A727-434BC41B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436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INTERVIEW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91ED8-5CFA-4B09-843A-C0EEFF65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C40D5-EB30-4133-8790-ECEAF4F1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A640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6403B"/>
                </a:solidFill>
                <a:latin typeface="Arial"/>
                <a:ea typeface="Arial"/>
                <a:cs typeface="Arial"/>
              </a:rPr>
              <a:t>EARLY ASSUMPTION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801BA-1FD0-4487-8810-695775BF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4953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04000"/>
              </a:lnSpc>
              <a:spcAft>
                <a:spcPts val="16"/>
              </a:spcAft>
              <a:buNone/>
              <a:defRPr sz="15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A creation looked like a strong taste signal.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16"/>
              </a:spcAft>
              <a:buNone/>
              <a:defRPr sz="1575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202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22" indent="-12" algn="l">
              <a:lnSpc>
                <a:spcPct val="104000"/>
              </a:lnSpc>
              <a:spcAft>
                <a:spcPts val="16"/>
              </a:spcAft>
              <a:buNone/>
              <a:defRPr sz="15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That was incomplete:</a:t>
            </a:r>
          </a:p>
          <a:p xmlns:a="http://schemas.openxmlformats.org/drawingml/2006/main">
            <a:pPr marL="22" indent="-12" algn="l">
              <a:lnSpc>
                <a:spcPct val="104000"/>
              </a:lnSpc>
              <a:spcAft>
                <a:spcPts val="16"/>
              </a:spcAft>
              <a:buNone/>
              <a:defRPr sz="15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• people experiment with unfamiliar styles</a:t>
            </a:r>
          </a:p>
          <a:p xmlns:a="http://schemas.openxmlformats.org/drawingml/2006/main">
            <a:pPr marL="22" indent="-12" algn="l">
              <a:lnSpc>
                <a:spcPct val="104000"/>
              </a:lnSpc>
              <a:spcAft>
                <a:spcPts val="16"/>
              </a:spcAft>
              <a:buNone/>
              <a:defRPr sz="15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• some creations are private or unfinished</a:t>
            </a:r>
          </a:p>
          <a:p xmlns:a="http://schemas.openxmlformats.org/drawingml/2006/main">
            <a:pPr marL="22" indent="-12" algn="l">
              <a:lnSpc>
                <a:spcPct val="104000"/>
              </a:lnSpc>
              <a:spcAft>
                <a:spcPts val="16"/>
              </a:spcAft>
              <a:buNone/>
              <a:defRPr sz="1575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• one creation does not imply demand for more of the same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C09CC-B2E5-4482-8E71-4ABFE708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581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1D020-A4E2-43A3-A0CE-E042977C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FEED-SPECIFIC DECISIONS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C8DDB-A95E-4BD2-BC0A-280E3CEC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52006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02000"/>
              </a:lnSpc>
              <a:spcAft>
                <a:spcPts val="16"/>
              </a:spcAft>
              <a:buNone/>
              <a:defRPr sz="1500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FOR YOU</a:t>
            </a:r>
          </a:p>
          <a:p xmlns:a="http://schemas.openxmlformats.org/drawingml/2006/main">
            <a:pPr marL="22" indent="-12" algn="l">
              <a:lnSpc>
                <a:spcPct val="102000"/>
              </a:lnSpc>
              <a:spcAft>
                <a:spcPts val="16"/>
              </a:spcAft>
              <a:buNone/>
              <a:defRPr sz="1500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Mix listening, likes, creations, and trends.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16"/>
              </a:spcAft>
              <a:buNone/>
              <a:defRPr sz="1575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202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22" indent="-12" algn="l">
              <a:lnSpc>
                <a:spcPct val="102000"/>
              </a:lnSpc>
              <a:spcAft>
                <a:spcPts val="16"/>
              </a:spcAft>
              <a:buNone/>
              <a:defRPr sz="1500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BECAUSE YOU CREATE</a:t>
            </a:r>
          </a:p>
          <a:p xmlns:a="http://schemas.openxmlformats.org/drawingml/2006/main">
            <a:pPr marL="22" indent="-12" algn="l">
              <a:lnSpc>
                <a:spcPct val="102000"/>
              </a:lnSpc>
              <a:spcAft>
                <a:spcPts val="16"/>
              </a:spcAft>
              <a:buNone/>
              <a:defRPr sz="1500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Use one eligible creation as the visible anchor; fall back when none is suitable.</a:t>
            </a:r>
          </a:p>
          <a:p xmlns:a="http://schemas.openxmlformats.org/drawingml/2006/main">
            <a:pPr marL="22" indent="-12">
              <a:lnSpc>
                <a:spcPct val="108000"/>
              </a:lnSpc>
              <a:spcAft>
                <a:spcPts val="16"/>
              </a:spcAft>
              <a:buNone/>
              <a:defRPr sz="1575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202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22" indent="-12" algn="l">
              <a:lnSpc>
                <a:spcPct val="102000"/>
              </a:lnSpc>
              <a:spcAft>
                <a:spcPts val="16"/>
              </a:spcAft>
              <a:buNone/>
              <a:defRPr sz="1500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CREATORS</a:t>
            </a:r>
          </a:p>
          <a:p xmlns:a="http://schemas.openxmlformats.org/drawingml/2006/main">
            <a:pPr marL="22" indent="-12" algn="l">
              <a:lnSpc>
                <a:spcPct val="102000"/>
              </a:lnSpc>
              <a:spcAft>
                <a:spcPts val="16"/>
              </a:spcAft>
              <a:buNone/>
              <a:defRPr sz="1500" b="0">
                <a:solidFill>
                  <a:srgbClr val="18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02A"/>
                </a:solidFill>
                <a:latin typeface="Arial"/>
                <a:ea typeface="Arial"/>
                <a:cs typeface="Arial"/>
              </a:rPr>
              <a:t>Rank people for the follow outcome.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DE4FC-507B-4307-AEE2-5E37D0A5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11010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950AE8-1818-4604-9803-4A3B98E0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1062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Defining the user job, eligibility rule, and success metric came before tuning the ranking.</a:t>
            </a:r>
          </a:p>
        </p:txBody>
      </p:sp>
    </p:spTree>
    <p:extLst>
      <p:ext uri="{BB962C8B-B14F-4D97-AF65-F5344CB8AC3E}">
        <p14:creationId xmlns:p14="http://schemas.microsoft.com/office/powerpoint/2010/main" val="3577215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A884C4-3563-4847-B121-A75A72A5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EC271-F748-4172-88EC-1EB51854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SYSTEM DESIGN AND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27356-5011-429B-AD63-0662EC3A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Expensive personalization runs offline; each request stays fast and safe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D137D-C6A9-4B28-A968-E929A48C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49F72-FECC-49F8-A5ED-A030C50D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84043-C2D2-4336-903C-F1FF2CC9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SUNO RECOMMENDATION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5D400-5F17-4F80-857E-5E2C62E5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4367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7919C"/>
                </a:solidFill>
                <a:latin typeface="Arial"/>
                <a:ea typeface="Arial"/>
                <a:cs typeface="Arial"/>
              </a:rPr>
              <a:t>INTERVIEW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53BEB-4567-47A5-9B86-27B263F4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6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94742-86F9-4A5B-8335-252FB097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1010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86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91F7A-0519-421C-8074-80DB3D50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954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CONTROL PLANE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2359E-7FA3-419F-A5E2-9EACD605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28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Feed config + experiments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D9EB6-A169-4845-B4F6-8C0C1427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57375"/>
            <a:ext cx="607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Statsig: cohort | variant | sources | weights | target size | cadence | rollback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A826E-023F-41C5-A7F4-49A998C0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623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86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5B213-F68B-4CC2-A1AD-B4B27E39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178D7-E36C-4B40-B4FE-B4CE9675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3797E-1879-4864-997D-F28D0F79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Signals + retrieval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38B68-2554-4ABD-9DC8-AADC77F5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Snowflake user signals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Clip ANN: FAISS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Creator ANN: Cortex / HNSW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Personal + trend pools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DC581-B0E6-4304-B02E-61436969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623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86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862ADD-4920-4566-A60B-73FC6B75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6225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DA4324-98AE-451F-A1E7-ADF67CBA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146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C63CAE-EF5B-4016-ABAC-13D4B70D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0040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Feed decisions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68E925-B4E7-4956-A369-DA28647E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0045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Per-feed relevance and quality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Safety, negatives, cooldown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Slot assembly, dedupe, refill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Attach source + run/item/config IDs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AFF0A-1917-4FF1-9B56-9496C944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623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86B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2C48AC-FD31-4401-A6BF-65A7F3A9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62250"/>
            <a:ext cx="200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02485B-5A4A-47DA-BC73-F2A4573E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146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CB68B0-4D3D-4950-87C7-9FFF9CDC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004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Materialize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2F559D-AD2E-4EDF-BABD-8344AF5C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0045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Dagster + Glue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One ordered row per user + feed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DynamoDB + TTL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6C2756-14C0-45B1-88AE-83E75DC6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431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86B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FEB9AF-CA30-4B24-B8CE-5CA4C560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62250"/>
            <a:ext cx="21145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86B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688890-6302-4246-A09C-BE21327C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146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91A9DC-4BBB-495D-B182-D216A662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004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Serve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956240-4573-4EC5-934D-29A5C6AA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00450"/>
            <a:ext cx="1771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One DynamoDB lookup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Recheck access + rights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Fallback if missing / short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5B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3"/>
                </a:solidFill>
                <a:latin typeface="Arial"/>
                <a:ea typeface="Arial"/>
                <a:cs typeface="Arial"/>
              </a:rPr>
              <a:t>Web + mobile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D062BC-007A-4CFE-97D3-E7CA0C08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636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OFFLINE GENERATION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A45119-D215-4043-9C17-A7333FA4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148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87919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7919C"/>
                </a:solidFill>
                <a:latin typeface="Arial"/>
                <a:ea typeface="Arial"/>
                <a:cs typeface="Arial"/>
              </a:rPr>
              <a:t>REQUEST PATH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4C7526-91A2-4E55-AAB2-E915F783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76800"/>
            <a:ext cx="11010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08710C-47FC-456A-BD20-C274EC18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339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E63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63A3"/>
                </a:solidFill>
                <a:latin typeface="Arial"/>
                <a:ea typeface="Arial"/>
                <a:cs typeface="Arial"/>
              </a:rPr>
              <a:t>OUTPUT + LEARNING LOOP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49EB26-9413-46BD-BA41-F77F02FC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8629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43E"/>
                </a:solidFill>
                <a:latin typeface="Arial"/>
                <a:ea typeface="Arial"/>
                <a:cs typeface="Arial"/>
              </a:rPr>
              <a:t>Homepage: For You | Because You Create | Creators You May Like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43E"/>
                </a:solidFill>
                <a:latin typeface="Arial"/>
                <a:ea typeface="Arial"/>
                <a:cs typeface="Arial"/>
              </a:rPr>
              <a:t>Run, item, and config IDs connect recommendations to impressions, plays, and follows. Experiment results update the next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11994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2026-08-10T01:50:46.9060000Z</dcterms:created>
  <dcterms:modified xsi:type="dcterms:W3CDTF">2026-08-10T01:50:46.9060000Z</dcterms:modified>
</coreProperties>
</file>