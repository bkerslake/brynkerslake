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47b1e99e3243d9" /><Relationship Type="http://schemas.openxmlformats.org/officeDocument/2006/relationships/extended-properties" Target="/docProps/app.xml" Id="Re7e9a12d94f04fec" /><Relationship Type="http://schemas.openxmlformats.org/officeDocument/2006/relationships/officeDocument" Target="/ppt/presentation.xml" Id="R8ceb121b59bd4d20" /></Relationships>
</file>

<file path=ppt/presentation.xml><?xml version="1.0" encoding="utf-8"?>
<p:presentation xmlns:p="http://schemas.openxmlformats.org/presentationml/2006/main">
  <p:sldMasterIdLst>
    <p:sldMasterId xmlns:r="http://schemas.openxmlformats.org/officeDocument/2006/relationships" id="2147483648" r:id="Rce32628d29464a8e"/>
  </p:sldMasterIdLst>
  <p:notesMasterIdLst>
    <p:notesMasterId xmlns:r="http://schemas.openxmlformats.org/officeDocument/2006/relationships" r:id="R6fd5db7064f74f2c"/>
  </p:notesMasterIdLst>
  <p:sldIdLst>
    <p:sldId xmlns:r="http://schemas.openxmlformats.org/officeDocument/2006/relationships" id="256" r:id="R547df3fa2f38404e"/>
    <p:sldId xmlns:r="http://schemas.openxmlformats.org/officeDocument/2006/relationships" id="257" r:id="Rd7c8469134c14371"/>
    <p:sldId xmlns:r="http://schemas.openxmlformats.org/officeDocument/2006/relationships" id="258" r:id="R367326a013424f8e"/>
    <p:sldId xmlns:r="http://schemas.openxmlformats.org/officeDocument/2006/relationships" id="259" r:id="R0e285979de9e4ab5"/>
    <p:sldId xmlns:r="http://schemas.openxmlformats.org/officeDocument/2006/relationships" id="260" r:id="Rb67026b13601412f"/>
    <p:sldId xmlns:r="http://schemas.openxmlformats.org/officeDocument/2006/relationships" id="261" r:id="R9eeaf03002944a05"/>
    <p:sldId xmlns:r="http://schemas.openxmlformats.org/officeDocument/2006/relationships" id="262" r:id="Rdd1b26eaef0d4bd1"/>
    <p:sldId xmlns:r="http://schemas.openxmlformats.org/officeDocument/2006/relationships" id="263" r:id="R971f6157a7fa41cd"/>
    <p:sldId xmlns:r="http://schemas.openxmlformats.org/officeDocument/2006/relationships" id="264" r:id="Rac453cc0d1074eb7"/>
    <p:sldId xmlns:r="http://schemas.openxmlformats.org/officeDocument/2006/relationships" id="265" r:id="R73f9564678764343"/>
    <p:sldId xmlns:r="http://schemas.openxmlformats.org/officeDocument/2006/relationships" id="266" r:id="R6347f88f56a64b7c"/>
    <p:sldId xmlns:r="http://schemas.openxmlformats.org/officeDocument/2006/relationships" id="267" r:id="Rb3d5a98314754a2d"/>
    <p:sldId xmlns:r="http://schemas.openxmlformats.org/officeDocument/2006/relationships" id="268" r:id="R4f4e9a2809cf4315"/>
    <p:sldId xmlns:r="http://schemas.openxmlformats.org/officeDocument/2006/relationships" id="269" r:id="R042c6c85b4444c40"/>
    <p:sldId xmlns:r="http://schemas.openxmlformats.org/officeDocument/2006/relationships" id="270" r:id="Rbf0f918658fd496f"/>
    <p:sldId xmlns:r="http://schemas.openxmlformats.org/officeDocument/2006/relationships" id="271" r:id="R9eb3d4c6d14640a2"/>
    <p:sldId xmlns:r="http://schemas.openxmlformats.org/officeDocument/2006/relationships" id="272" r:id="R1961ac0802324746"/>
    <p:sldId xmlns:r="http://schemas.openxmlformats.org/officeDocument/2006/relationships" id="273" r:id="Rb7faad7ddeeb4d09"/>
    <p:sldId xmlns:r="http://schemas.openxmlformats.org/officeDocument/2006/relationships" id="274" r:id="R91baffc2be6d4468"/>
    <p:sldId xmlns:r="http://schemas.openxmlformats.org/officeDocument/2006/relationships" id="275" r:id="Rcf207d6f3e8841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11ff94a7ba4283" /><Relationship Type="http://schemas.openxmlformats.org/officeDocument/2006/relationships/slideMaster" Target="/ppt/slideMasters/slideMaster1.xml" Id="Rce32628d29464a8e" /><Relationship Type="http://schemas.openxmlformats.org/officeDocument/2006/relationships/notesMaster" Target="/ppt/notesMasters/notesMaster1.xml" Id="R6fd5db7064f74f2c" /><Relationship Type="http://schemas.openxmlformats.org/officeDocument/2006/relationships/presProps" Target="/ppt/presProps.xml" Id="R0e7ec1ce281d4ed2" /><Relationship Type="http://schemas.openxmlformats.org/officeDocument/2006/relationships/tableStyles" Target="/ppt/tableStyles.xml" Id="R033eabddbc294040" /><Relationship Type="http://schemas.openxmlformats.org/officeDocument/2006/relationships/slide" Target="/ppt/slides/slide1.xml" Id="R547df3fa2f38404e" /><Relationship Type="http://schemas.openxmlformats.org/officeDocument/2006/relationships/slide" Target="/ppt/slides/slide2.xml" Id="Rd7c8469134c14371" /><Relationship Type="http://schemas.openxmlformats.org/officeDocument/2006/relationships/slide" Target="/ppt/slides/slide3.xml" Id="R367326a013424f8e" /><Relationship Type="http://schemas.openxmlformats.org/officeDocument/2006/relationships/slide" Target="/ppt/slides/slide4.xml" Id="R0e285979de9e4ab5" /><Relationship Type="http://schemas.openxmlformats.org/officeDocument/2006/relationships/slide" Target="/ppt/slides/slide5.xml" Id="Rb67026b13601412f" /><Relationship Type="http://schemas.openxmlformats.org/officeDocument/2006/relationships/slide" Target="/ppt/slides/slide6.xml" Id="R9eeaf03002944a05" /><Relationship Type="http://schemas.openxmlformats.org/officeDocument/2006/relationships/slide" Target="/ppt/slides/slide7.xml" Id="Rdd1b26eaef0d4bd1" /><Relationship Type="http://schemas.openxmlformats.org/officeDocument/2006/relationships/slide" Target="/ppt/slides/slide8.xml" Id="R971f6157a7fa41cd" /><Relationship Type="http://schemas.openxmlformats.org/officeDocument/2006/relationships/slide" Target="/ppt/slides/slide9.xml" Id="Rac453cc0d1074eb7" /><Relationship Type="http://schemas.openxmlformats.org/officeDocument/2006/relationships/slide" Target="/ppt/slides/slide10.xml" Id="R73f9564678764343" /><Relationship Type="http://schemas.openxmlformats.org/officeDocument/2006/relationships/slide" Target="/ppt/slides/slide11.xml" Id="R6347f88f56a64b7c" /><Relationship Type="http://schemas.openxmlformats.org/officeDocument/2006/relationships/slide" Target="/ppt/slides/slide12.xml" Id="Rb3d5a98314754a2d" /><Relationship Type="http://schemas.openxmlformats.org/officeDocument/2006/relationships/slide" Target="/ppt/slides/slide13.xml" Id="R4f4e9a2809cf4315" /><Relationship Type="http://schemas.openxmlformats.org/officeDocument/2006/relationships/slide" Target="/ppt/slides/slide14.xml" Id="R042c6c85b4444c40" /><Relationship Type="http://schemas.openxmlformats.org/officeDocument/2006/relationships/slide" Target="/ppt/slides/slide15.xml" Id="Rbf0f918658fd496f" /><Relationship Type="http://schemas.openxmlformats.org/officeDocument/2006/relationships/slide" Target="/ppt/slides/slide16.xml" Id="R9eb3d4c6d14640a2" /><Relationship Type="http://schemas.openxmlformats.org/officeDocument/2006/relationships/slide" Target="/ppt/slides/slide17.xml" Id="R1961ac0802324746" /><Relationship Type="http://schemas.openxmlformats.org/officeDocument/2006/relationships/slide" Target="/ppt/slides/slide18.xml" Id="Rb7faad7ddeeb4d09" /><Relationship Type="http://schemas.openxmlformats.org/officeDocument/2006/relationships/slide" Target="/ppt/slides/slide19.xml" Id="R91baffc2be6d4468" /><Relationship Type="http://schemas.openxmlformats.org/officeDocument/2006/relationships/slide" Target="/ppt/slides/slide20.xml" Id="Rcf207d6f3e8841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f70aa6d8b248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5bd4bf6c844fc8" /><Relationship Type="http://schemas.openxmlformats.org/officeDocument/2006/relationships/notesMaster" Target="/ppt/notesMasters/notesMaster1.xml" Id="R5c28bbeefc9943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9988253b6744aa" /><Relationship Type="http://schemas.openxmlformats.org/officeDocument/2006/relationships/notesMaster" Target="/ppt/notesMasters/notesMaster1.xml" Id="R6c54c951d61a47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79507aa6af43fa" /><Relationship Type="http://schemas.openxmlformats.org/officeDocument/2006/relationships/notesMaster" Target="/ppt/notesMasters/notesMaster1.xml" Id="Rdac7ebb4ddaa4d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b76cf8000847e2" /><Relationship Type="http://schemas.openxmlformats.org/officeDocument/2006/relationships/notesMaster" Target="/ppt/notesMasters/notesMaster1.xml" Id="Re9cf25a769d44b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7b7f26f6a94e23" /><Relationship Type="http://schemas.openxmlformats.org/officeDocument/2006/relationships/notesMaster" Target="/ppt/notesMasters/notesMaster1.xml" Id="R2351f5b1215f45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e9baae7d834dae" /><Relationship Type="http://schemas.openxmlformats.org/officeDocument/2006/relationships/notesMaster" Target="/ppt/notesMasters/notesMaster1.xml" Id="R877fe815ed9749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6d4360021047f7" /><Relationship Type="http://schemas.openxmlformats.org/officeDocument/2006/relationships/notesMaster" Target="/ppt/notesMasters/notesMaster1.xml" Id="R16f721e056394d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2814141db44312" /><Relationship Type="http://schemas.openxmlformats.org/officeDocument/2006/relationships/notesMaster" Target="/ppt/notesMasters/notesMaster1.xml" Id="R4bda91ef1a6a47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d27db7f02c4bb0" /><Relationship Type="http://schemas.openxmlformats.org/officeDocument/2006/relationships/notesMaster" Target="/ppt/notesMasters/notesMaster1.xml" Id="R47de8552d1e445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ac94e3365c4acf" /><Relationship Type="http://schemas.openxmlformats.org/officeDocument/2006/relationships/notesMaster" Target="/ppt/notesMasters/notesMaster1.xml" Id="Ra4bbb9981cb5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86efe195bb4967" /><Relationship Type="http://schemas.openxmlformats.org/officeDocument/2006/relationships/notesMaster" Target="/ppt/notesMasters/notesMaster1.xml" Id="Rb835acdf39b14c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55edce3252412a" /><Relationship Type="http://schemas.openxmlformats.org/officeDocument/2006/relationships/notesMaster" Target="/ppt/notesMasters/notesMaster1.xml" Id="R1fd2b4eab7d849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f1dc6ceca3434c" /><Relationship Type="http://schemas.openxmlformats.org/officeDocument/2006/relationships/notesMaster" Target="/ppt/notesMasters/notesMaster1.xml" Id="Rd5d3b208bcb64e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240471ce2d464f" /><Relationship Type="http://schemas.openxmlformats.org/officeDocument/2006/relationships/notesMaster" Target="/ppt/notesMasters/notesMaster1.xml" Id="Rb162410dd11648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182efbabd74c99" /><Relationship Type="http://schemas.openxmlformats.org/officeDocument/2006/relationships/notesMaster" Target="/ppt/notesMasters/notesMaster1.xml" Id="Ra5791e0232c6496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b55dee02fc4f7a" /><Relationship Type="http://schemas.openxmlformats.org/officeDocument/2006/relationships/notesMaster" Target="/ppt/notesMasters/notesMaster1.xml" Id="R8b95d535fb4349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5e09bcbee74b7d" /><Relationship Type="http://schemas.openxmlformats.org/officeDocument/2006/relationships/notesMaster" Target="/ppt/notesMasters/notesMaster1.xml" Id="Rff1170b4b2cd47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e24af66ace4438" /><Relationship Type="http://schemas.openxmlformats.org/officeDocument/2006/relationships/notesMaster" Target="/ppt/notesMasters/notesMaster1.xml" Id="Rded119058f6141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404fa0d5454925" /><Relationship Type="http://schemas.openxmlformats.org/officeDocument/2006/relationships/notesMaster" Target="/ppt/notesMasters/notesMaster1.xml" Id="R22381873d4d24c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830f1ba0b04dee" /><Relationship Type="http://schemas.openxmlformats.org/officeDocument/2006/relationships/notesMaster" Target="/ppt/notesMasters/notesMaster1.xml" Id="R6396c4aacdc24b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0:00–1:15.</a:t>
            </a:r>
          </a:p>
          <a:p xmlns:a="http://schemas.openxmlformats.org/drawingml/2006/main">
            <a:r>
              <a:t>Open with the outcome, not your résumé: ‘I joined Suno as a full-stack engineering intern. I completed my assigned project in three weeks, noticed that the recommendations were weak as a user, and asked to join a small, loosely formed recommendations effort. Over the next roughly eight weeks, I helped turn that open-ended problem into three production homepage feeds.’</a:t>
            </a:r>
          </a:p>
          <a:p xmlns:a="http://schemas.openxmlformats.org/drawingml/2006/main">
            <a:r>
              <a:t>Then establish your ownership precisely: ‘I owned every data pipeline, the rollout, and production health; I did most of the backend serving and frontend implementation; and I co-designed the architecture, ranking logic, and experiments with an ML scientist and a data scientist.’</a:t>
            </a:r>
          </a:p>
          <a:p xmlns:a="http://schemas.openxmlformats.org/drawingml/2006/main">
            <a:r>
              <a:t>Transition: ‘I’ll start with why this mattered at company scale, then explain the product and engineering decisions, including where my first approaches failed.’</a:t>
            </a:r>
          </a:p>
          <a:p xmlns:a="http://schemas.openxmlformats.org/drawingml/2006/main">
            <a:r>
              <a:t/>
            </a:r>
          </a:p>
          <a:p xmlns:a="http://schemas.openxmlformats.org/drawingml/2006/main">
            <a:r>
              <a:t>[Sources]</a:t>
            </a:r>
          </a:p>
          <a:p xmlns:a="http://schemas.openxmlformats.org/drawingml/2006/main">
            <a:r>
              <a:t>- User-provided project brief and ownership clarification, 2026-08-09.</a:t>
            </a:r>
          </a:p>
          <a:p xmlns:a="http://schemas.openxmlformats.org/drawingml/2006/main">
            <a:r>
              <a:t>- User-provided Recommendation Feeds technical guide, 2026-08-09.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1:15–3:20.</a:t>
            </a:r>
          </a:p>
          <a:p xmlns:a="http://schemas.openxmlformats.org/drawingml/2006/main">
            <a:r>
              <a:t>This slide is the five-minute impact requirement. Say: ‘These were not side-page experiments. They became the first discovery surfaces users encounter on the homepage.’</a:t>
            </a:r>
          </a:p>
          <a:p xmlns:a="http://schemas.openxmlformats.org/drawingml/2006/main">
            <a:r>
              <a:t>Explain the two strongest results: the creation-seeded treatment increased feed-specific playtime by 63%, while the personalized creator treatment increased net follows by 15% and was marked statistically significant after the team’s adjustment and bot filtering. Do not imply that these are absolute rates; they are relative lifts versus their controls.</a:t>
            </a:r>
          </a:p>
          <a:p xmlns:a="http://schemas.openxmlformats.org/drawingml/2006/main">
            <a:r>
              <a:t>The third number is scope: three live feeds built in parallel, across data, ranking, serving, UI, experiments, and rollout. If challenged on the For You result, say the exact quantitative readout was not included in the materials you brought; the offline treatment shipped after holding or improving engagement and improving the serving path. Do not manufacture a number.</a:t>
            </a:r>
          </a:p>
          <a:p xmlns:a="http://schemas.openxmlformats.org/drawingml/2006/main">
            <a:r>
              <a:t>Transition: ‘Those metrics mattered because Suno’s product loop is structurally different from a conventional streaming app.’</a:t>
            </a:r>
          </a:p>
          <a:p xmlns:a="http://schemas.openxmlformats.org/drawingml/2006/main">
            <a:r>
              <a:t/>
            </a:r>
          </a:p>
          <a:p xmlns:a="http://schemas.openxmlformats.org/drawingml/2006/main">
            <a:r>
              <a:t>[Sources]</a:t>
            </a:r>
          </a:p>
          <a:p xmlns:a="http://schemas.openxmlformats.org/drawingml/2006/main">
            <a:r>
              <a:t>- User-provided scale figures: approximately 1.1M web DAU and 7M MAU.</a:t>
            </a:r>
          </a:p>
          <a:p xmlns:a="http://schemas.openxmlformats.org/drawingml/2006/main">
            <a:r>
              <a:t>- User-provided experiment screenshot IMG_5479.jpg: Because You Create relative lifts.</a:t>
            </a:r>
          </a:p>
          <a:p xmlns:a="http://schemas.openxmlformats.org/drawingml/2006/main">
            <a:r>
              <a:t>- User-provided experiment screenshot IMG_5480.jpg: personalized creator relative lifts and significance note.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3:20–5:15.</a:t>
            </a:r>
          </a:p>
          <a:p xmlns:a="http://schemas.openxmlformats.org/drawingml/2006/main">
            <a:r>
              <a:t>Make the product distinction concrete. Spotify or SoundCloud mostly infer preference from consumption. Suno has an additional, unusually strong signal: what a person tried to create. But that signal has special semantics—creations may be private, titles may be stylized, and a creator’s own work should not be treated exactly like public catalog content.</a:t>
            </a:r>
          </a:p>
          <a:p xmlns:a="http://schemas.openxmlformats.org/drawingml/2006/main">
            <a:r>
              <a:t>Tie the project to the company goal without overclaiming retention causality: ‘Retention was the company priority. These feeds targeted leading behaviors that support retention—qualified listening, creator follows, and repeat discovery. The experiments demonstrated those leading indicators; the internship window was too short to claim a fully measured long-term retention effect.’</a:t>
            </a:r>
          </a:p>
          <a:p xmlns:a="http://schemas.openxmlformats.org/drawingml/2006/main">
            <a:r>
              <a:t>The image is a sanitized crop of the homepage experiment mockup. Do not discuss internal tool names or the Slack thread around it.</a:t>
            </a:r>
          </a:p>
          <a:p xmlns:a="http://schemas.openxmlformats.org/drawingml/2006/main">
            <a:r>
              <a:t>Transition: ‘The important organizational detail is that there was no PM handing us a roadmap.’</a:t>
            </a:r>
          </a:p>
          <a:p xmlns:a="http://schemas.openxmlformats.org/drawingml/2006/main">
            <a:r>
              <a:t/>
            </a:r>
          </a:p>
          <a:p xmlns:a="http://schemas.openxmlformats.org/drawingml/2006/main">
            <a:r>
              <a:t>[Sources]</a:t>
            </a:r>
          </a:p>
          <a:p xmlns:a="http://schemas.openxmlformats.org/drawingml/2006/main">
            <a:r>
              <a:t>- User-provided project brief: retention priority and Suno create-and-listen product context.</a:t>
            </a:r>
          </a:p>
          <a:p xmlns:a="http://schemas.openxmlformats.org/drawingml/2006/main">
            <a:r>
              <a:t>- User-provided image IMG_5481.jpg, cropped to the product mockup only.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5:15–7:00.</a:t>
            </a:r>
          </a:p>
          <a:p xmlns:a="http://schemas.openxmlformats.org/drawingml/2006/main">
            <a:r>
              <a:t>Use this slide to demonstrate autonomy without sounding as though you ignored priorities. Explain that you completed the assigned project early, then brought a user-observed problem to a small group already responsible for recommendations. There was no dedicated product manager and no detailed roadmap, so you helped turn broad pain points into a sequence of shippable hypotheses.</a:t>
            </a:r>
          </a:p>
          <a:p xmlns:a="http://schemas.openxmlformats.org/drawingml/2006/main">
            <a:r>
              <a:t>Your autonomy was not working alone. It was defining the path: choosing a shared platform rather than three bespoke pipelines, turning vague product gaps into experiments, identifying cross-functional partners, and owning the path through rollout and production health.</a:t>
            </a:r>
          </a:p>
          <a:p xmlns:a="http://schemas.openxmlformats.org/drawingml/2006/main">
            <a:r>
              <a:t>Keep the original project to one sentence. The interview should remain about the recommendation program.</a:t>
            </a:r>
          </a:p>
          <a:p xmlns:a="http://schemas.openxmlformats.org/drawingml/2006/main">
            <a:r>
              <a:t>Transition: ‘To be precise about leadership, here is how responsibility split across the team.’</a:t>
            </a:r>
          </a:p>
          <a:p xmlns:a="http://schemas.openxmlformats.org/drawingml/2006/main">
            <a:r>
              <a:t/>
            </a:r>
          </a:p>
          <a:p xmlns:a="http://schemas.openxmlformats.org/drawingml/2006/main">
            <a:r>
              <a:t>[Sources]</a:t>
            </a:r>
          </a:p>
          <a:p xmlns:a="http://schemas.openxmlformats.org/drawingml/2006/main">
            <a:r>
              <a:t>- User-provided timeline and original-project description, 2026-08-09.</a:t>
            </a:r>
          </a:p>
          <a:p xmlns:a="http://schemas.openxmlformats.org/drawingml/2006/main">
            <a:r>
              <a:t>- User-provided ownership clarification, 2026-08-09.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7:00–8:30.</a:t>
            </a:r>
          </a:p>
          <a:p xmlns:a="http://schemas.openxmlformats.org/drawingml/2006/main">
            <a:r>
              <a:t>This slide prevents two bad interpretations: that you only implemented someone else’s design, or that you are claiming to have invented the recommendation science alone.</a:t>
            </a:r>
          </a:p>
          <a:p xmlns:a="http://schemas.openxmlformats.org/drawingml/2006/main">
            <a:r>
              <a:t>Use this exact framing: ‘The ML scientist brought deeper judgment about recommendation algorithms, scoring, and metric interpretation. I brought the engineering ownership required to turn those ideas into reliable user-facing systems. I wrote every data pipeline, most of the serving and UI code, and I owned rollout and health. We co-owned architecture, ranking, and experimentation.’</a:t>
            </a:r>
          </a:p>
          <a:p xmlns:a="http://schemas.openxmlformats.org/drawingml/2006/main">
            <a:r>
              <a:t>Never say the scientist was a weak engineer. In an interview, that reads as poor leadership. Describe the complementary skill split and show that you made the team more effective.</a:t>
            </a:r>
          </a:p>
          <a:p xmlns:a="http://schemas.openxmlformats.org/drawingml/2006/main">
            <a:r>
              <a:t>Transition: ‘The product choices then forced us to build three genuinely different feeds—not merely three titles on one algorithm.’</a:t>
            </a:r>
          </a:p>
          <a:p xmlns:a="http://schemas.openxmlformats.org/drawingml/2006/main">
            <a:r>
              <a:t/>
            </a:r>
          </a:p>
          <a:p xmlns:a="http://schemas.openxmlformats.org/drawingml/2006/main">
            <a:r>
              <a:t>[Sources]</a:t>
            </a:r>
          </a:p>
          <a:p xmlns:a="http://schemas.openxmlformats.org/drawingml/2006/main">
            <a:r>
              <a:t>- User-provided ownership clarification, 2026-08-09.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8:30–10:20.</a:t>
            </a:r>
          </a:p>
          <a:p xmlns:a="http://schemas.openxmlformats.org/drawingml/2006/main">
            <a:r>
              <a:t>Explain the systems in product language before architecture. For You is a mixture feed: it can combine multiple signals and degrade gracefully to personal direct buckets or trends. Because You Create is an anchor feed: the exact creation that explains the shelf must survive and be visible. Creators You May Like recommends a different entity entirely—a person—and optimizes for follows rather than plays.</a:t>
            </a:r>
          </a:p>
          <a:p xmlns:a="http://schemas.openxmlformats.org/drawingml/2006/main">
            <a:r>
              <a:t>This distinction drove different retrieval spaces, ranking logic, cold-start behavior, hard floors, and fallbacks. It is a good depth signal because it shows you did not treat ‘recommendations’ as one generic model problem.</a:t>
            </a:r>
          </a:p>
          <a:p xmlns:a="http://schemas.openxmlformats.org/drawingml/2006/main">
            <a:r>
              <a:t>Transition: ‘I wanted those differences to live on one reusable platform so that a new product hypothesis did not require a new stack.’</a:t>
            </a:r>
          </a:p>
          <a:p xmlns:a="http://schemas.openxmlformats.org/drawingml/2006/main">
            <a:r>
              <a:t/>
            </a:r>
          </a:p>
          <a:p xmlns:a="http://schemas.openxmlformats.org/drawingml/2006/main">
            <a:r>
              <a:t>[Sources]</a:t>
            </a:r>
          </a:p>
          <a:p xmlns:a="http://schemas.openxmlformats.org/drawingml/2006/main">
            <a:r>
              <a:t>- User-provided Recommendation Feeds technical guide: system comparison and product goals.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10:20–13:20.</a:t>
            </a:r>
          </a:p>
          <a:p xmlns:a="http://schemas.openxmlformats.org/drawingml/2006/main">
            <a:r>
              <a:t>Walk left to right and keep internal names out. User behavior and content representations produce candidates. Candidate retrieval is intentionally broad; ranking and filtering decide what is safe and useful. Each feed then applies its own assembly semantics. Expensive work is precomputed, so the request path becomes a fast keyed lookup, with online fallbacks for missing, stale, or undersized results. Finally, stable run and item identifiers connect generation to impressions, plays, and follows.</a:t>
            </a:r>
          </a:p>
          <a:p xmlns:a="http://schemas.openxmlformats.org/drawingml/2006/main">
            <a:r>
              <a:t>Explain the offline decision: millions of request-time similarity searches would make latency and capacity unpredictable. Precomputation amortizes the cost and makes experiments reproducible. The tradeoff is freshness, so the design needs time-to-live grace periods, serve-time safety checks, and online fallbacks.</a:t>
            </a:r>
          </a:p>
          <a:p xmlns:a="http://schemas.openxmlformats.org/drawingml/2006/main">
            <a:r>
              <a:t>Clarify ownership: you built all data pipelines and most serving integration, and co-designed the retrieval/ranking contracts. This is the technical center of the presentation; be ready to go deeper in Q&amp;A rather than adding every implementation detail here.</a:t>
            </a:r>
          </a:p>
          <a:p xmlns:a="http://schemas.openxmlformats.org/drawingml/2006/main">
            <a:r>
              <a:t>Transition: ‘The clean diagram hides the part that taught me the most: my first implementation did not work at production scale.’</a:t>
            </a:r>
          </a:p>
          <a:p xmlns:a="http://schemas.openxmlformats.org/drawingml/2006/main">
            <a:r>
              <a:t/>
            </a:r>
          </a:p>
          <a:p xmlns:a="http://schemas.openxmlformats.org/drawingml/2006/main">
            <a:r>
              <a:t>[Sources]</a:t>
            </a:r>
          </a:p>
          <a:p xmlns:a="http://schemas.openxmlformats.org/drawingml/2006/main">
            <a:r>
              <a:t>- User-provided Recommendation Feeds technical guide: shared architecture, serving, telemetry, and offline/online tradeoffs.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13:20–15:45.</a:t>
            </a:r>
          </a:p>
          <a:p xmlns:a="http://schemas.openxmlformats.org/drawingml/2006/main">
            <a:r>
              <a:t>Tell this as a failure story, not a victory lap. ‘I did not have a data-engineering background. My first design was logically valid and looked fine on a development cohort, but it joined at too broad a grain. In production-scale validation it created a 23.4-billion-row intermediate, spilled roughly four terabytes locally, and timed out after four hours.’</a:t>
            </a:r>
          </a:p>
          <a:p xmlns:a="http://schemas.openxmlformats.org/drawingml/2006/main">
            <a:r>
              <a:t>Then show tenacity: inspect the query plan, isolate where cardinality multiplied, rewrite the join so bucket eligibility is part of the key, and verify output equivalence on a bounded cohort before scaling up. The fix was not a bigger warehouse; it was a better data model.</a:t>
            </a:r>
          </a:p>
          <a:p xmlns:a="http://schemas.openxmlformats.org/drawingml/2006/main">
            <a:r>
              <a:t>Reflection: you learned to write down grain and cardinality before writing SQL, estimate fan-out, and validate both correctness and cost. This converts lack of prior experience into evidence of learning speed.</a:t>
            </a:r>
          </a:p>
          <a:p xmlns:a="http://schemas.openxmlformats.org/drawingml/2006/main">
            <a:r>
              <a:t>Transition: ‘Performance failures were visible. Data-semantic failures were more dangerous because they could look like bad recommendations.’</a:t>
            </a:r>
          </a:p>
          <a:p xmlns:a="http://schemas.openxmlformats.org/drawingml/2006/main">
            <a:r>
              <a:t/>
            </a:r>
          </a:p>
          <a:p xmlns:a="http://schemas.openxmlformats.org/drawingml/2006/main">
            <a:r>
              <a:t>[Sources]</a:t>
            </a:r>
          </a:p>
          <a:p xmlns:a="http://schemas.openxmlformats.org/drawingml/2006/main">
            <a:r>
              <a:t>- User-provided Recommendation Feeds technical guide: historical candidate fan-out measurement and bucket-aware join optimization.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15:45–18:00.</a:t>
            </a:r>
          </a:p>
          <a:p xmlns:a="http://schemas.openxmlformats.org/drawingml/2006/main">
            <a:r>
              <a:t>Describe the environment neutrally: a fast-moving codebase with overlapping data sources, historical tables, current-state views, and multiple identifier domains. The challenge was not that the code was ‘bad’; it was that reasonable assumptions could silently select the wrong source.</a:t>
            </a:r>
          </a:p>
          <a:p xmlns:a="http://schemas.openxmlformats.org/drawingml/2006/main">
            <a:r>
              <a:t>Give one concrete debugging method: choose a single affected user and follow the recommendation from input signal to retrieved candidate, ranked item, stored feed, served response, and impression event. This showed whether the failure was retrieval, state, identity mapping, filtering, or UI exposure.</a:t>
            </a:r>
          </a:p>
          <a:p xmlns:a="http://schemas.openxmlformats.org/drawingml/2006/main">
            <a:r>
              <a:t>Then describe the durable fixes: document the grain and identifier contract, replace whole snapshots rather than only upserting incoming items, tag the actual serving source, and build validation queries and production metrics. This is a deployed-engineer pattern: make an ambiguous system observable before trying to optimize it.</a:t>
            </a:r>
          </a:p>
          <a:p xmlns:a="http://schemas.openxmlformats.org/drawingml/2006/main">
            <a:r>
              <a:t>Transition: ‘The third class of problems was product-semantic: creation behavior broke assumptions that work in a normal listening product.’</a:t>
            </a:r>
          </a:p>
          <a:p xmlns:a="http://schemas.openxmlformats.org/drawingml/2006/main">
            <a:r>
              <a:t/>
            </a:r>
          </a:p>
          <a:p xmlns:a="http://schemas.openxmlformats.org/drawingml/2006/main">
            <a:r>
              <a:t>[Sources]</a:t>
            </a:r>
          </a:p>
          <a:p xmlns:a="http://schemas.openxmlformats.org/drawingml/2006/main">
            <a:r>
              <a:t>- User-provided ownership clarification: wrong data sources and messy-codebase setbacks.</a:t>
            </a:r>
          </a:p>
          <a:p xmlns:a="http://schemas.openxmlformats.org/drawingml/2006/main">
            <a:r>
              <a:t>- User-provided Recommendation Feeds technical guide: identifier domains, snapshot replacement, attribution, and serving-source telemetry.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18:00–20:30.</a:t>
            </a:r>
          </a:p>
          <a:p xmlns:a="http://schemas.openxmlformats.org/drawingml/2006/main">
            <a:r>
              <a:t>Explain the original logic: select one strong creation, then require an audio representation. If that one sample lacked the representation, the user received no seed—even if they had many other eligible creations. Historical analysis showed 47.12% of users were zeroed by this ordering. Filtering for eligible, embeddable creations first and sampling second reduced the zero-seed rate to the true floor of 7.91%.</a:t>
            </a:r>
          </a:p>
          <a:p xmlns:a="http://schemas.openxmlformats.org/drawingml/2006/main">
            <a:r>
              <a:t>Connect the bug to product semantics. Always choosing the single top creation would be repetitive, so the design rotates among strong creations. The anchor must appear in the shelf or the title is inexplicable. A user may see their own private or stylized work, while another user must never see it. Those rules make this more than a nearest-neighbor query.</a:t>
            </a:r>
          </a:p>
          <a:p xmlns:a="http://schemas.openxmlformats.org/drawingml/2006/main">
            <a:r>
              <a:t>Be explicit that the percentages are from a historical eligible cohort, not current MAU. This prevents an apparent inconsistency with the scale figures on slide 2.</a:t>
            </a:r>
          </a:p>
          <a:p xmlns:a="http://schemas.openxmlformats.org/drawingml/2006/main">
            <a:r>
              <a:t>Transition: ‘Once we had the system and semantics right, experiments—not opinion—decided what graduated.’</a:t>
            </a:r>
          </a:p>
          <a:p xmlns:a="http://schemas.openxmlformats.org/drawingml/2006/main">
            <a:r>
              <a:t/>
            </a:r>
          </a:p>
          <a:p xmlns:a="http://schemas.openxmlformats.org/drawingml/2006/main">
            <a:r>
              <a:t>[Sources]</a:t>
            </a:r>
          </a:p>
          <a:p xmlns:a="http://schemas.openxmlformats.org/drawingml/2006/main">
            <a:r>
              <a:t>- User-provided Recommendation Feeds technical guide: sample-then-drop incident and historical cohort percentages.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20:30–22:30.</a:t>
            </a:r>
          </a:p>
          <a:p xmlns:a="http://schemas.openxmlformats.org/drawingml/2006/main">
            <a:r>
              <a:t>Lead with the hypotheses. The creation experiment compared a feed seeded from what a user creates against a listening-seeded predecessor and the creation arm won. The personalized creator experiment asked whether matching people to creators would improve durable relationships; net follows rose 15%, with the launch summary marking the result statistically significant and guardrails flat. The earlier listening-seeded shelf validated the value of a personalized homepage surface before the creation-seeded treatment replaced it.</a:t>
            </a:r>
          </a:p>
          <a:p xmlns:a="http://schemas.openxmlformats.org/drawingml/2006/main">
            <a:r>
              <a:t>Important caveat: the screenshots do not contain sample sizes, durations, baselines, or confidence intervals. Present the relative lifts accurately and be ready to say you would pull the full experiment readout before circulating the deck. Only call statistical significance where the source explicitly does.</a:t>
            </a:r>
          </a:p>
          <a:p xmlns:a="http://schemas.openxmlformats.org/drawingml/2006/main">
            <a:r>
              <a:t>If asked about For You, explain that it shipped as part of the same production platform after the offline path held or improved engagement and improved latency/reliability, but you are not presenting a precise result without the primary readout.</a:t>
            </a:r>
          </a:p>
          <a:p xmlns:a="http://schemas.openxmlformats.org/drawingml/2006/main">
            <a:r>
              <a:t>Transition: ‘The project produced more than three shelves. It created a reusable way to test and operate recommendation products.’</a:t>
            </a:r>
          </a:p>
          <a:p xmlns:a="http://schemas.openxmlformats.org/drawingml/2006/main">
            <a:r>
              <a:t/>
            </a:r>
          </a:p>
          <a:p xmlns:a="http://schemas.openxmlformats.org/drawingml/2006/main">
            <a:r>
              <a:t>[Sources]</a:t>
            </a:r>
          </a:p>
          <a:p xmlns:a="http://schemas.openxmlformats.org/drawingml/2006/main">
            <a:r>
              <a:t>- User-provided experiment screenshot IMG_5479.jpg: Because You Create launch summary.</a:t>
            </a:r>
          </a:p>
          <a:p xmlns:a="http://schemas.openxmlformats.org/drawingml/2006/main">
            <a:r>
              <a:t>- User-provided experiment screenshot IMG_5480.jpg: personalized creators launch summary.</a:t>
            </a:r>
          </a:p>
          <a:p xmlns:a="http://schemas.openxmlformats.org/drawingml/2006/main">
            <a:r>
              <a:t>- User-provided experiment screenshot IMG_5481.jpg: earlier listening-seeded homepage feed launch summary.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22:30–24:00.</a:t>
            </a:r>
          </a:p>
          <a:p xmlns:a="http://schemas.openxmlformats.org/drawingml/2006/main">
            <a:r>
              <a:t>Synthesize rather than repeat. The visible outputs are three feeds, but the engineering leverage is a reusable capability: feed behavior can be configured and experimented with; request-time serving is fast and resilient; outcomes are attributable; and the system has an owner who can diagnose it in production.</a:t>
            </a:r>
          </a:p>
          <a:p xmlns:a="http://schemas.openxmlformats.org/drawingml/2006/main">
            <a:r>
              <a:t>This is where you demonstrate prioritization. You could have built three independent pipelines faster in the first week, but a shared candidate contract, feed-specific assembly, and common serving path reduced long-term iteration cost. At the same time, you did not over-generalize the product semantics: each feed still has its own anchor, entity, and cold-start rules.</a:t>
            </a:r>
          </a:p>
          <a:p xmlns:a="http://schemas.openxmlformats.org/drawingml/2006/main">
            <a:r>
              <a:t>Transition: ‘The project changed how I approach ambiguous production problems.’</a:t>
            </a:r>
          </a:p>
          <a:p xmlns:a="http://schemas.openxmlformats.org/drawingml/2006/main">
            <a:r>
              <a:t/>
            </a:r>
          </a:p>
          <a:p xmlns:a="http://schemas.openxmlformats.org/drawingml/2006/main">
            <a:r>
              <a:t>[Sources]</a:t>
            </a:r>
          </a:p>
          <a:p xmlns:a="http://schemas.openxmlformats.org/drawingml/2006/main">
            <a:r>
              <a:t>- User-provided Recommendation Feeds technical guide: config-driven assembly, fallbacks, telemetry, and shared-platform design.</a:t>
            </a:r>
          </a:p>
          <a:p xmlns:a="http://schemas.openxmlformats.org/drawingml/2006/main">
            <a:r>
              <a:t>- User-provided ownership clarification: rollout and production-health responsibility.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24:00–25:00, then Q&amp;A.</a:t>
            </a:r>
          </a:p>
          <a:p xmlns:a="http://schemas.openxmlformats.org/drawingml/2006/main">
            <a:r>
              <a:t>Close by resolving the opening. ‘I started without a recommendation or data-engineering background. What I learned is that the model is only one part of a production recommendation system. The difficult work is aligning the product hypothesis, the data contract, the serving path, the experiment, and the operating model.’</a:t>
            </a:r>
          </a:p>
          <a:p xmlns:a="http://schemas.openxmlformats.org/drawingml/2006/main">
            <a:r>
              <a:t>State what you would do differently: map data grain and identifier domains in the first week; establish a metric tree and exposure definition before implementation; and design fallbacks, attribution, and health dashboards alongside the first prototype rather than after it.</a:t>
            </a:r>
          </a:p>
          <a:p xmlns:a="http://schemas.openxmlformats.org/drawingml/2006/main">
            <a:r>
              <a:t>Final line: ‘The part I am proudest of is not that I learned recommendation systems quickly. It is that I took an ambiguous, under-owned product problem and built the path from diagnosis to measurable production impact.’ Then stop. Let the interviewers ask the first question.</a:t>
            </a:r>
          </a:p>
          <a:p xmlns:a="http://schemas.openxmlformats.org/drawingml/2006/main">
            <a:r>
              <a:t/>
            </a:r>
          </a:p>
          <a:p xmlns:a="http://schemas.openxmlformats.org/drawingml/2006/main">
            <a:r>
              <a:t>[Sources]</a:t>
            </a:r>
          </a:p>
          <a:p xmlns:a="http://schemas.openxmlformats.org/drawingml/2006/main">
            <a:r>
              <a:t>- Candidate reflection synthesized from user-provided setbacks, ownership, and project outcomes.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 Do not present during the 25-minute core unless asked.</a:t>
            </a:r>
          </a:p>
          <a:p xmlns:a="http://schemas.openxmlformats.org/drawingml/2006/main">
            <a:r>
              <a:t/>
            </a:r>
          </a:p>
          <a:p xmlns:a="http://schemas.openxmlformats.org/drawingml/2006/main">
            <a:r>
              <a:t>[Sources]</a:t>
            </a:r>
          </a:p>
          <a:p xmlns:a="http://schemas.openxmlformats.org/drawingml/2006/main">
            <a:r>
              <a:t>- No additional sources.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when challenged on ‘what exactly did you do?’ Answer with this workstream split, then give a concrete artifact or decision from the relevant row.</a:t>
            </a:r>
          </a:p>
          <a:p xmlns:a="http://schemas.openxmlformats.org/drawingml/2006/main">
            <a:r>
              <a:t/>
            </a:r>
          </a:p>
          <a:p xmlns:a="http://schemas.openxmlformats.org/drawingml/2006/main">
            <a:r>
              <a:t>[Sources]</a:t>
            </a:r>
          </a:p>
          <a:p xmlns:a="http://schemas.openxmlformats.org/drawingml/2006/main">
            <a:r>
              <a:t>- User-provided ownership clarification, 2026-08-09.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for questions about why one algorithm did not serve all three surfaces. Emphasize entity, anchor semantics, objective, and cold-start differences.</a:t>
            </a:r>
          </a:p>
          <a:p xmlns:a="http://schemas.openxmlformats.org/drawingml/2006/main">
            <a:r>
              <a:t/>
            </a:r>
          </a:p>
          <a:p xmlns:a="http://schemas.openxmlformats.org/drawingml/2006/main">
            <a:r>
              <a:t>[Sources]</a:t>
            </a:r>
          </a:p>
          <a:p xmlns:a="http://schemas.openxmlformats.org/drawingml/2006/main">
            <a:r>
              <a:t>- User-provided Recommendation Feeds technical guide: cross-system comparison.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for ranking questions. Explain that raw scores across sources are not directly comparable; rank fusion and feed-specific weights prevent one high-magnitude source from dominating.</a:t>
            </a:r>
          </a:p>
          <a:p xmlns:a="http://schemas.openxmlformats.org/drawingml/2006/main">
            <a:r>
              <a:t/>
            </a:r>
          </a:p>
          <a:p xmlns:a="http://schemas.openxmlformats.org/drawingml/2006/main">
            <a:r>
              <a:t>[Sources]</a:t>
            </a:r>
          </a:p>
          <a:p xmlns:a="http://schemas.openxmlformats.org/drawingml/2006/main">
            <a:r>
              <a:t>- User-provided Recommendation Feeds technical guide: retrieval, rank fusion, reranking, and assembly decisions.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for reliability, privacy, and cold-start questions. Generation-time and serve-time checks solve different failure windows; neither replaces the other.</a:t>
            </a:r>
          </a:p>
          <a:p xmlns:a="http://schemas.openxmlformats.org/drawingml/2006/main">
            <a:r>
              <a:t/>
            </a:r>
          </a:p>
          <a:p xmlns:a="http://schemas.openxmlformats.org/drawingml/2006/main">
            <a:r>
              <a:t>[Sources]</a:t>
            </a:r>
          </a:p>
          <a:p xmlns:a="http://schemas.openxmlformats.org/drawingml/2006/main">
            <a:r>
              <a:t>- User-provided Recommendation Feeds technical guide: filtering, TTL grace, hard floors, and online fallback paths.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if challenged on experiment rigor. Acknowledge what is missing from the launch-summary screenshots and offer the correct reporting standard.</a:t>
            </a:r>
          </a:p>
          <a:p xmlns:a="http://schemas.openxmlformats.org/drawingml/2006/main">
            <a:r>
              <a:t/>
            </a:r>
          </a:p>
          <a:p xmlns:a="http://schemas.openxmlformats.org/drawingml/2006/main">
            <a:r>
              <a:t>[Sources]</a:t>
            </a:r>
          </a:p>
          <a:p xmlns:a="http://schemas.openxmlformats.org/drawingml/2006/main">
            <a:r>
              <a:t>- User-provided Recommendation Feeds technical guide: measurement hierarchy and assignment-vs-impression distinction.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for reflection questions. These are process improvements, not claims that the project failed. Connect each change to a concrete setback already discussed.</a:t>
            </a:r>
          </a:p>
          <a:p xmlns:a="http://schemas.openxmlformats.org/drawingml/2006/main">
            <a:r>
              <a:t/>
            </a:r>
          </a:p>
          <a:p xmlns:a="http://schemas.openxmlformats.org/drawingml/2006/main">
            <a:r>
              <a:t>[Sources]</a:t>
            </a:r>
          </a:p>
          <a:p xmlns:a="http://schemas.openxmlformats.org/drawingml/2006/main">
            <a:r>
              <a:t>- Candidate reflection synthesized from user-provided project experience.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ab81758dd040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ccc15a924e4b1a" /><Relationship Type="http://schemas.openxmlformats.org/officeDocument/2006/relationships/slideLayout" Target="/ppt/slideLayouts/slideLayout1.xml" Id="Rebff249e1e8f47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ff249e1e8f47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a2879b28bb4a10" /><Relationship Type="http://schemas.openxmlformats.org/officeDocument/2006/relationships/notesSlide" Target="/ppt/notesSlides/notesSlide1.xml" Id="R2142a789dd7e49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7459ac88f41418a" /><Relationship Type="http://schemas.openxmlformats.org/officeDocument/2006/relationships/notesSlide" Target="/ppt/notesSlides/notesSlide2.xml" Id="R10d3a4418a144d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bb87ea14e84a01" /><Relationship Type="http://schemas.openxmlformats.org/officeDocument/2006/relationships/image" Target="/ppt/media/image.jpeg" Id="Re716a7de694844e3" /><Relationship Type="http://schemas.openxmlformats.org/officeDocument/2006/relationships/notesSlide" Target="/ppt/notesSlides/notesSlide3.xml" Id="Rfc909feb3baf4b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1a8b4d80cf41d0" /><Relationship Type="http://schemas.openxmlformats.org/officeDocument/2006/relationships/notesSlide" Target="/ppt/notesSlides/notesSlide4.xml" Id="R437e21506b5f49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a33600c4984a3a" /><Relationship Type="http://schemas.openxmlformats.org/officeDocument/2006/relationships/notesSlide" Target="/ppt/notesSlides/notesSlide5.xml" Id="Rd1b0744f478340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7bb8353c954891" /><Relationship Type="http://schemas.openxmlformats.org/officeDocument/2006/relationships/notesSlide" Target="/ppt/notesSlides/notesSlide6.xml" Id="Rde1084b5072340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7663f23a4f4e3c" /><Relationship Type="http://schemas.openxmlformats.org/officeDocument/2006/relationships/notesSlide" Target="/ppt/notesSlides/notesSlide7.xml" Id="Re78b53f9a40d40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adfc81903204884" /><Relationship Type="http://schemas.openxmlformats.org/officeDocument/2006/relationships/notesSlide" Target="/ppt/notesSlides/notesSlide8.xml" Id="Rd177dcb009294f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a2d92ddf394729" /><Relationship Type="http://schemas.openxmlformats.org/officeDocument/2006/relationships/notesSlide" Target="/ppt/notesSlides/notesSlide9.xml" Id="R8e151e4a8bab42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2d21850d3a4788" /><Relationship Type="http://schemas.openxmlformats.org/officeDocument/2006/relationships/notesSlide" Target="/ppt/notesSlides/notesSlide10.xml" Id="R3e74916c632e41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bdfba3ea254f78" /><Relationship Type="http://schemas.openxmlformats.org/officeDocument/2006/relationships/notesSlide" Target="/ppt/notesSlides/notesSlide11.xml" Id="R71907344c0b24d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4cc81cd41640e7" /><Relationship Type="http://schemas.openxmlformats.org/officeDocument/2006/relationships/notesSlide" Target="/ppt/notesSlides/notesSlide12.xml" Id="R78a645bc92f14f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8176c5f8b7412a" /><Relationship Type="http://schemas.openxmlformats.org/officeDocument/2006/relationships/notesSlide" Target="/ppt/notesSlides/notesSlide13.xml" Id="R319eb872c8c740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967217f88b42fd" /><Relationship Type="http://schemas.openxmlformats.org/officeDocument/2006/relationships/notesSlide" Target="/ppt/notesSlides/notesSlide14.xml" Id="R4800fb3660dd49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2403afb7b842c8" /><Relationship Type="http://schemas.openxmlformats.org/officeDocument/2006/relationships/notesSlide" Target="/ppt/notesSlides/notesSlide15.xml" Id="Rbed4c5ae59c541f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576fce652374ecc" /><Relationship Type="http://schemas.openxmlformats.org/officeDocument/2006/relationships/notesSlide" Target="/ppt/notesSlides/notesSlide16.xml" Id="Rf21a0f6e77cb47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a53cbddf23411b" /><Relationship Type="http://schemas.openxmlformats.org/officeDocument/2006/relationships/notesSlide" Target="/ppt/notesSlides/notesSlide17.xml" Id="R760e2f3382604b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14a6f75ff44197" /><Relationship Type="http://schemas.openxmlformats.org/officeDocument/2006/relationships/notesSlide" Target="/ppt/notesSlides/notesSlide18.xml" Id="R82edc01fdc0745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7d9c66139ef4742" /><Relationship Type="http://schemas.openxmlformats.org/officeDocument/2006/relationships/notesSlide" Target="/ppt/notesSlides/notesSlide19.xml" Id="Rc1bb62b9a0144e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cdbf298dbe4815" /><Relationship Type="http://schemas.openxmlformats.org/officeDocument/2006/relationships/notesSlide" Target="/ppt/notesSlides/notesSlide20.xml" Id="Rd0ca0c71c0384d9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ver-eyebrow">
            <a:extLst xmlns:a="http://schemas.openxmlformats.org/drawingml/2006/main">
              <a:ext uri="{FF2B5EF4-FFF2-40B4-BE49-F238E27FC236}">
                <a16:creationId xmlns:a16="http://schemas.microsoft.com/office/drawing/2014/main" id="{406352C8-0465-4F6D-A761-B021641805B4}"/>
              </a:ext>
            </a:extLst>
          </p:cNvPr>
          <p:cNvSpPr>
            <a:spLocks xmlns:a="http://schemas.openxmlformats.org/drawingml/2006/main" noGrp="1"/>
          </p:cNvSpPr>
          <p:nvPr/>
        </p:nvSpPr>
        <p:spPr>
          <a:xfrm xmlns:a="http://schemas.openxmlformats.org/drawingml/2006/main">
            <a:off x="457200" y="3810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PAST WORK  /  SUNO  /  SUMMER 2026</a:t>
            </a:r>
          </a:p>
        </p:txBody>
      </p:sp>
      <p:sp>
        <p:nvSpPr>
          <p:cNvPr id="2" name="cover-title">
            <a:extLst xmlns:a="http://schemas.openxmlformats.org/drawingml/2006/main">
              <a:ext uri="{FF2B5EF4-FFF2-40B4-BE49-F238E27FC236}">
                <a16:creationId xmlns:a16="http://schemas.microsoft.com/office/drawing/2014/main" id="{4C79619F-9C35-4995-9ABA-DD0795FACE18}"/>
              </a:ext>
            </a:extLst>
          </p:cNvPr>
          <p:cNvSpPr>
            <a:spLocks xmlns:a="http://schemas.openxmlformats.org/drawingml/2006/main" noGrp="1"/>
          </p:cNvSpPr>
          <p:nvPr/>
        </p:nvSpPr>
        <p:spPr>
          <a:xfrm xmlns:a="http://schemas.openxmlformats.org/drawingml/2006/main">
            <a:off x="457200" y="1666875"/>
            <a:ext cx="1000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97346"/>
          </a:bodyPr>
          <a:lstStyle xmlns:a="http://schemas.openxmlformats.org/drawingml/2006/main"/>
          <a:p xmlns:a="http://schemas.openxmlformats.org/drawingml/2006/main">
            <a:pPr algn="l">
              <a:defRPr sz="5025" b="1" i="0">
                <a:solidFill>
                  <a:srgbClr val="101216"/>
                </a:solidFill>
                <a:latin typeface="Helvetica Neue"/>
                <a:ea typeface="Helvetica Neue"/>
                <a:cs typeface="Helvetica Neue"/>
              </a:defRPr>
            </a:pPr>
            <a:r>
              <a:rPr sz="5025" b="1" i="0">
                <a:solidFill>
                  <a:srgbClr val="101216"/>
                </a:solidFill>
                <a:latin typeface="Helvetica Neue"/>
                <a:ea typeface="Helvetica Neue"/>
                <a:cs typeface="Helvetica Neue"/>
              </a:rPr>
              <a:t>I joined as an intern.</a:t>
            </a:r>
          </a:p>
          <a:p xmlns:a="http://schemas.openxmlformats.org/drawingml/2006/main">
            <a:pPr algn="l">
              <a:defRPr sz="5025" b="1" i="0">
                <a:solidFill>
                  <a:srgbClr val="101216"/>
                </a:solidFill>
                <a:latin typeface="Helvetica Neue"/>
                <a:ea typeface="Helvetica Neue"/>
                <a:cs typeface="Helvetica Neue"/>
              </a:defRPr>
            </a:pPr>
            <a:r>
              <a:rPr sz="5025" b="1" i="0">
                <a:solidFill>
                  <a:srgbClr val="101216"/>
                </a:solidFill>
                <a:latin typeface="Helvetica Neue"/>
                <a:ea typeface="Helvetica Neue"/>
                <a:cs typeface="Helvetica Neue"/>
              </a:rPr>
              <a:t>Eight weeks later, three recommendation feeds were live.</a:t>
            </a:r>
          </a:p>
        </p:txBody>
      </p:sp>
      <p:sp>
        <p:nvSpPr>
          <p:cNvPr id="3" name="cover-subtitle">
            <a:extLst xmlns:a="http://schemas.openxmlformats.org/drawingml/2006/main">
              <a:ext uri="{FF2B5EF4-FFF2-40B4-BE49-F238E27FC236}">
                <a16:creationId xmlns:a16="http://schemas.microsoft.com/office/drawing/2014/main" id="{071281E9-873E-48C6-89E2-4AA5FDB2BD20}"/>
              </a:ext>
            </a:extLst>
          </p:cNvPr>
          <p:cNvSpPr>
            <a:spLocks xmlns:a="http://schemas.openxmlformats.org/drawingml/2006/main" noGrp="1"/>
          </p:cNvSpPr>
          <p:nvPr/>
        </p:nvSpPr>
        <p:spPr>
          <a:xfrm xmlns:a="http://schemas.openxmlformats.org/drawingml/2006/main">
            <a:off x="457200" y="4810125"/>
            <a:ext cx="7524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Building Suno’s listening and creator discovery system end to end</a:t>
            </a:r>
          </a:p>
        </p:txBody>
      </p:sp>
      <p:sp>
        <p:nvSpPr>
          <p:cNvPr id="4" name="cover-accent">
            <a:extLst xmlns:a="http://schemas.openxmlformats.org/drawingml/2006/main">
              <a:ext uri="{FF2B5EF4-FFF2-40B4-BE49-F238E27FC236}">
                <a16:creationId xmlns:a16="http://schemas.microsoft.com/office/drawing/2014/main" id="{6FD13D12-54EB-4486-BD9B-53662D865F42}"/>
              </a:ext>
            </a:extLst>
          </p:cNvPr>
          <p:cNvSpPr>
            <a:spLocks xmlns:a="http://schemas.openxmlformats.org/drawingml/2006/main" noGrp="1"/>
          </p:cNvSpPr>
          <p:nvPr/>
        </p:nvSpPr>
        <p:spPr>
          <a:xfrm xmlns:a="http://schemas.openxmlformats.org/drawingml/2006/main">
            <a:off x="457200" y="5962650"/>
            <a:ext cx="1809750"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Tree>
    <p:extLst>
      <p:ext uri="{BB962C8B-B14F-4D97-AF65-F5344CB8AC3E}">
        <p14:creationId xmlns:p14="http://schemas.microsoft.com/office/powerpoint/2010/main" val="3859071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74A08E8A-4564-479D-9060-EBE478D11E7E}"/>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21DFF0F3-7AEA-4B48-B4C0-2FAE7FDE9116}"/>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516"/>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The work reached the homepage—and changed user behavior</a:t>
            </a:r>
          </a:p>
        </p:txBody>
      </p:sp>
      <p:sp>
        <p:nvSpPr>
          <p:cNvPr id="3" name="page-number">
            <a:extLst xmlns:a="http://schemas.openxmlformats.org/drawingml/2006/main">
              <a:ext uri="{FF2B5EF4-FFF2-40B4-BE49-F238E27FC236}">
                <a16:creationId xmlns:a16="http://schemas.microsoft.com/office/drawing/2014/main" id="{9959EABF-7468-42B0-8269-917FD6FD34CE}"/>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2</a:t>
            </a:r>
          </a:p>
        </p:txBody>
      </p:sp>
      <p:sp>
        <p:nvSpPr>
          <p:cNvPr id="4" name="impact-intro">
            <a:extLst xmlns:a="http://schemas.openxmlformats.org/drawingml/2006/main">
              <a:ext uri="{FF2B5EF4-FFF2-40B4-BE49-F238E27FC236}">
                <a16:creationId xmlns:a16="http://schemas.microsoft.com/office/drawing/2014/main" id="{DAFDF858-A915-44AA-969F-4BD773BA8BCD}"/>
              </a:ext>
            </a:extLst>
          </p:cNvPr>
          <p:cNvSpPr>
            <a:spLocks xmlns:a="http://schemas.openxmlformats.org/drawingml/2006/main" noGrp="1"/>
          </p:cNvSpPr>
          <p:nvPr/>
        </p:nvSpPr>
        <p:spPr>
          <a:xfrm xmlns:a="http://schemas.openxmlformats.org/drawingml/2006/main">
            <a:off x="457200" y="128587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179"/>
          </a:bodyPr>
          <a:lstStyle xmlns:a="http://schemas.openxmlformats.org/drawingml/2006/main"/>
          <a:p xmlns:a="http://schemas.openxmlformats.org/drawingml/2006/main">
            <a:pPr algn="l">
              <a:defRPr sz="1950" b="0" i="0">
                <a:solidFill>
                  <a:srgbClr val="5C6470"/>
                </a:solidFill>
                <a:latin typeface="Helvetica Neue"/>
                <a:ea typeface="Helvetica Neue"/>
                <a:cs typeface="Helvetica Neue"/>
              </a:defRPr>
            </a:pPr>
            <a:r>
              <a:rPr sz="1950" b="0" i="0">
                <a:solidFill>
                  <a:srgbClr val="5C6470"/>
                </a:solidFill>
                <a:latin typeface="Helvetica Neue"/>
                <a:ea typeface="Helvetica Neue"/>
                <a:cs typeface="Helvetica Neue"/>
              </a:rPr>
              <a:t>Three production discovery surfaces at a platform serving approximately 1.1M daily and 7M monthly active users.</a:t>
            </a:r>
          </a:p>
        </p:txBody>
      </p:sp>
      <p:sp>
        <p:nvSpPr>
          <p:cNvPr id="5" name="impact-panel-1">
            <a:extLst xmlns:a="http://schemas.openxmlformats.org/drawingml/2006/main">
              <a:ext uri="{FF2B5EF4-FFF2-40B4-BE49-F238E27FC236}">
                <a16:creationId xmlns:a16="http://schemas.microsoft.com/office/drawing/2014/main" id="{0B92DE1D-566A-4134-8345-A99D57073E92}"/>
              </a:ext>
            </a:extLst>
          </p:cNvPr>
          <p:cNvSpPr>
            <a:spLocks xmlns:a="http://schemas.openxmlformats.org/drawingml/2006/main" noGrp="1"/>
          </p:cNvSpPr>
          <p:nvPr/>
        </p:nvSpPr>
        <p:spPr>
          <a:xfrm xmlns:a="http://schemas.openxmlformats.org/drawingml/2006/main">
            <a:off x="457200" y="2495550"/>
            <a:ext cx="3429000" cy="2952750"/>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6" name="impact-panel-2">
            <a:extLst xmlns:a="http://schemas.openxmlformats.org/drawingml/2006/main">
              <a:ext uri="{FF2B5EF4-FFF2-40B4-BE49-F238E27FC236}">
                <a16:creationId xmlns:a16="http://schemas.microsoft.com/office/drawing/2014/main" id="{3B291E9D-29CA-436B-A17F-6FAF83323623}"/>
              </a:ext>
            </a:extLst>
          </p:cNvPr>
          <p:cNvSpPr>
            <a:spLocks xmlns:a="http://schemas.openxmlformats.org/drawingml/2006/main" noGrp="1"/>
          </p:cNvSpPr>
          <p:nvPr/>
        </p:nvSpPr>
        <p:spPr>
          <a:xfrm xmlns:a="http://schemas.openxmlformats.org/drawingml/2006/main">
            <a:off x="4343400" y="2495550"/>
            <a:ext cx="3429000" cy="295275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7" name="impact-panel-3">
            <a:extLst xmlns:a="http://schemas.openxmlformats.org/drawingml/2006/main">
              <a:ext uri="{FF2B5EF4-FFF2-40B4-BE49-F238E27FC236}">
                <a16:creationId xmlns:a16="http://schemas.microsoft.com/office/drawing/2014/main" id="{6DB0840A-4776-48AC-8E49-3BFCEF16D23F}"/>
              </a:ext>
            </a:extLst>
          </p:cNvPr>
          <p:cNvSpPr>
            <a:spLocks xmlns:a="http://schemas.openxmlformats.org/drawingml/2006/main" noGrp="1"/>
          </p:cNvSpPr>
          <p:nvPr/>
        </p:nvSpPr>
        <p:spPr>
          <a:xfrm xmlns:a="http://schemas.openxmlformats.org/drawingml/2006/main">
            <a:off x="8229600" y="2495550"/>
            <a:ext cx="3429000" cy="29527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8" name="impact-byc-stat">
            <a:extLst xmlns:a="http://schemas.openxmlformats.org/drawingml/2006/main">
              <a:ext uri="{FF2B5EF4-FFF2-40B4-BE49-F238E27FC236}">
                <a16:creationId xmlns:a16="http://schemas.microsoft.com/office/drawing/2014/main" id="{046880DE-BC90-4ADB-B1F1-3849F874DB9D}"/>
              </a:ext>
            </a:extLst>
          </p:cNvPr>
          <p:cNvSpPr>
            <a:spLocks xmlns:a="http://schemas.openxmlformats.org/drawingml/2006/main" noGrp="1"/>
          </p:cNvSpPr>
          <p:nvPr/>
        </p:nvSpPr>
        <p:spPr>
          <a:xfrm xmlns:a="http://schemas.openxmlformats.org/drawingml/2006/main">
            <a:off x="742950" y="2781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i="0">
                <a:solidFill>
                  <a:srgbClr val="3D8DFF"/>
                </a:solidFill>
                <a:latin typeface="Helvetica Neue"/>
                <a:ea typeface="Helvetica Neue"/>
                <a:cs typeface="Helvetica Neue"/>
              </a:defRPr>
            </a:pPr>
            <a:r>
              <a:rPr sz="4800" b="1" i="0">
                <a:solidFill>
                  <a:srgbClr val="3D8DFF"/>
                </a:solidFill>
                <a:latin typeface="Helvetica Neue"/>
                <a:ea typeface="Helvetica Neue"/>
                <a:cs typeface="Helvetica Neue"/>
              </a:rPr>
              <a:t>+63%</a:t>
            </a:r>
          </a:p>
        </p:txBody>
      </p:sp>
      <p:sp>
        <p:nvSpPr>
          <p:cNvPr id="9" name="impact-byc-label">
            <a:extLst xmlns:a="http://schemas.openxmlformats.org/drawingml/2006/main">
              <a:ext uri="{FF2B5EF4-FFF2-40B4-BE49-F238E27FC236}">
                <a16:creationId xmlns:a16="http://schemas.microsoft.com/office/drawing/2014/main" id="{BC27B453-AFD8-4FF4-988A-B2A35B4FF2FA}"/>
              </a:ext>
            </a:extLst>
          </p:cNvPr>
          <p:cNvSpPr>
            <a:spLocks xmlns:a="http://schemas.openxmlformats.org/drawingml/2006/main" noGrp="1"/>
          </p:cNvSpPr>
          <p:nvPr/>
        </p:nvSpPr>
        <p:spPr>
          <a:xfrm xmlns:a="http://schemas.openxmlformats.org/drawingml/2006/main">
            <a:off x="742950" y="37528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feed playtime</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Because You Create</a:t>
            </a:r>
          </a:p>
        </p:txBody>
      </p:sp>
      <p:sp>
        <p:nvSpPr>
          <p:cNvPr id="10" name="impact-creators-stat">
            <a:extLst xmlns:a="http://schemas.openxmlformats.org/drawingml/2006/main">
              <a:ext uri="{FF2B5EF4-FFF2-40B4-BE49-F238E27FC236}">
                <a16:creationId xmlns:a16="http://schemas.microsoft.com/office/drawing/2014/main" id="{97CABD18-68D1-45E5-9B05-D09D0900A167}"/>
              </a:ext>
            </a:extLst>
          </p:cNvPr>
          <p:cNvSpPr>
            <a:spLocks xmlns:a="http://schemas.openxmlformats.org/drawingml/2006/main" noGrp="1"/>
          </p:cNvSpPr>
          <p:nvPr/>
        </p:nvSpPr>
        <p:spPr>
          <a:xfrm xmlns:a="http://schemas.openxmlformats.org/drawingml/2006/main">
            <a:off x="4629150" y="2781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i="0">
                <a:solidFill>
                  <a:srgbClr val="15803D"/>
                </a:solidFill>
                <a:latin typeface="Helvetica Neue"/>
                <a:ea typeface="Helvetica Neue"/>
                <a:cs typeface="Helvetica Neue"/>
              </a:defRPr>
            </a:pPr>
            <a:r>
              <a:rPr sz="4800" b="1" i="0">
                <a:solidFill>
                  <a:srgbClr val="15803D"/>
                </a:solidFill>
                <a:latin typeface="Helvetica Neue"/>
                <a:ea typeface="Helvetica Neue"/>
                <a:cs typeface="Helvetica Neue"/>
              </a:rPr>
              <a:t>+15%</a:t>
            </a:r>
          </a:p>
        </p:txBody>
      </p:sp>
      <p:sp>
        <p:nvSpPr>
          <p:cNvPr id="11" name="impact-creators-label">
            <a:extLst xmlns:a="http://schemas.openxmlformats.org/drawingml/2006/main">
              <a:ext uri="{FF2B5EF4-FFF2-40B4-BE49-F238E27FC236}">
                <a16:creationId xmlns:a16="http://schemas.microsoft.com/office/drawing/2014/main" id="{74E70F22-0F3A-4B4E-9554-B0DF1DCC30C6}"/>
              </a:ext>
            </a:extLst>
          </p:cNvPr>
          <p:cNvSpPr>
            <a:spLocks xmlns:a="http://schemas.openxmlformats.org/drawingml/2006/main" noGrp="1"/>
          </p:cNvSpPr>
          <p:nvPr/>
        </p:nvSpPr>
        <p:spPr>
          <a:xfrm xmlns:a="http://schemas.openxmlformats.org/drawingml/2006/main">
            <a:off x="4629150" y="37528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net follows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personalized creators</a:t>
            </a:r>
          </a:p>
        </p:txBody>
      </p:sp>
      <p:sp>
        <p:nvSpPr>
          <p:cNvPr id="12" name="impact-feeds-stat">
            <a:extLst xmlns:a="http://schemas.openxmlformats.org/drawingml/2006/main">
              <a:ext uri="{FF2B5EF4-FFF2-40B4-BE49-F238E27FC236}">
                <a16:creationId xmlns:a16="http://schemas.microsoft.com/office/drawing/2014/main" id="{620CA950-4132-448B-A5C8-9634FDB1841B}"/>
              </a:ext>
            </a:extLst>
          </p:cNvPr>
          <p:cNvSpPr>
            <a:spLocks xmlns:a="http://schemas.openxmlformats.org/drawingml/2006/main" noGrp="1"/>
          </p:cNvSpPr>
          <p:nvPr/>
        </p:nvSpPr>
        <p:spPr>
          <a:xfrm xmlns:a="http://schemas.openxmlformats.org/drawingml/2006/main">
            <a:off x="8515350" y="27813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i="0">
                <a:solidFill>
                  <a:srgbClr val="101216"/>
                </a:solidFill>
                <a:latin typeface="Helvetica Neue"/>
                <a:ea typeface="Helvetica Neue"/>
                <a:cs typeface="Helvetica Neue"/>
              </a:defRPr>
            </a:pPr>
            <a:r>
              <a:rPr sz="4800" b="1" i="0">
                <a:solidFill>
                  <a:srgbClr val="101216"/>
                </a:solidFill>
                <a:latin typeface="Helvetica Neue"/>
                <a:ea typeface="Helvetica Neue"/>
                <a:cs typeface="Helvetica Neue"/>
              </a:rPr>
              <a:t>3</a:t>
            </a:r>
          </a:p>
        </p:txBody>
      </p:sp>
      <p:sp>
        <p:nvSpPr>
          <p:cNvPr id="13" name="impact-feeds-label">
            <a:extLst xmlns:a="http://schemas.openxmlformats.org/drawingml/2006/main">
              <a:ext uri="{FF2B5EF4-FFF2-40B4-BE49-F238E27FC236}">
                <a16:creationId xmlns:a16="http://schemas.microsoft.com/office/drawing/2014/main" id="{70DCF52D-48FC-4496-B57F-19547813FD71}"/>
              </a:ext>
            </a:extLst>
          </p:cNvPr>
          <p:cNvSpPr>
            <a:spLocks xmlns:a="http://schemas.openxmlformats.org/drawingml/2006/main" noGrp="1"/>
          </p:cNvSpPr>
          <p:nvPr/>
        </p:nvSpPr>
        <p:spPr>
          <a:xfrm xmlns:a="http://schemas.openxmlformats.org/drawingml/2006/main">
            <a:off x="8515350" y="3752850"/>
            <a:ext cx="2857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live recommendation feeds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shipped in parallel</a:t>
            </a:r>
          </a:p>
        </p:txBody>
      </p:sp>
      <p:sp>
        <p:nvSpPr>
          <p:cNvPr id="14" name="impact-footnote">
            <a:extLst xmlns:a="http://schemas.openxmlformats.org/drawingml/2006/main">
              <a:ext uri="{FF2B5EF4-FFF2-40B4-BE49-F238E27FC236}">
                <a16:creationId xmlns:a16="http://schemas.microsoft.com/office/drawing/2014/main" id="{FB45A032-7703-4A05-9E57-9EAB029B95A5}"/>
              </a:ext>
            </a:extLst>
          </p:cNvPr>
          <p:cNvSpPr>
            <a:spLocks xmlns:a="http://schemas.openxmlformats.org/drawingml/2006/main" noGrp="1"/>
          </p:cNvSpPr>
          <p:nvPr/>
        </p:nvSpPr>
        <p:spPr>
          <a:xfrm xmlns:a="http://schemas.openxmlformats.org/drawingml/2006/main">
            <a:off x="457200" y="59055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C6470"/>
                </a:solidFill>
                <a:latin typeface="Helvetica Neue"/>
                <a:ea typeface="Helvetica Neue"/>
                <a:cs typeface="Helvetica Neue"/>
              </a:defRPr>
            </a:pPr>
            <a:r>
              <a:rPr sz="1200" b="0" i="0">
                <a:solidFill>
                  <a:srgbClr val="5C6470"/>
                </a:solidFill>
                <a:latin typeface="Helvetica Neue"/>
                <a:ea typeface="Helvetica Neue"/>
                <a:cs typeface="Helvetica Neue"/>
              </a:rPr>
              <a:t>Relative experiment lift vs control; creator net-follow result was statistically significant. Scale figures are approximate.</a:t>
            </a:r>
          </a:p>
        </p:txBody>
      </p:sp>
    </p:spTree>
    <p:extLst>
      <p:ext uri="{BB962C8B-B14F-4D97-AF65-F5344CB8AC3E}">
        <p14:creationId xmlns:p14="http://schemas.microsoft.com/office/powerpoint/2010/main" val="17591363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5BF634BF-D541-47A8-8C18-CC89952207DA}"/>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76F508E3-0C55-4436-8FF9-6739573B45CE}"/>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Suno had to connect creation to discovery</a:t>
            </a:r>
          </a:p>
        </p:txBody>
      </p:sp>
      <p:sp>
        <p:nvSpPr>
          <p:cNvPr id="3" name="page-number">
            <a:extLst xmlns:a="http://schemas.openxmlformats.org/drawingml/2006/main">
              <a:ext uri="{FF2B5EF4-FFF2-40B4-BE49-F238E27FC236}">
                <a16:creationId xmlns:a16="http://schemas.microsoft.com/office/drawing/2014/main" id="{7BAC771E-29B0-4A60-8CD7-6D4EA7B06305}"/>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3</a:t>
            </a:r>
          </a:p>
        </p:txBody>
      </p:sp>
      <p:sp>
        <p:nvSpPr>
          <p:cNvPr id="4" name="context-kicker">
            <a:extLst xmlns:a="http://schemas.openxmlformats.org/drawingml/2006/main">
              <a:ext uri="{FF2B5EF4-FFF2-40B4-BE49-F238E27FC236}">
                <a16:creationId xmlns:a16="http://schemas.microsoft.com/office/drawing/2014/main" id="{9C1AB042-BEA6-4CAC-ADB8-4E8F0BA5E403}"/>
              </a:ext>
            </a:extLst>
          </p:cNvPr>
          <p:cNvSpPr>
            <a:spLocks xmlns:a="http://schemas.openxmlformats.org/drawingml/2006/main" noGrp="1"/>
          </p:cNvSpPr>
          <p:nvPr/>
        </p:nvSpPr>
        <p:spPr>
          <a:xfrm xmlns:a="http://schemas.openxmlformats.org/drawingml/2006/main">
            <a:off x="457200" y="1409700"/>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444"/>
          </a:bodyPr>
          <a:lstStyle xmlns:a="http://schemas.openxmlformats.org/drawingml/2006/main"/>
          <a:p xmlns:a="http://schemas.openxmlformats.org/drawingml/2006/main">
            <a:pPr algn="l">
              <a:defRPr sz="2250" b="1" i="0">
                <a:solidFill>
                  <a:srgbClr val="101216"/>
                </a:solidFill>
                <a:latin typeface="Helvetica Neue"/>
                <a:ea typeface="Helvetica Neue"/>
                <a:cs typeface="Helvetica Neue"/>
              </a:defRPr>
            </a:pPr>
            <a:r>
              <a:rPr sz="2250" b="1" i="0">
                <a:solidFill>
                  <a:srgbClr val="101216"/>
                </a:solidFill>
                <a:latin typeface="Helvetica Neue"/>
                <a:ea typeface="Helvetica Neue"/>
                <a:cs typeface="Helvetica Neue"/>
              </a:rPr>
              <a:t>Most music products begin with consumption. Suno begins with creation—and must earn the next listen.</a:t>
            </a:r>
          </a:p>
        </p:txBody>
      </p:sp>
      <p:sp>
        <p:nvSpPr>
          <p:cNvPr id="5" name="context-bullets">
            <a:extLst xmlns:a="http://schemas.openxmlformats.org/drawingml/2006/main">
              <a:ext uri="{FF2B5EF4-FFF2-40B4-BE49-F238E27FC236}">
                <a16:creationId xmlns:a16="http://schemas.microsoft.com/office/drawing/2014/main" id="{7F78FF79-377C-49F8-A190-74F53173374C}"/>
              </a:ext>
            </a:extLst>
          </p:cNvPr>
          <p:cNvSpPr>
            <a:spLocks xmlns:a="http://schemas.openxmlformats.org/drawingml/2006/main" noGrp="1"/>
          </p:cNvSpPr>
          <p:nvPr/>
        </p:nvSpPr>
        <p:spPr>
          <a:xfrm xmlns:a="http://schemas.openxmlformats.org/drawingml/2006/main">
            <a:off x="457200" y="2571750"/>
            <a:ext cx="5286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i="0">
                <a:solidFill>
                  <a:srgbClr val="101216"/>
                </a:solidFill>
                <a:latin typeface="Helvetica Neue"/>
                <a:ea typeface="Helvetica Neue"/>
                <a:cs typeface="Helvetica Neue"/>
              </a:defRPr>
            </a:pPr>
            <a:r>
              <a:rPr sz="1800" b="0" i="0">
                <a:solidFill>
                  <a:srgbClr val="101216"/>
                </a:solidFill>
                <a:latin typeface="Helvetica Neue"/>
                <a:ea typeface="Helvetica Neue"/>
                <a:cs typeface="Helvetica Neue"/>
              </a:rPr>
              <a:t>•  A creation is both content and a high-intent taste signal.</a:t>
            </a:r>
          </a:p>
          <a:p xmlns:a="http://schemas.openxmlformats.org/drawingml/2006/main">
            <a:pPr algn="l">
              <a:defRPr sz="1800" b="0" i="0">
                <a:solidFill>
                  <a:srgbClr val="101216"/>
                </a:solidFill>
                <a:latin typeface="Helvetica Neue"/>
                <a:ea typeface="Helvetica Neue"/>
                <a:cs typeface="Helvetica Neue"/>
              </a:defRPr>
            </a:pPr>
            <a:r>
              <a:rPr sz="1800" b="0" i="0">
                <a:solidFill>
                  <a:srgbClr val="101216"/>
                </a:solidFill>
                <a:latin typeface="Helvetica Neue"/>
                <a:ea typeface="Helvetica Neue"/>
                <a:cs typeface="Helvetica Neue"/>
              </a:rPr>
              <a:t>•  A listener may have little history but still reveal taste through what they make.</a:t>
            </a:r>
          </a:p>
          <a:p xmlns:a="http://schemas.openxmlformats.org/drawingml/2006/main">
            <a:pPr algn="l">
              <a:defRPr sz="1800" b="0" i="0">
                <a:solidFill>
                  <a:srgbClr val="101216"/>
                </a:solidFill>
                <a:latin typeface="Helvetica Neue"/>
                <a:ea typeface="Helvetica Neue"/>
                <a:cs typeface="Helvetica Neue"/>
              </a:defRPr>
            </a:pPr>
            <a:r>
              <a:rPr sz="1800" b="0" i="0">
                <a:solidFill>
                  <a:srgbClr val="101216"/>
                </a:solidFill>
                <a:latin typeface="Helvetica Neue"/>
                <a:ea typeface="Helvetica Neue"/>
                <a:cs typeface="Helvetica Neue"/>
              </a:rPr>
              <a:t>•  Discovery must create value for listeners, creators, and the platform’s retention loop.</a:t>
            </a:r>
          </a:p>
        </p:txBody>
      </p:sp>
      <p:sp>
        <p:nvSpPr>
          <p:cNvPr id="6" name="context-thesis">
            <a:extLst xmlns:a="http://schemas.openxmlformats.org/drawingml/2006/main">
              <a:ext uri="{FF2B5EF4-FFF2-40B4-BE49-F238E27FC236}">
                <a16:creationId xmlns:a16="http://schemas.microsoft.com/office/drawing/2014/main" id="{21225559-E694-40C2-B84C-1239A813EA12}"/>
              </a:ext>
            </a:extLst>
          </p:cNvPr>
          <p:cNvSpPr>
            <a:spLocks xmlns:a="http://schemas.openxmlformats.org/drawingml/2006/main" noGrp="1"/>
          </p:cNvSpPr>
          <p:nvPr/>
        </p:nvSpPr>
        <p:spPr>
          <a:xfrm xmlns:a="http://schemas.openxmlformats.org/drawingml/2006/main">
            <a:off x="457200" y="54483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Create  →  discover  →  follow  →  return</a:t>
            </a:r>
          </a:p>
        </p:txBody>
      </p:sp>
      <p:sp>
        <p:nvSpPr>
          <p:cNvPr id="7" name="product-image-backing">
            <a:extLst xmlns:a="http://schemas.openxmlformats.org/drawingml/2006/main">
              <a:ext uri="{FF2B5EF4-FFF2-40B4-BE49-F238E27FC236}">
                <a16:creationId xmlns:a16="http://schemas.microsoft.com/office/drawing/2014/main" id="{3F61E27E-0F13-4A64-8265-4250F9CFFC05}"/>
              </a:ext>
            </a:extLst>
          </p:cNvPr>
          <p:cNvSpPr>
            <a:spLocks xmlns:a="http://schemas.openxmlformats.org/drawingml/2006/main" noGrp="1"/>
          </p:cNvSpPr>
          <p:nvPr/>
        </p:nvSpPr>
        <p:spPr>
          <a:xfrm xmlns:a="http://schemas.openxmlformats.org/drawingml/2006/main">
            <a:off x="6248400" y="1314450"/>
            <a:ext cx="5410200" cy="4686300"/>
          </a:xfrm>
          <a:prstGeom xmlns:a="http://schemas.openxmlformats.org/drawingml/2006/main" prst="rect">
            <a:avLst/>
          </a:prstGeom>
          <a:solidFill xmlns:a="http://schemas.openxmlformats.org/drawingml/2006/main">
            <a:srgbClr val="17191F"/>
          </a:solidFill>
          <a:ln xmlns:a="http://schemas.openxmlformats.org/drawingml/2006/main" w="0">
            <a:solidFill>
              <a:srgbClr val="17191F"/>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716a7de694844e3"/>
          <a:srcRect xmlns:a="http://schemas.openxmlformats.org/drawingml/2006/main" l="9193" t="0" r="9193" b="0"/>
          <a:stretch xmlns:a="http://schemas.openxmlformats.org/drawingml/2006/main">
            <a:fillRect l="0" t="0" r="0" b="0"/>
          </a:stretch>
        </p:blipFill>
        <p:spPr>
          <a:xfrm xmlns:a="http://schemas.openxmlformats.org/drawingml/2006/main">
            <a:off x="6362700" y="1428750"/>
            <a:ext cx="5181600" cy="4457700"/>
          </a:xfrm>
          <a:prstGeom xmlns:a="http://schemas.openxmlformats.org/drawingml/2006/main" prst="rect">
            <a:avLst/>
          </a:prstGeom>
        </p:spPr>
      </p:pic>
      <p:sp>
        <p:nvSpPr>
          <p:cNvPr id="9" name="product-image-mask">
            <a:extLst xmlns:a="http://schemas.openxmlformats.org/drawingml/2006/main">
              <a:ext uri="{FF2B5EF4-FFF2-40B4-BE49-F238E27FC236}">
                <a16:creationId xmlns:a16="http://schemas.microsoft.com/office/drawing/2014/main" id="{75D79B18-16BC-4402-AFAF-90A548EF9DF8}"/>
              </a:ext>
            </a:extLst>
          </p:cNvPr>
          <p:cNvSpPr>
            <a:spLocks xmlns:a="http://schemas.openxmlformats.org/drawingml/2006/main" noGrp="1"/>
          </p:cNvSpPr>
          <p:nvPr/>
        </p:nvSpPr>
        <p:spPr>
          <a:xfrm xmlns:a="http://schemas.openxmlformats.org/drawingml/2006/main">
            <a:off x="6362700" y="1428750"/>
            <a:ext cx="5181600" cy="2190750"/>
          </a:xfrm>
          <a:prstGeom xmlns:a="http://schemas.openxmlformats.org/drawingml/2006/main" prst="rect">
            <a:avLst/>
          </a:prstGeom>
          <a:solidFill xmlns:a="http://schemas.openxmlformats.org/drawingml/2006/main">
            <a:srgbClr val="17191F"/>
          </a:solidFill>
          <a:ln xmlns:a="http://schemas.openxmlformats.org/drawingml/2006/main" w="0">
            <a:solidFill>
              <a:srgbClr val="17191F"/>
            </a:solidFill>
            <a:prstDash val="solid"/>
          </a:ln>
        </p:spPr>
      </p:sp>
      <p:sp>
        <p:nvSpPr>
          <p:cNvPr id="10" name="product-image-mask-title">
            <a:extLst xmlns:a="http://schemas.openxmlformats.org/drawingml/2006/main">
              <a:ext uri="{FF2B5EF4-FFF2-40B4-BE49-F238E27FC236}">
                <a16:creationId xmlns:a16="http://schemas.microsoft.com/office/drawing/2014/main" id="{4B2DBD9B-FB8C-4606-8E16-54944058CAE9}"/>
              </a:ext>
            </a:extLst>
          </p:cNvPr>
          <p:cNvSpPr>
            <a:spLocks xmlns:a="http://schemas.openxmlformats.org/drawingml/2006/main" noGrp="1"/>
          </p:cNvSpPr>
          <p:nvPr/>
        </p:nvSpPr>
        <p:spPr>
          <a:xfrm xmlns:a="http://schemas.openxmlformats.org/drawingml/2006/main">
            <a:off x="6705600" y="20193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FFFFFF"/>
                </a:solidFill>
                <a:latin typeface="Helvetica Neue"/>
                <a:ea typeface="Helvetica Neue"/>
                <a:cs typeface="Helvetica Neue"/>
              </a:defRPr>
            </a:pPr>
            <a:r>
              <a:rPr sz="2550" b="1" i="0">
                <a:solidFill>
                  <a:srgbClr val="FFFFFF"/>
                </a:solidFill>
                <a:latin typeface="Helvetica Neue"/>
                <a:ea typeface="Helvetica Neue"/>
                <a:cs typeface="Helvetica Neue"/>
              </a:rPr>
              <a:t>CREATE + LISTEN</a:t>
            </a:r>
          </a:p>
        </p:txBody>
      </p:sp>
      <p:sp>
        <p:nvSpPr>
          <p:cNvPr id="11" name="product-image-mask-subtitle">
            <a:extLst xmlns:a="http://schemas.openxmlformats.org/drawingml/2006/main">
              <a:ext uri="{FF2B5EF4-FFF2-40B4-BE49-F238E27FC236}">
                <a16:creationId xmlns:a16="http://schemas.microsoft.com/office/drawing/2014/main" id="{B1F4E46E-454F-4D28-BE7B-390F0E183F14}"/>
              </a:ext>
            </a:extLst>
          </p:cNvPr>
          <p:cNvSpPr>
            <a:spLocks xmlns:a="http://schemas.openxmlformats.org/drawingml/2006/main" noGrp="1"/>
          </p:cNvSpPr>
          <p:nvPr/>
        </p:nvSpPr>
        <p:spPr>
          <a:xfrm xmlns:a="http://schemas.openxmlformats.org/drawingml/2006/main">
            <a:off x="6705600" y="27146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C8CDD6"/>
                </a:solidFill>
                <a:latin typeface="Helvetica Neue"/>
                <a:ea typeface="Helvetica Neue"/>
                <a:cs typeface="Helvetica Neue"/>
              </a:defRPr>
            </a:pPr>
            <a:r>
              <a:rPr sz="1725" b="0" i="0">
                <a:solidFill>
                  <a:srgbClr val="C8CDD6"/>
                </a:solidFill>
                <a:latin typeface="Helvetica Neue"/>
                <a:ea typeface="Helvetica Neue"/>
                <a:cs typeface="Helvetica Neue"/>
              </a:rPr>
              <a:t>One homepage. One retention loop.</a:t>
            </a:r>
          </a:p>
        </p:txBody>
      </p:sp>
    </p:spTree>
    <p:extLst>
      <p:ext uri="{BB962C8B-B14F-4D97-AF65-F5344CB8AC3E}">
        <p14:creationId xmlns:p14="http://schemas.microsoft.com/office/powerpoint/2010/main" val="2982653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8A4DB063-1BA2-4631-B0CA-F9EAB7DE5012}"/>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727FC5C0-A19B-4B63-8703-6E6BBBA99D2F}"/>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No one handed me a roadmap—I created one</a:t>
            </a:r>
          </a:p>
        </p:txBody>
      </p:sp>
      <p:sp>
        <p:nvSpPr>
          <p:cNvPr id="3" name="page-number">
            <a:extLst xmlns:a="http://schemas.openxmlformats.org/drawingml/2006/main">
              <a:ext uri="{FF2B5EF4-FFF2-40B4-BE49-F238E27FC236}">
                <a16:creationId xmlns:a16="http://schemas.microsoft.com/office/drawing/2014/main" id="{5123E353-16E9-4CEF-99AE-A7B4A262BD16}"/>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4</a:t>
            </a:r>
          </a:p>
        </p:txBody>
      </p:sp>
      <p:sp>
        <p:nvSpPr>
          <p:cNvPr id="4" name="timeline-line">
            <a:extLst xmlns:a="http://schemas.openxmlformats.org/drawingml/2006/main">
              <a:ext uri="{FF2B5EF4-FFF2-40B4-BE49-F238E27FC236}">
                <a16:creationId xmlns:a16="http://schemas.microsoft.com/office/drawing/2014/main" id="{FD15ACAD-3C0B-410D-B130-CE456BD32BF8}"/>
              </a:ext>
            </a:extLst>
          </p:cNvPr>
          <p:cNvSpPr>
            <a:spLocks xmlns:a="http://schemas.openxmlformats.org/drawingml/2006/main" noGrp="1"/>
          </p:cNvSpPr>
          <p:nvPr/>
        </p:nvSpPr>
        <p:spPr>
          <a:xfrm xmlns:a="http://schemas.openxmlformats.org/drawingml/2006/main">
            <a:off x="666750" y="3429000"/>
            <a:ext cx="106680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timeline-dot-0">
            <a:extLst xmlns:a="http://schemas.openxmlformats.org/drawingml/2006/main">
              <a:ext uri="{FF2B5EF4-FFF2-40B4-BE49-F238E27FC236}">
                <a16:creationId xmlns:a16="http://schemas.microsoft.com/office/drawing/2014/main" id="{FFFA5C5F-99AF-46A1-8127-494C8FEBA677}"/>
              </a:ext>
            </a:extLst>
          </p:cNvPr>
          <p:cNvSpPr>
            <a:spLocks xmlns:a="http://schemas.openxmlformats.org/drawingml/2006/main" noGrp="1"/>
          </p:cNvSpPr>
          <p:nvPr/>
        </p:nvSpPr>
        <p:spPr>
          <a:xfrm xmlns:a="http://schemas.openxmlformats.org/drawingml/2006/main">
            <a:off x="952500" y="3343275"/>
            <a:ext cx="171450" cy="171450"/>
          </a:xfrm>
          <a:prstGeom xmlns:a="http://schemas.openxmlformats.org/drawingml/2006/main" prst="ellipse">
            <a:avLst/>
          </a:prstGeom>
          <a:solidFill xmlns:a="http://schemas.openxmlformats.org/drawingml/2006/main">
            <a:srgbClr val="101216"/>
          </a:solidFill>
          <a:ln xmlns:a="http://schemas.openxmlformats.org/drawingml/2006/main" w="0">
            <a:solidFill>
              <a:srgbClr val="101216"/>
            </a:solidFill>
            <a:prstDash val="solid"/>
          </a:ln>
        </p:spPr>
      </p:sp>
      <p:sp>
        <p:nvSpPr>
          <p:cNvPr id="6" name="timeline-dot-1">
            <a:extLst xmlns:a="http://schemas.openxmlformats.org/drawingml/2006/main">
              <a:ext uri="{FF2B5EF4-FFF2-40B4-BE49-F238E27FC236}">
                <a16:creationId xmlns:a16="http://schemas.microsoft.com/office/drawing/2014/main" id="{22E13771-B54F-4AED-ACA7-AD367DA96A1B}"/>
              </a:ext>
            </a:extLst>
          </p:cNvPr>
          <p:cNvSpPr>
            <a:spLocks xmlns:a="http://schemas.openxmlformats.org/drawingml/2006/main" noGrp="1"/>
          </p:cNvSpPr>
          <p:nvPr/>
        </p:nvSpPr>
        <p:spPr>
          <a:xfrm xmlns:a="http://schemas.openxmlformats.org/drawingml/2006/main">
            <a:off x="3429000" y="3343275"/>
            <a:ext cx="171450" cy="171450"/>
          </a:xfrm>
          <a:prstGeom xmlns:a="http://schemas.openxmlformats.org/drawingml/2006/main" prst="ellipse">
            <a:avLst/>
          </a:prstGeom>
          <a:solidFill xmlns:a="http://schemas.openxmlformats.org/drawingml/2006/main">
            <a:srgbClr val="101216"/>
          </a:solidFill>
          <a:ln xmlns:a="http://schemas.openxmlformats.org/drawingml/2006/main" w="0">
            <a:solidFill>
              <a:srgbClr val="101216"/>
            </a:solidFill>
            <a:prstDash val="solid"/>
          </a:ln>
        </p:spPr>
      </p:sp>
      <p:sp>
        <p:nvSpPr>
          <p:cNvPr id="7" name="timeline-dot-2">
            <a:extLst xmlns:a="http://schemas.openxmlformats.org/drawingml/2006/main">
              <a:ext uri="{FF2B5EF4-FFF2-40B4-BE49-F238E27FC236}">
                <a16:creationId xmlns:a16="http://schemas.microsoft.com/office/drawing/2014/main" id="{34CAB950-FAB2-4B33-8A2C-570E09E8AC3C}"/>
              </a:ext>
            </a:extLst>
          </p:cNvPr>
          <p:cNvSpPr>
            <a:spLocks xmlns:a="http://schemas.openxmlformats.org/drawingml/2006/main" noGrp="1"/>
          </p:cNvSpPr>
          <p:nvPr/>
        </p:nvSpPr>
        <p:spPr>
          <a:xfrm xmlns:a="http://schemas.openxmlformats.org/drawingml/2006/main">
            <a:off x="6191250" y="3343275"/>
            <a:ext cx="171450" cy="171450"/>
          </a:xfrm>
          <a:prstGeom xmlns:a="http://schemas.openxmlformats.org/drawingml/2006/main" prst="ellipse">
            <a:avLst/>
          </a:prstGeom>
          <a:solidFill xmlns:a="http://schemas.openxmlformats.org/drawingml/2006/main">
            <a:srgbClr val="101216"/>
          </a:solidFill>
          <a:ln xmlns:a="http://schemas.openxmlformats.org/drawingml/2006/main" w="0">
            <a:solidFill>
              <a:srgbClr val="101216"/>
            </a:solidFill>
            <a:prstDash val="solid"/>
          </a:ln>
        </p:spPr>
      </p:sp>
      <p:sp>
        <p:nvSpPr>
          <p:cNvPr id="8" name="timeline-dot-3">
            <a:extLst xmlns:a="http://schemas.openxmlformats.org/drawingml/2006/main">
              <a:ext uri="{FF2B5EF4-FFF2-40B4-BE49-F238E27FC236}">
                <a16:creationId xmlns:a16="http://schemas.microsoft.com/office/drawing/2014/main" id="{E2B367D7-243D-4B7E-A8E2-98B876D65985}"/>
              </a:ext>
            </a:extLst>
          </p:cNvPr>
          <p:cNvSpPr>
            <a:spLocks xmlns:a="http://schemas.openxmlformats.org/drawingml/2006/main" noGrp="1"/>
          </p:cNvSpPr>
          <p:nvPr/>
        </p:nvSpPr>
        <p:spPr>
          <a:xfrm xmlns:a="http://schemas.openxmlformats.org/drawingml/2006/main">
            <a:off x="8953500" y="3343275"/>
            <a:ext cx="171450" cy="1714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timeline-label-1">
            <a:extLst xmlns:a="http://schemas.openxmlformats.org/drawingml/2006/main">
              <a:ext uri="{FF2B5EF4-FFF2-40B4-BE49-F238E27FC236}">
                <a16:creationId xmlns:a16="http://schemas.microsoft.com/office/drawing/2014/main" id="{B4928FF4-EB40-4F8D-A30F-A687611EBD34}"/>
              </a:ext>
            </a:extLst>
          </p:cNvPr>
          <p:cNvSpPr>
            <a:spLocks xmlns:a="http://schemas.openxmlformats.org/drawingml/2006/main" noGrp="1"/>
          </p:cNvSpPr>
          <p:nvPr/>
        </p:nvSpPr>
        <p:spPr>
          <a:xfrm xmlns:a="http://schemas.openxmlformats.org/drawingml/2006/main">
            <a:off x="952500" y="2857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5C6470"/>
                </a:solidFill>
                <a:latin typeface="Helvetica Neue"/>
                <a:ea typeface="Helvetica Neue"/>
                <a:cs typeface="Helvetica Neue"/>
              </a:defRPr>
            </a:pPr>
            <a:r>
              <a:rPr sz="1275" b="1" i="0">
                <a:solidFill>
                  <a:srgbClr val="5C6470"/>
                </a:solidFill>
                <a:latin typeface="Helvetica Neue"/>
                <a:ea typeface="Helvetica Neue"/>
                <a:cs typeface="Helvetica Neue"/>
              </a:rPr>
              <a:t>JOIN</a:t>
            </a:r>
          </a:p>
        </p:txBody>
      </p:sp>
      <p:sp>
        <p:nvSpPr>
          <p:cNvPr id="10" name="timeline-body-1">
            <a:extLst xmlns:a="http://schemas.openxmlformats.org/drawingml/2006/main">
              <a:ext uri="{FF2B5EF4-FFF2-40B4-BE49-F238E27FC236}">
                <a16:creationId xmlns:a16="http://schemas.microsoft.com/office/drawing/2014/main" id="{6BB8EE50-9652-47D7-961B-1163C9BF17FB}"/>
              </a:ext>
            </a:extLst>
          </p:cNvPr>
          <p:cNvSpPr>
            <a:spLocks xmlns:a="http://schemas.openxmlformats.org/drawingml/2006/main" noGrp="1"/>
          </p:cNvSpPr>
          <p:nvPr/>
        </p:nvSpPr>
        <p:spPr>
          <a:xfrm xmlns:a="http://schemas.openxmlformats.org/drawingml/2006/main">
            <a:off x="952500" y="3810000"/>
            <a:ext cx="209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101216"/>
                </a:solidFill>
                <a:latin typeface="Helvetica Neue"/>
                <a:ea typeface="Helvetica Neue"/>
                <a:cs typeface="Helvetica Neue"/>
              </a:defRPr>
            </a:pPr>
            <a:r>
              <a:rPr sz="1950" b="1" i="0">
                <a:solidFill>
                  <a:srgbClr val="101216"/>
                </a:solidFill>
                <a:latin typeface="Helvetica Neue"/>
                <a:ea typeface="Helvetica Neue"/>
                <a:cs typeface="Helvetica Neue"/>
              </a:rPr>
              <a:t>Full-stack</a:t>
            </a:r>
          </a:p>
          <a:p xmlns:a="http://schemas.openxmlformats.org/drawingml/2006/main">
            <a:pPr algn="l">
              <a:defRPr sz="1950" b="1" i="0">
                <a:solidFill>
                  <a:srgbClr val="101216"/>
                </a:solidFill>
                <a:latin typeface="Helvetica Neue"/>
                <a:ea typeface="Helvetica Neue"/>
                <a:cs typeface="Helvetica Neue"/>
              </a:defRPr>
            </a:pPr>
            <a:r>
              <a:rPr sz="1950" b="1" i="0">
                <a:solidFill>
                  <a:srgbClr val="101216"/>
                </a:solidFill>
                <a:latin typeface="Helvetica Neue"/>
                <a:ea typeface="Helvetica Neue"/>
                <a:cs typeface="Helvetica Neue"/>
              </a:rPr>
              <a:t>engineering intern</a:t>
            </a:r>
          </a:p>
        </p:txBody>
      </p:sp>
      <p:sp>
        <p:nvSpPr>
          <p:cNvPr id="11" name="timeline-label-2">
            <a:extLst xmlns:a="http://schemas.openxmlformats.org/drawingml/2006/main">
              <a:ext uri="{FF2B5EF4-FFF2-40B4-BE49-F238E27FC236}">
                <a16:creationId xmlns:a16="http://schemas.microsoft.com/office/drawing/2014/main" id="{AF2F276C-D281-420E-B0C2-6DCBC962748E}"/>
              </a:ext>
            </a:extLst>
          </p:cNvPr>
          <p:cNvSpPr>
            <a:spLocks xmlns:a="http://schemas.openxmlformats.org/drawingml/2006/main" noGrp="1"/>
          </p:cNvSpPr>
          <p:nvPr/>
        </p:nvSpPr>
        <p:spPr>
          <a:xfrm xmlns:a="http://schemas.openxmlformats.org/drawingml/2006/main">
            <a:off x="3429000" y="28575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5C6470"/>
                </a:solidFill>
                <a:latin typeface="Helvetica Neue"/>
                <a:ea typeface="Helvetica Neue"/>
                <a:cs typeface="Helvetica Neue"/>
              </a:defRPr>
            </a:pPr>
            <a:r>
              <a:rPr sz="1275" b="1" i="0">
                <a:solidFill>
                  <a:srgbClr val="5C6470"/>
                </a:solidFill>
                <a:latin typeface="Helvetica Neue"/>
                <a:ea typeface="Helvetica Neue"/>
                <a:cs typeface="Helvetica Neue"/>
              </a:rPr>
              <a:t>WEEK 3</a:t>
            </a:r>
          </a:p>
        </p:txBody>
      </p:sp>
      <p:sp>
        <p:nvSpPr>
          <p:cNvPr id="12" name="timeline-body-2">
            <a:extLst xmlns:a="http://schemas.openxmlformats.org/drawingml/2006/main">
              <a:ext uri="{FF2B5EF4-FFF2-40B4-BE49-F238E27FC236}">
                <a16:creationId xmlns:a16="http://schemas.microsoft.com/office/drawing/2014/main" id="{D8CB7C13-AC5D-4950-83B9-8B45286814EE}"/>
              </a:ext>
            </a:extLst>
          </p:cNvPr>
          <p:cNvSpPr>
            <a:spLocks xmlns:a="http://schemas.openxmlformats.org/drawingml/2006/main" noGrp="1"/>
          </p:cNvSpPr>
          <p:nvPr/>
        </p:nvSpPr>
        <p:spPr>
          <a:xfrm xmlns:a="http://schemas.openxmlformats.org/drawingml/2006/main">
            <a:off x="3429000" y="381000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800" b="1" i="0">
                <a:solidFill>
                  <a:srgbClr val="101216"/>
                </a:solidFill>
                <a:latin typeface="Helvetica Neue"/>
                <a:ea typeface="Helvetica Neue"/>
                <a:cs typeface="Helvetica Neue"/>
              </a:defRPr>
            </a:pPr>
            <a:r>
              <a:rPr sz="1800" b="1" i="0">
                <a:solidFill>
                  <a:srgbClr val="101216"/>
                </a:solidFill>
                <a:latin typeface="Helvetica Neue"/>
                <a:ea typeface="Helvetica Neue"/>
                <a:cs typeface="Helvetica Neue"/>
              </a:rPr>
              <a:t>Assigned bot-detection</a:t>
            </a:r>
          </a:p>
          <a:p xmlns:a="http://schemas.openxmlformats.org/drawingml/2006/main">
            <a:pPr algn="l">
              <a:defRPr sz="1800" b="1" i="0">
                <a:solidFill>
                  <a:srgbClr val="101216"/>
                </a:solidFill>
                <a:latin typeface="Helvetica Neue"/>
                <a:ea typeface="Helvetica Neue"/>
                <a:cs typeface="Helvetica Neue"/>
              </a:defRPr>
            </a:pPr>
            <a:r>
              <a:rPr sz="1800" b="1" i="0">
                <a:solidFill>
                  <a:srgbClr val="101216"/>
                </a:solidFill>
                <a:latin typeface="Helvetica Neue"/>
                <a:ea typeface="Helvetica Neue"/>
                <a:cs typeface="Helvetica Neue"/>
              </a:rPr>
              <a:t>and data-agent work shipped</a:t>
            </a:r>
          </a:p>
        </p:txBody>
      </p:sp>
      <p:sp>
        <p:nvSpPr>
          <p:cNvPr id="13" name="timeline-label-3">
            <a:extLst xmlns:a="http://schemas.openxmlformats.org/drawingml/2006/main">
              <a:ext uri="{FF2B5EF4-FFF2-40B4-BE49-F238E27FC236}">
                <a16:creationId xmlns:a16="http://schemas.microsoft.com/office/drawing/2014/main" id="{222DF9C8-33C4-4831-B959-FA3B25C43AD9}"/>
              </a:ext>
            </a:extLst>
          </p:cNvPr>
          <p:cNvSpPr>
            <a:spLocks xmlns:a="http://schemas.openxmlformats.org/drawingml/2006/main" noGrp="1"/>
          </p:cNvSpPr>
          <p:nvPr/>
        </p:nvSpPr>
        <p:spPr>
          <a:xfrm xmlns:a="http://schemas.openxmlformats.org/drawingml/2006/main">
            <a:off x="6191250" y="28575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5C6470"/>
                </a:solidFill>
                <a:latin typeface="Helvetica Neue"/>
                <a:ea typeface="Helvetica Neue"/>
                <a:cs typeface="Helvetica Neue"/>
              </a:defRPr>
            </a:pPr>
            <a:r>
              <a:rPr sz="1275" b="1" i="0">
                <a:solidFill>
                  <a:srgbClr val="5C6470"/>
                </a:solidFill>
                <a:latin typeface="Helvetica Neue"/>
                <a:ea typeface="Helvetica Neue"/>
                <a:cs typeface="Helvetica Neue"/>
              </a:rPr>
              <a:t>SELF-DIRECTED</a:t>
            </a:r>
          </a:p>
        </p:txBody>
      </p:sp>
      <p:sp>
        <p:nvSpPr>
          <p:cNvPr id="14" name="timeline-body-3">
            <a:extLst xmlns:a="http://schemas.openxmlformats.org/drawingml/2006/main">
              <a:ext uri="{FF2B5EF4-FFF2-40B4-BE49-F238E27FC236}">
                <a16:creationId xmlns:a16="http://schemas.microsoft.com/office/drawing/2014/main" id="{7A199CF3-A182-49CA-AEC5-0D26D5B109EC}"/>
              </a:ext>
            </a:extLst>
          </p:cNvPr>
          <p:cNvSpPr>
            <a:spLocks xmlns:a="http://schemas.openxmlformats.org/drawingml/2006/main" noGrp="1"/>
          </p:cNvSpPr>
          <p:nvPr/>
        </p:nvSpPr>
        <p:spPr>
          <a:xfrm xmlns:a="http://schemas.openxmlformats.org/drawingml/2006/main">
            <a:off x="6191250" y="3810000"/>
            <a:ext cx="2428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800" b="1" i="0">
                <a:solidFill>
                  <a:srgbClr val="101216"/>
                </a:solidFill>
                <a:latin typeface="Helvetica Neue"/>
                <a:ea typeface="Helvetica Neue"/>
                <a:cs typeface="Helvetica Neue"/>
              </a:defRPr>
            </a:pPr>
            <a:r>
              <a:rPr sz="1800" b="1" i="0">
                <a:solidFill>
                  <a:srgbClr val="101216"/>
                </a:solidFill>
                <a:latin typeface="Helvetica Neue"/>
                <a:ea typeface="Helvetica Neue"/>
                <a:cs typeface="Helvetica Neue"/>
              </a:rPr>
              <a:t>Flagged weak recommendations</a:t>
            </a:r>
          </a:p>
          <a:p xmlns:a="http://schemas.openxmlformats.org/drawingml/2006/main">
            <a:pPr algn="l">
              <a:defRPr sz="1800" b="1" i="0">
                <a:solidFill>
                  <a:srgbClr val="101216"/>
                </a:solidFill>
                <a:latin typeface="Helvetica Neue"/>
                <a:ea typeface="Helvetica Neue"/>
                <a:cs typeface="Helvetica Neue"/>
              </a:defRPr>
            </a:pPr>
            <a:r>
              <a:rPr sz="1800" b="1" i="0">
                <a:solidFill>
                  <a:srgbClr val="101216"/>
                </a:solidFill>
                <a:latin typeface="Helvetica Neue"/>
                <a:ea typeface="Helvetica Neue"/>
                <a:cs typeface="Helvetica Neue"/>
              </a:rPr>
              <a:t>and asked to join the effort</a:t>
            </a:r>
          </a:p>
        </p:txBody>
      </p:sp>
      <p:sp>
        <p:nvSpPr>
          <p:cNvPr id="15" name="timeline-label-4">
            <a:extLst xmlns:a="http://schemas.openxmlformats.org/drawingml/2006/main">
              <a:ext uri="{FF2B5EF4-FFF2-40B4-BE49-F238E27FC236}">
                <a16:creationId xmlns:a16="http://schemas.microsoft.com/office/drawing/2014/main" id="{9FA1AF74-4B55-47C5-A713-49D395234623}"/>
              </a:ext>
            </a:extLst>
          </p:cNvPr>
          <p:cNvSpPr>
            <a:spLocks xmlns:a="http://schemas.openxmlformats.org/drawingml/2006/main" noGrp="1"/>
          </p:cNvSpPr>
          <p:nvPr/>
        </p:nvSpPr>
        <p:spPr>
          <a:xfrm xmlns:a="http://schemas.openxmlformats.org/drawingml/2006/main">
            <a:off x="8953500" y="28575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NEXT ≈8 WEEKS</a:t>
            </a:r>
          </a:p>
        </p:txBody>
      </p:sp>
      <p:sp>
        <p:nvSpPr>
          <p:cNvPr id="16" name="timeline-body-4">
            <a:extLst xmlns:a="http://schemas.openxmlformats.org/drawingml/2006/main">
              <a:ext uri="{FF2B5EF4-FFF2-40B4-BE49-F238E27FC236}">
                <a16:creationId xmlns:a16="http://schemas.microsoft.com/office/drawing/2014/main" id="{1A9C9B58-78F1-4021-8504-DA1486E74C7F}"/>
              </a:ext>
            </a:extLst>
          </p:cNvPr>
          <p:cNvSpPr>
            <a:spLocks xmlns:a="http://schemas.openxmlformats.org/drawingml/2006/main" noGrp="1"/>
          </p:cNvSpPr>
          <p:nvPr/>
        </p:nvSpPr>
        <p:spPr>
          <a:xfrm xmlns:a="http://schemas.openxmlformats.org/drawingml/2006/main">
            <a:off x="8953500" y="381000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979"/>
          </a:bodyPr>
          <a:lstStyle xmlns:a="http://schemas.openxmlformats.org/drawingml/2006/main"/>
          <a:p xmlns:a="http://schemas.openxmlformats.org/drawingml/2006/main">
            <a:pPr algn="l">
              <a:defRPr sz="1950" b="1" i="0">
                <a:solidFill>
                  <a:srgbClr val="3D8DFF"/>
                </a:solidFill>
                <a:latin typeface="Helvetica Neue"/>
                <a:ea typeface="Helvetica Neue"/>
                <a:cs typeface="Helvetica Neue"/>
              </a:defRPr>
            </a:pPr>
            <a:r>
              <a:rPr sz="1950" b="1" i="0">
                <a:solidFill>
                  <a:srgbClr val="3D8DFF"/>
                </a:solidFill>
                <a:latin typeface="Helvetica Neue"/>
                <a:ea typeface="Helvetica Neue"/>
                <a:cs typeface="Helvetica Neue"/>
              </a:rPr>
              <a:t>Built and launched</a:t>
            </a:r>
          </a:p>
          <a:p xmlns:a="http://schemas.openxmlformats.org/drawingml/2006/main">
            <a:pPr algn="l">
              <a:defRPr sz="1950" b="1" i="0">
                <a:solidFill>
                  <a:srgbClr val="3D8DFF"/>
                </a:solidFill>
                <a:latin typeface="Helvetica Neue"/>
                <a:ea typeface="Helvetica Neue"/>
                <a:cs typeface="Helvetica Neue"/>
              </a:defRPr>
            </a:pPr>
            <a:r>
              <a:rPr sz="1950" b="1" i="0">
                <a:solidFill>
                  <a:srgbClr val="3D8DFF"/>
                </a:solidFill>
                <a:latin typeface="Helvetica Neue"/>
                <a:ea typeface="Helvetica Neue"/>
                <a:cs typeface="Helvetica Neue"/>
              </a:rPr>
              <a:t>three feeds in parallel</a:t>
            </a:r>
          </a:p>
        </p:txBody>
      </p:sp>
      <p:sp>
        <p:nvSpPr>
          <p:cNvPr id="17" name="timeline-callout">
            <a:extLst xmlns:a="http://schemas.openxmlformats.org/drawingml/2006/main">
              <a:ext uri="{FF2B5EF4-FFF2-40B4-BE49-F238E27FC236}">
                <a16:creationId xmlns:a16="http://schemas.microsoft.com/office/drawing/2014/main" id="{E0F5D533-F9F2-4571-A3FE-F9138FD84D2F}"/>
              </a:ext>
            </a:extLst>
          </p:cNvPr>
          <p:cNvSpPr>
            <a:spLocks xmlns:a="http://schemas.openxmlformats.org/drawingml/2006/main" noGrp="1"/>
          </p:cNvSpPr>
          <p:nvPr/>
        </p:nvSpPr>
        <p:spPr>
          <a:xfrm xmlns:a="http://schemas.openxmlformats.org/drawingml/2006/main">
            <a:off x="666750" y="15621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Small ad hoc team  •  no dedicated PM  •  no predefined delivery plan</a:t>
            </a:r>
          </a:p>
        </p:txBody>
      </p:sp>
    </p:spTree>
    <p:extLst>
      <p:ext uri="{BB962C8B-B14F-4D97-AF65-F5344CB8AC3E}">
        <p14:creationId xmlns:p14="http://schemas.microsoft.com/office/powerpoint/2010/main" val="19370391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B37F9695-CC0F-4E54-AF3E-65A8E1C96281}"/>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CF85497C-9AAD-4368-9E2C-FCA53E548F3C}"/>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77"/>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I owned the system; specialists sharpened the science</a:t>
            </a:r>
          </a:p>
        </p:txBody>
      </p:sp>
      <p:sp>
        <p:nvSpPr>
          <p:cNvPr id="3" name="page-number">
            <a:extLst xmlns:a="http://schemas.openxmlformats.org/drawingml/2006/main">
              <a:ext uri="{FF2B5EF4-FFF2-40B4-BE49-F238E27FC236}">
                <a16:creationId xmlns:a16="http://schemas.microsoft.com/office/drawing/2014/main" id="{E04C30E7-EBF0-4BE5-8582-508093465D75}"/>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5</a:t>
            </a:r>
          </a:p>
        </p:txBody>
      </p:sp>
      <p:sp>
        <p:nvSpPr>
          <p:cNvPr id="4" name="ownership-panel-0">
            <a:extLst xmlns:a="http://schemas.openxmlformats.org/drawingml/2006/main">
              <a:ext uri="{FF2B5EF4-FFF2-40B4-BE49-F238E27FC236}">
                <a16:creationId xmlns:a16="http://schemas.microsoft.com/office/drawing/2014/main" id="{048DEEE2-6C0A-4FCA-AACB-A3374CF9AA92}"/>
              </a:ext>
            </a:extLst>
          </p:cNvPr>
          <p:cNvSpPr>
            <a:spLocks xmlns:a="http://schemas.openxmlformats.org/drawingml/2006/main" noGrp="1"/>
          </p:cNvSpPr>
          <p:nvPr/>
        </p:nvSpPr>
        <p:spPr>
          <a:xfrm xmlns:a="http://schemas.openxmlformats.org/drawingml/2006/main">
            <a:off x="457200" y="2000250"/>
            <a:ext cx="3429000" cy="3667125"/>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5" name="ownership-panel-1">
            <a:extLst xmlns:a="http://schemas.openxmlformats.org/drawingml/2006/main">
              <a:ext uri="{FF2B5EF4-FFF2-40B4-BE49-F238E27FC236}">
                <a16:creationId xmlns:a16="http://schemas.microsoft.com/office/drawing/2014/main" id="{25CA9C4D-961E-4F1E-B806-A33C2739661E}"/>
              </a:ext>
            </a:extLst>
          </p:cNvPr>
          <p:cNvSpPr>
            <a:spLocks xmlns:a="http://schemas.openxmlformats.org/drawingml/2006/main" noGrp="1"/>
          </p:cNvSpPr>
          <p:nvPr/>
        </p:nvSpPr>
        <p:spPr>
          <a:xfrm xmlns:a="http://schemas.openxmlformats.org/drawingml/2006/main">
            <a:off x="4343400" y="2000250"/>
            <a:ext cx="3429000" cy="3667125"/>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6" name="ownership-panel-2">
            <a:extLst xmlns:a="http://schemas.openxmlformats.org/drawingml/2006/main">
              <a:ext uri="{FF2B5EF4-FFF2-40B4-BE49-F238E27FC236}">
                <a16:creationId xmlns:a16="http://schemas.microsoft.com/office/drawing/2014/main" id="{47CF8964-84D1-41BF-9063-2672C847F55E}"/>
              </a:ext>
            </a:extLst>
          </p:cNvPr>
          <p:cNvSpPr>
            <a:spLocks xmlns:a="http://schemas.openxmlformats.org/drawingml/2006/main" noGrp="1"/>
          </p:cNvSpPr>
          <p:nvPr/>
        </p:nvSpPr>
        <p:spPr>
          <a:xfrm xmlns:a="http://schemas.openxmlformats.org/drawingml/2006/main">
            <a:off x="8229600" y="2000250"/>
            <a:ext cx="3429000" cy="3667125"/>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7" name="ownership-h1">
            <a:extLst xmlns:a="http://schemas.openxmlformats.org/drawingml/2006/main">
              <a:ext uri="{FF2B5EF4-FFF2-40B4-BE49-F238E27FC236}">
                <a16:creationId xmlns:a16="http://schemas.microsoft.com/office/drawing/2014/main" id="{AB774E84-C1CB-434E-AC14-A9F734173C03}"/>
              </a:ext>
            </a:extLst>
          </p:cNvPr>
          <p:cNvSpPr>
            <a:spLocks xmlns:a="http://schemas.openxmlformats.org/drawingml/2006/main" noGrp="1"/>
          </p:cNvSpPr>
          <p:nvPr/>
        </p:nvSpPr>
        <p:spPr>
          <a:xfrm xmlns:a="http://schemas.openxmlformats.org/drawingml/2006/main">
            <a:off x="723900" y="22860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73"/>
          </a:bodyPr>
          <a:lstStyle xmlns:a="http://schemas.openxmlformats.org/drawingml/2006/main"/>
          <a:p xmlns:a="http://schemas.openxmlformats.org/drawingml/2006/main">
            <a:pPr algn="l">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I led</a:t>
            </a:r>
          </a:p>
        </p:txBody>
      </p:sp>
      <p:sp>
        <p:nvSpPr>
          <p:cNvPr id="8" name="ownership-b1">
            <a:extLst xmlns:a="http://schemas.openxmlformats.org/drawingml/2006/main">
              <a:ext uri="{FF2B5EF4-FFF2-40B4-BE49-F238E27FC236}">
                <a16:creationId xmlns:a16="http://schemas.microsoft.com/office/drawing/2014/main" id="{5353BC81-B47D-4CCF-AE46-4FC214D70217}"/>
              </a:ext>
            </a:extLst>
          </p:cNvPr>
          <p:cNvSpPr>
            <a:spLocks xmlns:a="http://schemas.openxmlformats.org/drawingml/2006/main" noGrp="1"/>
          </p:cNvSpPr>
          <p:nvPr/>
        </p:nvSpPr>
        <p:spPr>
          <a:xfrm xmlns:a="http://schemas.openxmlformats.org/drawingml/2006/main">
            <a:off x="723900" y="2952750"/>
            <a:ext cx="2857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All data pipelines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Most backend serving</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Most frontend implementation</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Rollout and production health</a:t>
            </a:r>
          </a:p>
        </p:txBody>
      </p:sp>
      <p:sp>
        <p:nvSpPr>
          <p:cNvPr id="9" name="ownership-h2">
            <a:extLst xmlns:a="http://schemas.openxmlformats.org/drawingml/2006/main">
              <a:ext uri="{FF2B5EF4-FFF2-40B4-BE49-F238E27FC236}">
                <a16:creationId xmlns:a16="http://schemas.microsoft.com/office/drawing/2014/main" id="{D6675F0C-C31A-4E65-A626-B9C233B9866D}"/>
              </a:ext>
            </a:extLst>
          </p:cNvPr>
          <p:cNvSpPr>
            <a:spLocks xmlns:a="http://schemas.openxmlformats.org/drawingml/2006/main" noGrp="1"/>
          </p:cNvSpPr>
          <p:nvPr/>
        </p:nvSpPr>
        <p:spPr>
          <a:xfrm xmlns:a="http://schemas.openxmlformats.org/drawingml/2006/main">
            <a:off x="4610100" y="22860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73"/>
          </a:bodyPr>
          <a:lstStyle xmlns:a="http://schemas.openxmlformats.org/drawingml/2006/main"/>
          <a:p xmlns:a="http://schemas.openxmlformats.org/drawingml/2006/main">
            <a:pPr algn="l">
              <a:defRPr sz="2325" b="1" i="0">
                <a:solidFill>
                  <a:srgbClr val="101216"/>
                </a:solidFill>
                <a:latin typeface="Helvetica Neue"/>
                <a:ea typeface="Helvetica Neue"/>
                <a:cs typeface="Helvetica Neue"/>
              </a:defRPr>
            </a:pPr>
            <a:r>
              <a:rPr sz="2325" b="1" i="0">
                <a:solidFill>
                  <a:srgbClr val="101216"/>
                </a:solidFill>
                <a:latin typeface="Helvetica Neue"/>
                <a:ea typeface="Helvetica Neue"/>
                <a:cs typeface="Helvetica Neue"/>
              </a:rPr>
              <a:t>I co-owned</a:t>
            </a:r>
          </a:p>
        </p:txBody>
      </p:sp>
      <p:sp>
        <p:nvSpPr>
          <p:cNvPr id="10" name="ownership-b2">
            <a:extLst xmlns:a="http://schemas.openxmlformats.org/drawingml/2006/main">
              <a:ext uri="{FF2B5EF4-FFF2-40B4-BE49-F238E27FC236}">
                <a16:creationId xmlns:a16="http://schemas.microsoft.com/office/drawing/2014/main" id="{3A81CAED-97A1-4E62-8157-943F4040EDA9}"/>
              </a:ext>
            </a:extLst>
          </p:cNvPr>
          <p:cNvSpPr>
            <a:spLocks xmlns:a="http://schemas.openxmlformats.org/drawingml/2006/main" noGrp="1"/>
          </p:cNvSpPr>
          <p:nvPr/>
        </p:nvSpPr>
        <p:spPr>
          <a:xfrm xmlns:a="http://schemas.openxmlformats.org/drawingml/2006/main">
            <a:off x="4610100" y="2952750"/>
            <a:ext cx="285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Architecture and system design</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Retrieval and ranking logic</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Experiment design and analysis</a:t>
            </a:r>
          </a:p>
        </p:txBody>
      </p:sp>
      <p:sp>
        <p:nvSpPr>
          <p:cNvPr id="11" name="ownership-h3">
            <a:extLst xmlns:a="http://schemas.openxmlformats.org/drawingml/2006/main">
              <a:ext uri="{FF2B5EF4-FFF2-40B4-BE49-F238E27FC236}">
                <a16:creationId xmlns:a16="http://schemas.microsoft.com/office/drawing/2014/main" id="{C580AE24-3134-42BE-ABEA-15480A48DBC2}"/>
              </a:ext>
            </a:extLst>
          </p:cNvPr>
          <p:cNvSpPr>
            <a:spLocks xmlns:a="http://schemas.openxmlformats.org/drawingml/2006/main" noGrp="1"/>
          </p:cNvSpPr>
          <p:nvPr/>
        </p:nvSpPr>
        <p:spPr>
          <a:xfrm xmlns:a="http://schemas.openxmlformats.org/drawingml/2006/main">
            <a:off x="8496300" y="22860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79"/>
          </a:bodyPr>
          <a:lstStyle xmlns:a="http://schemas.openxmlformats.org/drawingml/2006/main"/>
          <a:p xmlns:a="http://schemas.openxmlformats.org/drawingml/2006/main">
            <a:pPr algn="l">
              <a:defRPr sz="2325" b="1" i="0">
                <a:solidFill>
                  <a:srgbClr val="101216"/>
                </a:solidFill>
                <a:latin typeface="Helvetica Neue"/>
                <a:ea typeface="Helvetica Neue"/>
                <a:cs typeface="Helvetica Neue"/>
              </a:defRPr>
            </a:pPr>
            <a:r>
              <a:rPr sz="2325" b="1" i="0">
                <a:solidFill>
                  <a:srgbClr val="101216"/>
                </a:solidFill>
                <a:latin typeface="Helvetica Neue"/>
                <a:ea typeface="Helvetica Neue"/>
                <a:cs typeface="Helvetica Neue"/>
              </a:rPr>
              <a:t>Partners added depth</a:t>
            </a:r>
          </a:p>
        </p:txBody>
      </p:sp>
      <p:sp>
        <p:nvSpPr>
          <p:cNvPr id="12" name="ownership-b3">
            <a:extLst xmlns:a="http://schemas.openxmlformats.org/drawingml/2006/main">
              <a:ext uri="{FF2B5EF4-FFF2-40B4-BE49-F238E27FC236}">
                <a16:creationId xmlns:a16="http://schemas.microsoft.com/office/drawing/2014/main" id="{24C239C4-DE46-4CC7-97EB-26346B371AFB}"/>
              </a:ext>
            </a:extLst>
          </p:cNvPr>
          <p:cNvSpPr>
            <a:spLocks xmlns:a="http://schemas.openxmlformats.org/drawingml/2006/main" noGrp="1"/>
          </p:cNvSpPr>
          <p:nvPr/>
        </p:nvSpPr>
        <p:spPr>
          <a:xfrm xmlns:a="http://schemas.openxmlformats.org/drawingml/2006/main">
            <a:off x="8496300" y="295275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ML scientist: algorithms, scoring, metrics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Data scientist: experiment analysis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Design: UI specifications</a:t>
            </a:r>
          </a:p>
        </p:txBody>
      </p:sp>
    </p:spTree>
    <p:extLst>
      <p:ext uri="{BB962C8B-B14F-4D97-AF65-F5344CB8AC3E}">
        <p14:creationId xmlns:p14="http://schemas.microsoft.com/office/powerpoint/2010/main" val="2500592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45EB19DD-7C78-412B-A785-42A406B4CA45}"/>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F863D1C1-B3D3-406B-BACF-00172BC8807F}"/>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Three feeds solved three different user jobs</a:t>
            </a:r>
          </a:p>
        </p:txBody>
      </p:sp>
      <p:sp>
        <p:nvSpPr>
          <p:cNvPr id="3" name="page-number">
            <a:extLst xmlns:a="http://schemas.openxmlformats.org/drawingml/2006/main">
              <a:ext uri="{FF2B5EF4-FFF2-40B4-BE49-F238E27FC236}">
                <a16:creationId xmlns:a16="http://schemas.microsoft.com/office/drawing/2014/main" id="{B6F64A07-E1C8-412B-88A4-479B03A05D8F}"/>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6</a:t>
            </a:r>
          </a:p>
        </p:txBody>
      </p:sp>
      <p:sp>
        <p:nvSpPr>
          <p:cNvPr id="4" name="feed-num-1">
            <a:extLst xmlns:a="http://schemas.openxmlformats.org/drawingml/2006/main">
              <a:ext uri="{FF2B5EF4-FFF2-40B4-BE49-F238E27FC236}">
                <a16:creationId xmlns:a16="http://schemas.microsoft.com/office/drawing/2014/main" id="{9194C708-0228-4DBC-9DC9-D19B1F2A024A}"/>
              </a:ext>
            </a:extLst>
          </p:cNvPr>
          <p:cNvSpPr>
            <a:spLocks xmlns:a="http://schemas.openxmlformats.org/drawingml/2006/main" noGrp="1"/>
          </p:cNvSpPr>
          <p:nvPr/>
        </p:nvSpPr>
        <p:spPr>
          <a:xfrm xmlns:a="http://schemas.openxmlformats.org/drawingml/2006/main">
            <a:off x="457200" y="1666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01</a:t>
            </a:r>
          </a:p>
        </p:txBody>
      </p:sp>
      <p:sp>
        <p:nvSpPr>
          <p:cNvPr id="5" name="feed-title-1">
            <a:extLst xmlns:a="http://schemas.openxmlformats.org/drawingml/2006/main">
              <a:ext uri="{FF2B5EF4-FFF2-40B4-BE49-F238E27FC236}">
                <a16:creationId xmlns:a16="http://schemas.microsoft.com/office/drawing/2014/main" id="{EF808BBB-ADD5-4A41-A817-28F95713CB66}"/>
              </a:ext>
            </a:extLst>
          </p:cNvPr>
          <p:cNvSpPr>
            <a:spLocks xmlns:a="http://schemas.openxmlformats.org/drawingml/2006/main" noGrp="1"/>
          </p:cNvSpPr>
          <p:nvPr/>
        </p:nvSpPr>
        <p:spPr>
          <a:xfrm xmlns:a="http://schemas.openxmlformats.org/drawingml/2006/main">
            <a:off x="457200" y="2238375"/>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01216"/>
                </a:solidFill>
                <a:latin typeface="Helvetica Neue"/>
                <a:ea typeface="Helvetica Neue"/>
                <a:cs typeface="Helvetica Neue"/>
              </a:defRPr>
            </a:pPr>
            <a:r>
              <a:rPr sz="2700" b="1" i="0">
                <a:solidFill>
                  <a:srgbClr val="101216"/>
                </a:solidFill>
                <a:latin typeface="Helvetica Neue"/>
                <a:ea typeface="Helvetica Neue"/>
                <a:cs typeface="Helvetica Neue"/>
              </a:rPr>
              <a:t>For You</a:t>
            </a:r>
          </a:p>
        </p:txBody>
      </p:sp>
      <p:sp>
        <p:nvSpPr>
          <p:cNvPr id="6" name="feed-job-1">
            <a:extLst xmlns:a="http://schemas.openxmlformats.org/drawingml/2006/main">
              <a:ext uri="{FF2B5EF4-FFF2-40B4-BE49-F238E27FC236}">
                <a16:creationId xmlns:a16="http://schemas.microsoft.com/office/drawing/2014/main" id="{5C63FD72-28A6-469C-9EE6-E46C354A821E}"/>
              </a:ext>
            </a:extLst>
          </p:cNvPr>
          <p:cNvSpPr>
            <a:spLocks xmlns:a="http://schemas.openxmlformats.org/drawingml/2006/main" noGrp="1"/>
          </p:cNvSpPr>
          <p:nvPr/>
        </p:nvSpPr>
        <p:spPr>
          <a:xfrm xmlns:a="http://schemas.openxmlformats.org/drawingml/2006/main">
            <a:off x="457200" y="3028950"/>
            <a:ext cx="323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Broad song discovery from a mixture of listening, creation, interaction, similarity, and fallback signals.</a:t>
            </a:r>
          </a:p>
        </p:txBody>
      </p:sp>
      <p:sp>
        <p:nvSpPr>
          <p:cNvPr id="7" name="feed-model-1">
            <a:extLst xmlns:a="http://schemas.openxmlformats.org/drawingml/2006/main">
              <a:ext uri="{FF2B5EF4-FFF2-40B4-BE49-F238E27FC236}">
                <a16:creationId xmlns:a16="http://schemas.microsoft.com/office/drawing/2014/main" id="{A799DEBE-4E5C-4D32-A313-3682B659D30B}"/>
              </a:ext>
            </a:extLst>
          </p:cNvPr>
          <p:cNvSpPr>
            <a:spLocks xmlns:a="http://schemas.openxmlformats.org/drawingml/2006/main" noGrp="1"/>
          </p:cNvSpPr>
          <p:nvPr/>
        </p:nvSpPr>
        <p:spPr>
          <a:xfrm xmlns:a="http://schemas.openxmlformats.org/drawingml/2006/main">
            <a:off x="457200" y="5048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5C6470"/>
                </a:solidFill>
                <a:latin typeface="Helvetica Neue"/>
                <a:ea typeface="Helvetica Neue"/>
                <a:cs typeface="Helvetica Neue"/>
              </a:defRPr>
            </a:pPr>
            <a:r>
              <a:rPr sz="1350" b="1" i="0">
                <a:solidFill>
                  <a:srgbClr val="5C6470"/>
                </a:solidFill>
                <a:latin typeface="Helvetica Neue"/>
                <a:ea typeface="Helvetica Neue"/>
                <a:cs typeface="Helvetica Neue"/>
              </a:rPr>
              <a:t>MIXTURE FEED</a:t>
            </a:r>
          </a:p>
        </p:txBody>
      </p:sp>
      <p:sp>
        <p:nvSpPr>
          <p:cNvPr id="8" name="feed-num-2">
            <a:extLst xmlns:a="http://schemas.openxmlformats.org/drawingml/2006/main">
              <a:ext uri="{FF2B5EF4-FFF2-40B4-BE49-F238E27FC236}">
                <a16:creationId xmlns:a16="http://schemas.microsoft.com/office/drawing/2014/main" id="{B2D0EBC7-5B4C-47A2-92EF-80CD2073843F}"/>
              </a:ext>
            </a:extLst>
          </p:cNvPr>
          <p:cNvSpPr>
            <a:spLocks xmlns:a="http://schemas.openxmlformats.org/drawingml/2006/main" noGrp="1"/>
          </p:cNvSpPr>
          <p:nvPr/>
        </p:nvSpPr>
        <p:spPr>
          <a:xfrm xmlns:a="http://schemas.openxmlformats.org/drawingml/2006/main">
            <a:off x="4343400" y="1666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02</a:t>
            </a:r>
          </a:p>
        </p:txBody>
      </p:sp>
      <p:sp>
        <p:nvSpPr>
          <p:cNvPr id="9" name="feed-title-2">
            <a:extLst xmlns:a="http://schemas.openxmlformats.org/drawingml/2006/main">
              <a:ext uri="{FF2B5EF4-FFF2-40B4-BE49-F238E27FC236}">
                <a16:creationId xmlns:a16="http://schemas.microsoft.com/office/drawing/2014/main" id="{95B1FAA6-3325-4732-B891-4F4F9652DC4B}"/>
              </a:ext>
            </a:extLst>
          </p:cNvPr>
          <p:cNvSpPr>
            <a:spLocks xmlns:a="http://schemas.openxmlformats.org/drawingml/2006/main" noGrp="1"/>
          </p:cNvSpPr>
          <p:nvPr/>
        </p:nvSpPr>
        <p:spPr>
          <a:xfrm xmlns:a="http://schemas.openxmlformats.org/drawingml/2006/main">
            <a:off x="4343400" y="2238375"/>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i="0">
                <a:solidFill>
                  <a:srgbClr val="101216"/>
                </a:solidFill>
                <a:latin typeface="Helvetica Neue"/>
                <a:ea typeface="Helvetica Neue"/>
                <a:cs typeface="Helvetica Neue"/>
              </a:defRPr>
            </a:pPr>
            <a:r>
              <a:rPr sz="2550" b="1" i="0">
                <a:solidFill>
                  <a:srgbClr val="101216"/>
                </a:solidFill>
                <a:latin typeface="Helvetica Neue"/>
                <a:ea typeface="Helvetica Neue"/>
                <a:cs typeface="Helvetica Neue"/>
              </a:rPr>
              <a:t>Because You Create</a:t>
            </a:r>
          </a:p>
        </p:txBody>
      </p:sp>
      <p:sp>
        <p:nvSpPr>
          <p:cNvPr id="10" name="feed-job-2">
            <a:extLst xmlns:a="http://schemas.openxmlformats.org/drawingml/2006/main">
              <a:ext uri="{FF2B5EF4-FFF2-40B4-BE49-F238E27FC236}">
                <a16:creationId xmlns:a16="http://schemas.microsoft.com/office/drawing/2014/main" id="{ABA40762-31DE-421B-98A4-9BAAE975FFA4}"/>
              </a:ext>
            </a:extLst>
          </p:cNvPr>
          <p:cNvSpPr>
            <a:spLocks xmlns:a="http://schemas.openxmlformats.org/drawingml/2006/main" noGrp="1"/>
          </p:cNvSpPr>
          <p:nvPr/>
        </p:nvSpPr>
        <p:spPr>
          <a:xfrm xmlns:a="http://schemas.openxmlformats.org/drawingml/2006/main">
            <a:off x="4343400" y="3028950"/>
            <a:ext cx="3238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One visible creation anchors a feed of musically adjacent songs—bridging making and listening.</a:t>
            </a:r>
          </a:p>
        </p:txBody>
      </p:sp>
      <p:sp>
        <p:nvSpPr>
          <p:cNvPr id="11" name="feed-model-2">
            <a:extLst xmlns:a="http://schemas.openxmlformats.org/drawingml/2006/main">
              <a:ext uri="{FF2B5EF4-FFF2-40B4-BE49-F238E27FC236}">
                <a16:creationId xmlns:a16="http://schemas.microsoft.com/office/drawing/2014/main" id="{D0F18377-749C-4F0B-A402-B6608DB26AE4}"/>
              </a:ext>
            </a:extLst>
          </p:cNvPr>
          <p:cNvSpPr>
            <a:spLocks xmlns:a="http://schemas.openxmlformats.org/drawingml/2006/main" noGrp="1"/>
          </p:cNvSpPr>
          <p:nvPr/>
        </p:nvSpPr>
        <p:spPr>
          <a:xfrm xmlns:a="http://schemas.openxmlformats.org/drawingml/2006/main">
            <a:off x="4343400" y="5048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5C6470"/>
                </a:solidFill>
                <a:latin typeface="Helvetica Neue"/>
                <a:ea typeface="Helvetica Neue"/>
                <a:cs typeface="Helvetica Neue"/>
              </a:defRPr>
            </a:pPr>
            <a:r>
              <a:rPr sz="1350" b="1" i="0">
                <a:solidFill>
                  <a:srgbClr val="5C6470"/>
                </a:solidFill>
                <a:latin typeface="Helvetica Neue"/>
                <a:ea typeface="Helvetica Neue"/>
                <a:cs typeface="Helvetica Neue"/>
              </a:rPr>
              <a:t>ANCHOR FEED</a:t>
            </a:r>
          </a:p>
        </p:txBody>
      </p:sp>
      <p:sp>
        <p:nvSpPr>
          <p:cNvPr id="12" name="feed-num-3">
            <a:extLst xmlns:a="http://schemas.openxmlformats.org/drawingml/2006/main">
              <a:ext uri="{FF2B5EF4-FFF2-40B4-BE49-F238E27FC236}">
                <a16:creationId xmlns:a16="http://schemas.microsoft.com/office/drawing/2014/main" id="{4864DD68-9D10-4044-A2A0-FC6A02074C69}"/>
              </a:ext>
            </a:extLst>
          </p:cNvPr>
          <p:cNvSpPr>
            <a:spLocks xmlns:a="http://schemas.openxmlformats.org/drawingml/2006/main" noGrp="1"/>
          </p:cNvSpPr>
          <p:nvPr/>
        </p:nvSpPr>
        <p:spPr>
          <a:xfrm xmlns:a="http://schemas.openxmlformats.org/drawingml/2006/main">
            <a:off x="8229600" y="16668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03</a:t>
            </a:r>
          </a:p>
        </p:txBody>
      </p:sp>
      <p:sp>
        <p:nvSpPr>
          <p:cNvPr id="13" name="feed-title-3">
            <a:extLst xmlns:a="http://schemas.openxmlformats.org/drawingml/2006/main">
              <a:ext uri="{FF2B5EF4-FFF2-40B4-BE49-F238E27FC236}">
                <a16:creationId xmlns:a16="http://schemas.microsoft.com/office/drawing/2014/main" id="{A83B3EBE-CC50-492C-BE6A-EFED72AB3597}"/>
              </a:ext>
            </a:extLst>
          </p:cNvPr>
          <p:cNvSpPr>
            <a:spLocks xmlns:a="http://schemas.openxmlformats.org/drawingml/2006/main" noGrp="1"/>
          </p:cNvSpPr>
          <p:nvPr/>
        </p:nvSpPr>
        <p:spPr>
          <a:xfrm xmlns:a="http://schemas.openxmlformats.org/drawingml/2006/main">
            <a:off x="8229600" y="2238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529"/>
          </a:bodyPr>
          <a:lstStyle xmlns:a="http://schemas.openxmlformats.org/drawingml/2006/main"/>
          <a:p xmlns:a="http://schemas.openxmlformats.org/drawingml/2006/main">
            <a:pPr algn="l">
              <a:defRPr sz="2550" b="1" i="0">
                <a:solidFill>
                  <a:srgbClr val="101216"/>
                </a:solidFill>
                <a:latin typeface="Helvetica Neue"/>
                <a:ea typeface="Helvetica Neue"/>
                <a:cs typeface="Helvetica Neue"/>
              </a:defRPr>
            </a:pPr>
            <a:r>
              <a:rPr sz="2550" b="1" i="0">
                <a:solidFill>
                  <a:srgbClr val="101216"/>
                </a:solidFill>
                <a:latin typeface="Helvetica Neue"/>
                <a:ea typeface="Helvetica Neue"/>
                <a:cs typeface="Helvetica Neue"/>
              </a:rPr>
              <a:t>Creators You May Like</a:t>
            </a:r>
          </a:p>
        </p:txBody>
      </p:sp>
      <p:sp>
        <p:nvSpPr>
          <p:cNvPr id="14" name="feed-job-3">
            <a:extLst xmlns:a="http://schemas.openxmlformats.org/drawingml/2006/main">
              <a:ext uri="{FF2B5EF4-FFF2-40B4-BE49-F238E27FC236}">
                <a16:creationId xmlns:a16="http://schemas.microsoft.com/office/drawing/2014/main" id="{053D021F-FAC8-4FE5-911C-15EA1E9E55DE}"/>
              </a:ext>
            </a:extLst>
          </p:cNvPr>
          <p:cNvSpPr>
            <a:spLocks xmlns:a="http://schemas.openxmlformats.org/drawingml/2006/main" noGrp="1"/>
          </p:cNvSpPr>
          <p:nvPr/>
        </p:nvSpPr>
        <p:spPr>
          <a:xfrm xmlns:a="http://schemas.openxmlformats.org/drawingml/2006/main">
            <a:off x="8229600" y="3219450"/>
            <a:ext cx="3238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Recommend people—not songs—to turn a one-off discovery into a durable follow relationship.</a:t>
            </a:r>
          </a:p>
        </p:txBody>
      </p:sp>
      <p:sp>
        <p:nvSpPr>
          <p:cNvPr id="15" name="feed-model-3">
            <a:extLst xmlns:a="http://schemas.openxmlformats.org/drawingml/2006/main">
              <a:ext uri="{FF2B5EF4-FFF2-40B4-BE49-F238E27FC236}">
                <a16:creationId xmlns:a16="http://schemas.microsoft.com/office/drawing/2014/main" id="{67A24BE7-AE6E-42CE-99AE-5022D395EA8B}"/>
              </a:ext>
            </a:extLst>
          </p:cNvPr>
          <p:cNvSpPr>
            <a:spLocks xmlns:a="http://schemas.openxmlformats.org/drawingml/2006/main" noGrp="1"/>
          </p:cNvSpPr>
          <p:nvPr/>
        </p:nvSpPr>
        <p:spPr>
          <a:xfrm xmlns:a="http://schemas.openxmlformats.org/drawingml/2006/main">
            <a:off x="8229600" y="50482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5C6470"/>
                </a:solidFill>
                <a:latin typeface="Helvetica Neue"/>
                <a:ea typeface="Helvetica Neue"/>
                <a:cs typeface="Helvetica Neue"/>
              </a:defRPr>
            </a:pPr>
            <a:r>
              <a:rPr sz="1350" b="1" i="0">
                <a:solidFill>
                  <a:srgbClr val="5C6470"/>
                </a:solidFill>
                <a:latin typeface="Helvetica Neue"/>
                <a:ea typeface="Helvetica Neue"/>
                <a:cs typeface="Helvetica Neue"/>
              </a:rPr>
              <a:t>ENTITY FEED</a:t>
            </a:r>
          </a:p>
        </p:txBody>
      </p:sp>
      <p:sp>
        <p:nvSpPr>
          <p:cNvPr id="16" name="feed-rule-1">
            <a:extLst xmlns:a="http://schemas.openxmlformats.org/drawingml/2006/main">
              <a:ext uri="{FF2B5EF4-FFF2-40B4-BE49-F238E27FC236}">
                <a16:creationId xmlns:a16="http://schemas.microsoft.com/office/drawing/2014/main" id="{E5E71030-B1A8-42B5-B18C-ADAF67AD4AA8}"/>
              </a:ext>
            </a:extLst>
          </p:cNvPr>
          <p:cNvSpPr>
            <a:spLocks xmlns:a="http://schemas.openxmlformats.org/drawingml/2006/main" noGrp="1"/>
          </p:cNvSpPr>
          <p:nvPr/>
        </p:nvSpPr>
        <p:spPr>
          <a:xfrm xmlns:a="http://schemas.openxmlformats.org/drawingml/2006/main">
            <a:off x="3886200" y="1809750"/>
            <a:ext cx="19050" cy="37147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feed-rule-2">
            <a:extLst xmlns:a="http://schemas.openxmlformats.org/drawingml/2006/main">
              <a:ext uri="{FF2B5EF4-FFF2-40B4-BE49-F238E27FC236}">
                <a16:creationId xmlns:a16="http://schemas.microsoft.com/office/drawing/2014/main" id="{B21B814A-2DF1-4837-8897-E5762C776347}"/>
              </a:ext>
            </a:extLst>
          </p:cNvPr>
          <p:cNvSpPr>
            <a:spLocks xmlns:a="http://schemas.openxmlformats.org/drawingml/2006/main" noGrp="1"/>
          </p:cNvSpPr>
          <p:nvPr/>
        </p:nvSpPr>
        <p:spPr>
          <a:xfrm xmlns:a="http://schemas.openxmlformats.org/drawingml/2006/main">
            <a:off x="7772400" y="1809750"/>
            <a:ext cx="19050" cy="37147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Tree>
    <p:extLst>
      <p:ext uri="{BB962C8B-B14F-4D97-AF65-F5344CB8AC3E}">
        <p14:creationId xmlns:p14="http://schemas.microsoft.com/office/powerpoint/2010/main" val="4204023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A77F2A9-56F6-4C2E-9332-B6DC10461A99}"/>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7F4BCA5C-26C1-4556-9D89-39D0286EFD0D}"/>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I built one reusable loop for all three feeds</a:t>
            </a:r>
          </a:p>
        </p:txBody>
      </p:sp>
      <p:sp>
        <p:nvSpPr>
          <p:cNvPr id="3" name="page-number">
            <a:extLst xmlns:a="http://schemas.openxmlformats.org/drawingml/2006/main">
              <a:ext uri="{FF2B5EF4-FFF2-40B4-BE49-F238E27FC236}">
                <a16:creationId xmlns:a16="http://schemas.microsoft.com/office/drawing/2014/main" id="{20B8460F-0D9B-4522-A125-7B4DD276655F}"/>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7</a:t>
            </a:r>
          </a:p>
        </p:txBody>
      </p:sp>
      <p:sp>
        <p:nvSpPr>
          <p:cNvPr id="4" name="arch-arrow-0-line">
            <a:extLst xmlns:a="http://schemas.openxmlformats.org/drawingml/2006/main">
              <a:ext uri="{FF2B5EF4-FFF2-40B4-BE49-F238E27FC236}">
                <a16:creationId xmlns:a16="http://schemas.microsoft.com/office/drawing/2014/main" id="{464D1E49-45A4-4421-B376-DFB6B43D443A}"/>
              </a:ext>
            </a:extLst>
          </p:cNvPr>
          <p:cNvSpPr>
            <a:spLocks xmlns:a="http://schemas.openxmlformats.org/drawingml/2006/main" noGrp="1"/>
          </p:cNvSpPr>
          <p:nvPr/>
        </p:nvSpPr>
        <p:spPr>
          <a:xfrm xmlns:a="http://schemas.openxmlformats.org/drawingml/2006/main">
            <a:off x="2457450" y="3048000"/>
            <a:ext cx="152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arch-arrow-0-head">
            <a:extLst xmlns:a="http://schemas.openxmlformats.org/drawingml/2006/main">
              <a:ext uri="{FF2B5EF4-FFF2-40B4-BE49-F238E27FC236}">
                <a16:creationId xmlns:a16="http://schemas.microsoft.com/office/drawing/2014/main" id="{DB26C1CA-1109-493D-9B46-4D8CB826FDFB}"/>
              </a:ext>
            </a:extLst>
          </p:cNvPr>
          <p:cNvSpPr>
            <a:spLocks xmlns:a="http://schemas.openxmlformats.org/drawingml/2006/main" noGrp="1"/>
          </p:cNvSpPr>
          <p:nvPr/>
        </p:nvSpPr>
        <p:spPr>
          <a:xfrm xmlns:a="http://schemas.openxmlformats.org/drawingml/2006/main">
            <a:off x="2571750" y="29718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6" name="arch-arrow-1-line">
            <a:extLst xmlns:a="http://schemas.openxmlformats.org/drawingml/2006/main">
              <a:ext uri="{FF2B5EF4-FFF2-40B4-BE49-F238E27FC236}">
                <a16:creationId xmlns:a16="http://schemas.microsoft.com/office/drawing/2014/main" id="{DACB9AD7-D76A-495B-A233-9BCAF86D1E40}"/>
              </a:ext>
            </a:extLst>
          </p:cNvPr>
          <p:cNvSpPr>
            <a:spLocks xmlns:a="http://schemas.openxmlformats.org/drawingml/2006/main" noGrp="1"/>
          </p:cNvSpPr>
          <p:nvPr/>
        </p:nvSpPr>
        <p:spPr>
          <a:xfrm xmlns:a="http://schemas.openxmlformats.org/drawingml/2006/main">
            <a:off x="4743450" y="3048000"/>
            <a:ext cx="152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arch-arrow-1-head">
            <a:extLst xmlns:a="http://schemas.openxmlformats.org/drawingml/2006/main">
              <a:ext uri="{FF2B5EF4-FFF2-40B4-BE49-F238E27FC236}">
                <a16:creationId xmlns:a16="http://schemas.microsoft.com/office/drawing/2014/main" id="{6F2B495E-62CC-4C9B-A02E-ADF059038A17}"/>
              </a:ext>
            </a:extLst>
          </p:cNvPr>
          <p:cNvSpPr>
            <a:spLocks xmlns:a="http://schemas.openxmlformats.org/drawingml/2006/main" noGrp="1"/>
          </p:cNvSpPr>
          <p:nvPr/>
        </p:nvSpPr>
        <p:spPr>
          <a:xfrm xmlns:a="http://schemas.openxmlformats.org/drawingml/2006/main">
            <a:off x="4857750" y="29718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8" name="arch-arrow-2-line">
            <a:extLst xmlns:a="http://schemas.openxmlformats.org/drawingml/2006/main">
              <a:ext uri="{FF2B5EF4-FFF2-40B4-BE49-F238E27FC236}">
                <a16:creationId xmlns:a16="http://schemas.microsoft.com/office/drawing/2014/main" id="{8E2658EB-E317-4C0F-898C-CA9527EA61BC}"/>
              </a:ext>
            </a:extLst>
          </p:cNvPr>
          <p:cNvSpPr>
            <a:spLocks xmlns:a="http://schemas.openxmlformats.org/drawingml/2006/main" noGrp="1"/>
          </p:cNvSpPr>
          <p:nvPr/>
        </p:nvSpPr>
        <p:spPr>
          <a:xfrm xmlns:a="http://schemas.openxmlformats.org/drawingml/2006/main">
            <a:off x="7029450" y="3048000"/>
            <a:ext cx="152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arch-arrow-2-head">
            <a:extLst xmlns:a="http://schemas.openxmlformats.org/drawingml/2006/main">
              <a:ext uri="{FF2B5EF4-FFF2-40B4-BE49-F238E27FC236}">
                <a16:creationId xmlns:a16="http://schemas.microsoft.com/office/drawing/2014/main" id="{F4CC837F-0BDD-441A-AD5E-27958A63F6D4}"/>
              </a:ext>
            </a:extLst>
          </p:cNvPr>
          <p:cNvSpPr>
            <a:spLocks xmlns:a="http://schemas.openxmlformats.org/drawingml/2006/main" noGrp="1"/>
          </p:cNvSpPr>
          <p:nvPr/>
        </p:nvSpPr>
        <p:spPr>
          <a:xfrm xmlns:a="http://schemas.openxmlformats.org/drawingml/2006/main">
            <a:off x="7143750" y="29718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10" name="arch-arrow-3-line">
            <a:extLst xmlns:a="http://schemas.openxmlformats.org/drawingml/2006/main">
              <a:ext uri="{FF2B5EF4-FFF2-40B4-BE49-F238E27FC236}">
                <a16:creationId xmlns:a16="http://schemas.microsoft.com/office/drawing/2014/main" id="{4E5EBDB8-6DF3-4AA5-9F08-58E3B02881B8}"/>
              </a:ext>
            </a:extLst>
          </p:cNvPr>
          <p:cNvSpPr>
            <a:spLocks xmlns:a="http://schemas.openxmlformats.org/drawingml/2006/main" noGrp="1"/>
          </p:cNvSpPr>
          <p:nvPr/>
        </p:nvSpPr>
        <p:spPr>
          <a:xfrm xmlns:a="http://schemas.openxmlformats.org/drawingml/2006/main">
            <a:off x="9315450" y="3048000"/>
            <a:ext cx="1524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arch-arrow-3-head">
            <a:extLst xmlns:a="http://schemas.openxmlformats.org/drawingml/2006/main">
              <a:ext uri="{FF2B5EF4-FFF2-40B4-BE49-F238E27FC236}">
                <a16:creationId xmlns:a16="http://schemas.microsoft.com/office/drawing/2014/main" id="{F46FDB74-7D8F-4746-AF82-919760EEF217}"/>
              </a:ext>
            </a:extLst>
          </p:cNvPr>
          <p:cNvSpPr>
            <a:spLocks xmlns:a="http://schemas.openxmlformats.org/drawingml/2006/main" noGrp="1"/>
          </p:cNvSpPr>
          <p:nvPr/>
        </p:nvSpPr>
        <p:spPr>
          <a:xfrm xmlns:a="http://schemas.openxmlformats.org/drawingml/2006/main">
            <a:off x="9429750" y="29718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12" name="arch-signals-panel">
            <a:extLst xmlns:a="http://schemas.openxmlformats.org/drawingml/2006/main">
              <a:ext uri="{FF2B5EF4-FFF2-40B4-BE49-F238E27FC236}">
                <a16:creationId xmlns:a16="http://schemas.microsoft.com/office/drawing/2014/main" id="{FFDDDEFA-2F72-49C9-BF59-005661A76D6B}"/>
              </a:ext>
            </a:extLst>
          </p:cNvPr>
          <p:cNvSpPr>
            <a:spLocks xmlns:a="http://schemas.openxmlformats.org/drawingml/2006/main" noGrp="1"/>
          </p:cNvSpPr>
          <p:nvPr/>
        </p:nvSpPr>
        <p:spPr>
          <a:xfrm xmlns:a="http://schemas.openxmlformats.org/drawingml/2006/main">
            <a:off x="457200" y="2095500"/>
            <a:ext cx="2000250" cy="2381250"/>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13" name="arch-signals-number">
            <a:extLst xmlns:a="http://schemas.openxmlformats.org/drawingml/2006/main">
              <a:ext uri="{FF2B5EF4-FFF2-40B4-BE49-F238E27FC236}">
                <a16:creationId xmlns:a16="http://schemas.microsoft.com/office/drawing/2014/main" id="{5FF25646-0A6D-4D89-BB8E-A856B2B7D669}"/>
              </a:ext>
            </a:extLst>
          </p:cNvPr>
          <p:cNvSpPr>
            <a:spLocks xmlns:a="http://schemas.openxmlformats.org/drawingml/2006/main" noGrp="1"/>
          </p:cNvSpPr>
          <p:nvPr/>
        </p:nvSpPr>
        <p:spPr>
          <a:xfrm xmlns:a="http://schemas.openxmlformats.org/drawingml/2006/main">
            <a:off x="628650" y="22479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01</a:t>
            </a:r>
          </a:p>
        </p:txBody>
      </p:sp>
      <p:sp>
        <p:nvSpPr>
          <p:cNvPr id="14" name="arch-signals-title">
            <a:extLst xmlns:a="http://schemas.openxmlformats.org/drawingml/2006/main">
              <a:ext uri="{FF2B5EF4-FFF2-40B4-BE49-F238E27FC236}">
                <a16:creationId xmlns:a16="http://schemas.microsoft.com/office/drawing/2014/main" id="{892DBFF8-6AA4-4A21-A5C0-5746778E9C16}"/>
              </a:ext>
            </a:extLst>
          </p:cNvPr>
          <p:cNvSpPr>
            <a:spLocks xmlns:a="http://schemas.openxmlformats.org/drawingml/2006/main" noGrp="1"/>
          </p:cNvSpPr>
          <p:nvPr/>
        </p:nvSpPr>
        <p:spPr>
          <a:xfrm xmlns:a="http://schemas.openxmlformats.org/drawingml/2006/main">
            <a:off x="628650" y="2638425"/>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Signals</a:t>
            </a:r>
          </a:p>
        </p:txBody>
      </p:sp>
      <p:sp>
        <p:nvSpPr>
          <p:cNvPr id="15" name="arch-signals-detail">
            <a:extLst xmlns:a="http://schemas.openxmlformats.org/drawingml/2006/main">
              <a:ext uri="{FF2B5EF4-FFF2-40B4-BE49-F238E27FC236}">
                <a16:creationId xmlns:a16="http://schemas.microsoft.com/office/drawing/2014/main" id="{E65E8A99-52A2-4A95-A19A-1627903B7B9C}"/>
              </a:ext>
            </a:extLst>
          </p:cNvPr>
          <p:cNvSpPr>
            <a:spLocks xmlns:a="http://schemas.openxmlformats.org/drawingml/2006/main" noGrp="1"/>
          </p:cNvSpPr>
          <p:nvPr/>
        </p:nvSpPr>
        <p:spPr>
          <a:xfrm xmlns:a="http://schemas.openxmlformats.org/drawingml/2006/main">
            <a:off x="628650" y="3200400"/>
            <a:ext cx="16573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Listening, likes, creations, and profiles</a:t>
            </a:r>
          </a:p>
        </p:txBody>
      </p:sp>
      <p:sp>
        <p:nvSpPr>
          <p:cNvPr id="16" name="arch-retrieve-panel">
            <a:extLst xmlns:a="http://schemas.openxmlformats.org/drawingml/2006/main">
              <a:ext uri="{FF2B5EF4-FFF2-40B4-BE49-F238E27FC236}">
                <a16:creationId xmlns:a16="http://schemas.microsoft.com/office/drawing/2014/main" id="{3E749A01-401A-4CB7-AC15-3C5F0878F733}"/>
              </a:ext>
            </a:extLst>
          </p:cNvPr>
          <p:cNvSpPr>
            <a:spLocks xmlns:a="http://schemas.openxmlformats.org/drawingml/2006/main" noGrp="1"/>
          </p:cNvSpPr>
          <p:nvPr/>
        </p:nvSpPr>
        <p:spPr>
          <a:xfrm xmlns:a="http://schemas.openxmlformats.org/drawingml/2006/main">
            <a:off x="2743200" y="2095500"/>
            <a:ext cx="2000250" cy="23812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7" name="arch-retrieve-number">
            <a:extLst xmlns:a="http://schemas.openxmlformats.org/drawingml/2006/main">
              <a:ext uri="{FF2B5EF4-FFF2-40B4-BE49-F238E27FC236}">
                <a16:creationId xmlns:a16="http://schemas.microsoft.com/office/drawing/2014/main" id="{104D739D-9616-49F2-A27A-34639106BD11}"/>
              </a:ext>
            </a:extLst>
          </p:cNvPr>
          <p:cNvSpPr>
            <a:spLocks xmlns:a="http://schemas.openxmlformats.org/drawingml/2006/main" noGrp="1"/>
          </p:cNvSpPr>
          <p:nvPr/>
        </p:nvSpPr>
        <p:spPr>
          <a:xfrm xmlns:a="http://schemas.openxmlformats.org/drawingml/2006/main">
            <a:off x="2914650" y="22479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02</a:t>
            </a:r>
          </a:p>
        </p:txBody>
      </p:sp>
      <p:sp>
        <p:nvSpPr>
          <p:cNvPr id="18" name="arch-retrieve-title">
            <a:extLst xmlns:a="http://schemas.openxmlformats.org/drawingml/2006/main">
              <a:ext uri="{FF2B5EF4-FFF2-40B4-BE49-F238E27FC236}">
                <a16:creationId xmlns:a16="http://schemas.microsoft.com/office/drawing/2014/main" id="{26E129DD-8289-4704-8493-847B1CE6B9FD}"/>
              </a:ext>
            </a:extLst>
          </p:cNvPr>
          <p:cNvSpPr>
            <a:spLocks xmlns:a="http://schemas.openxmlformats.org/drawingml/2006/main" noGrp="1"/>
          </p:cNvSpPr>
          <p:nvPr/>
        </p:nvSpPr>
        <p:spPr>
          <a:xfrm xmlns:a="http://schemas.openxmlformats.org/drawingml/2006/main">
            <a:off x="2914650" y="2638425"/>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33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Candidate pool</a:t>
            </a:r>
          </a:p>
        </p:txBody>
      </p:sp>
      <p:sp>
        <p:nvSpPr>
          <p:cNvPr id="19" name="arch-retrieve-detail">
            <a:extLst xmlns:a="http://schemas.openxmlformats.org/drawingml/2006/main">
              <a:ext uri="{FF2B5EF4-FFF2-40B4-BE49-F238E27FC236}">
                <a16:creationId xmlns:a16="http://schemas.microsoft.com/office/drawing/2014/main" id="{9705DDB2-A465-4974-96FE-B568CC144359}"/>
              </a:ext>
            </a:extLst>
          </p:cNvPr>
          <p:cNvSpPr>
            <a:spLocks xmlns:a="http://schemas.openxmlformats.org/drawingml/2006/main" noGrp="1"/>
          </p:cNvSpPr>
          <p:nvPr/>
        </p:nvSpPr>
        <p:spPr>
          <a:xfrm xmlns:a="http://schemas.openxmlformats.org/drawingml/2006/main">
            <a:off x="2914650" y="3200400"/>
            <a:ext cx="16573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Similarity, personal sources, and trends</a:t>
            </a:r>
          </a:p>
        </p:txBody>
      </p:sp>
      <p:sp>
        <p:nvSpPr>
          <p:cNvPr id="20" name="arch-rank-panel">
            <a:extLst xmlns:a="http://schemas.openxmlformats.org/drawingml/2006/main">
              <a:ext uri="{FF2B5EF4-FFF2-40B4-BE49-F238E27FC236}">
                <a16:creationId xmlns:a16="http://schemas.microsoft.com/office/drawing/2014/main" id="{4D170D7B-4E79-4DD3-B096-D5604F35BA82}"/>
              </a:ext>
            </a:extLst>
          </p:cNvPr>
          <p:cNvSpPr>
            <a:spLocks xmlns:a="http://schemas.openxmlformats.org/drawingml/2006/main" noGrp="1"/>
          </p:cNvSpPr>
          <p:nvPr/>
        </p:nvSpPr>
        <p:spPr>
          <a:xfrm xmlns:a="http://schemas.openxmlformats.org/drawingml/2006/main">
            <a:off x="5029200" y="2095500"/>
            <a:ext cx="2000250" cy="23812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21" name="arch-rank-number">
            <a:extLst xmlns:a="http://schemas.openxmlformats.org/drawingml/2006/main">
              <a:ext uri="{FF2B5EF4-FFF2-40B4-BE49-F238E27FC236}">
                <a16:creationId xmlns:a16="http://schemas.microsoft.com/office/drawing/2014/main" id="{B79C6DF2-29AB-4D7E-8E74-0BC094C8D012}"/>
              </a:ext>
            </a:extLst>
          </p:cNvPr>
          <p:cNvSpPr>
            <a:spLocks xmlns:a="http://schemas.openxmlformats.org/drawingml/2006/main" noGrp="1"/>
          </p:cNvSpPr>
          <p:nvPr/>
        </p:nvSpPr>
        <p:spPr>
          <a:xfrm xmlns:a="http://schemas.openxmlformats.org/drawingml/2006/main">
            <a:off x="5200650" y="22479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03</a:t>
            </a:r>
          </a:p>
        </p:txBody>
      </p:sp>
      <p:sp>
        <p:nvSpPr>
          <p:cNvPr id="22" name="arch-rank-title">
            <a:extLst xmlns:a="http://schemas.openxmlformats.org/drawingml/2006/main">
              <a:ext uri="{FF2B5EF4-FFF2-40B4-BE49-F238E27FC236}">
                <a16:creationId xmlns:a16="http://schemas.microsoft.com/office/drawing/2014/main" id="{DB0D2D24-0393-4499-B811-F84019C50BBB}"/>
              </a:ext>
            </a:extLst>
          </p:cNvPr>
          <p:cNvSpPr>
            <a:spLocks xmlns:a="http://schemas.openxmlformats.org/drawingml/2006/main" noGrp="1"/>
          </p:cNvSpPr>
          <p:nvPr/>
        </p:nvSpPr>
        <p:spPr>
          <a:xfrm xmlns:a="http://schemas.openxmlformats.org/drawingml/2006/main">
            <a:off x="5200650" y="2638425"/>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Rank + filter</a:t>
            </a:r>
          </a:p>
        </p:txBody>
      </p:sp>
      <p:sp>
        <p:nvSpPr>
          <p:cNvPr id="23" name="arch-rank-detail">
            <a:extLst xmlns:a="http://schemas.openxmlformats.org/drawingml/2006/main">
              <a:ext uri="{FF2B5EF4-FFF2-40B4-BE49-F238E27FC236}">
                <a16:creationId xmlns:a16="http://schemas.microsoft.com/office/drawing/2014/main" id="{CDF1C5FF-13E2-4C14-82D6-C0BCE6FDAB60}"/>
              </a:ext>
            </a:extLst>
          </p:cNvPr>
          <p:cNvSpPr>
            <a:spLocks xmlns:a="http://schemas.openxmlformats.org/drawingml/2006/main" noGrp="1"/>
          </p:cNvSpPr>
          <p:nvPr/>
        </p:nvSpPr>
        <p:spPr>
          <a:xfrm xmlns:a="http://schemas.openxmlformats.org/drawingml/2006/main">
            <a:off x="5200650" y="3200400"/>
            <a:ext cx="16573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Quality, novelty, safety, and negatives</a:t>
            </a:r>
          </a:p>
        </p:txBody>
      </p:sp>
      <p:sp>
        <p:nvSpPr>
          <p:cNvPr id="24" name="arch-assemble-panel">
            <a:extLst xmlns:a="http://schemas.openxmlformats.org/drawingml/2006/main">
              <a:ext uri="{FF2B5EF4-FFF2-40B4-BE49-F238E27FC236}">
                <a16:creationId xmlns:a16="http://schemas.microsoft.com/office/drawing/2014/main" id="{F36502DD-9226-4294-9099-0AD9F853285F}"/>
              </a:ext>
            </a:extLst>
          </p:cNvPr>
          <p:cNvSpPr>
            <a:spLocks xmlns:a="http://schemas.openxmlformats.org/drawingml/2006/main" noGrp="1"/>
          </p:cNvSpPr>
          <p:nvPr/>
        </p:nvSpPr>
        <p:spPr>
          <a:xfrm xmlns:a="http://schemas.openxmlformats.org/drawingml/2006/main">
            <a:off x="7315200" y="2095500"/>
            <a:ext cx="2000250" cy="23812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25" name="arch-assemble-number">
            <a:extLst xmlns:a="http://schemas.openxmlformats.org/drawingml/2006/main">
              <a:ext uri="{FF2B5EF4-FFF2-40B4-BE49-F238E27FC236}">
                <a16:creationId xmlns:a16="http://schemas.microsoft.com/office/drawing/2014/main" id="{348F9C7F-E137-4039-9BB7-9BEFC77C83C4}"/>
              </a:ext>
            </a:extLst>
          </p:cNvPr>
          <p:cNvSpPr>
            <a:spLocks xmlns:a="http://schemas.openxmlformats.org/drawingml/2006/main" noGrp="1"/>
          </p:cNvSpPr>
          <p:nvPr/>
        </p:nvSpPr>
        <p:spPr>
          <a:xfrm xmlns:a="http://schemas.openxmlformats.org/drawingml/2006/main">
            <a:off x="7486650" y="22479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04</a:t>
            </a:r>
          </a:p>
        </p:txBody>
      </p:sp>
      <p:sp>
        <p:nvSpPr>
          <p:cNvPr id="26" name="arch-assemble-title">
            <a:extLst xmlns:a="http://schemas.openxmlformats.org/drawingml/2006/main">
              <a:ext uri="{FF2B5EF4-FFF2-40B4-BE49-F238E27FC236}">
                <a16:creationId xmlns:a16="http://schemas.microsoft.com/office/drawing/2014/main" id="{B7FB65F9-7040-4F32-B3F4-A1DDE56712D0}"/>
              </a:ext>
            </a:extLst>
          </p:cNvPr>
          <p:cNvSpPr>
            <a:spLocks xmlns:a="http://schemas.openxmlformats.org/drawingml/2006/main" noGrp="1"/>
          </p:cNvSpPr>
          <p:nvPr/>
        </p:nvSpPr>
        <p:spPr>
          <a:xfrm xmlns:a="http://schemas.openxmlformats.org/drawingml/2006/main">
            <a:off x="7486650" y="2638425"/>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14"/>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Assemble feed</a:t>
            </a:r>
          </a:p>
        </p:txBody>
      </p:sp>
      <p:sp>
        <p:nvSpPr>
          <p:cNvPr id="27" name="arch-assemble-detail">
            <a:extLst xmlns:a="http://schemas.openxmlformats.org/drawingml/2006/main">
              <a:ext uri="{FF2B5EF4-FFF2-40B4-BE49-F238E27FC236}">
                <a16:creationId xmlns:a16="http://schemas.microsoft.com/office/drawing/2014/main" id="{5261D7DE-E827-436A-94A6-6C3A470F1513}"/>
              </a:ext>
            </a:extLst>
          </p:cNvPr>
          <p:cNvSpPr>
            <a:spLocks xmlns:a="http://schemas.openxmlformats.org/drawingml/2006/main" noGrp="1"/>
          </p:cNvSpPr>
          <p:nvPr/>
        </p:nvSpPr>
        <p:spPr>
          <a:xfrm xmlns:a="http://schemas.openxmlformats.org/drawingml/2006/main">
            <a:off x="7486650" y="3200400"/>
            <a:ext cx="16573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Slots, deduplication, refill, and hard floors</a:t>
            </a:r>
          </a:p>
        </p:txBody>
      </p:sp>
      <p:sp>
        <p:nvSpPr>
          <p:cNvPr id="28" name="arch-serve-panel">
            <a:extLst xmlns:a="http://schemas.openxmlformats.org/drawingml/2006/main">
              <a:ext uri="{FF2B5EF4-FFF2-40B4-BE49-F238E27FC236}">
                <a16:creationId xmlns:a16="http://schemas.microsoft.com/office/drawing/2014/main" id="{99027E5F-33DD-4C87-BCBE-9B9FFC57CA9B}"/>
              </a:ext>
            </a:extLst>
          </p:cNvPr>
          <p:cNvSpPr>
            <a:spLocks xmlns:a="http://schemas.openxmlformats.org/drawingml/2006/main" noGrp="1"/>
          </p:cNvSpPr>
          <p:nvPr/>
        </p:nvSpPr>
        <p:spPr>
          <a:xfrm xmlns:a="http://schemas.openxmlformats.org/drawingml/2006/main">
            <a:off x="9601200" y="2095500"/>
            <a:ext cx="2000250" cy="238125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29" name="arch-serve-number">
            <a:extLst xmlns:a="http://schemas.openxmlformats.org/drawingml/2006/main">
              <a:ext uri="{FF2B5EF4-FFF2-40B4-BE49-F238E27FC236}">
                <a16:creationId xmlns:a16="http://schemas.microsoft.com/office/drawing/2014/main" id="{734172A2-7D4B-4CD4-B609-6AD62A552F1B}"/>
              </a:ext>
            </a:extLst>
          </p:cNvPr>
          <p:cNvSpPr>
            <a:spLocks xmlns:a="http://schemas.openxmlformats.org/drawingml/2006/main" noGrp="1"/>
          </p:cNvSpPr>
          <p:nvPr/>
        </p:nvSpPr>
        <p:spPr>
          <a:xfrm xmlns:a="http://schemas.openxmlformats.org/drawingml/2006/main">
            <a:off x="9772650" y="22479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05</a:t>
            </a:r>
          </a:p>
        </p:txBody>
      </p:sp>
      <p:sp>
        <p:nvSpPr>
          <p:cNvPr id="30" name="arch-serve-title">
            <a:extLst xmlns:a="http://schemas.openxmlformats.org/drawingml/2006/main">
              <a:ext uri="{FF2B5EF4-FFF2-40B4-BE49-F238E27FC236}">
                <a16:creationId xmlns:a16="http://schemas.microsoft.com/office/drawing/2014/main" id="{061A0C9F-AD08-4A14-936F-379615E67E2D}"/>
              </a:ext>
            </a:extLst>
          </p:cNvPr>
          <p:cNvSpPr>
            <a:spLocks xmlns:a="http://schemas.openxmlformats.org/drawingml/2006/main" noGrp="1"/>
          </p:cNvSpPr>
          <p:nvPr/>
        </p:nvSpPr>
        <p:spPr>
          <a:xfrm xmlns:a="http://schemas.openxmlformats.org/drawingml/2006/main">
            <a:off x="9772650" y="2638425"/>
            <a:ext cx="1657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102"/>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Serve + learn</a:t>
            </a:r>
          </a:p>
        </p:txBody>
      </p:sp>
      <p:sp>
        <p:nvSpPr>
          <p:cNvPr id="31" name="arch-serve-detail">
            <a:extLst xmlns:a="http://schemas.openxmlformats.org/drawingml/2006/main">
              <a:ext uri="{FF2B5EF4-FFF2-40B4-BE49-F238E27FC236}">
                <a16:creationId xmlns:a16="http://schemas.microsoft.com/office/drawing/2014/main" id="{70FE601F-3756-4911-A5BF-04AF084F043E}"/>
              </a:ext>
            </a:extLst>
          </p:cNvPr>
          <p:cNvSpPr>
            <a:spLocks xmlns:a="http://schemas.openxmlformats.org/drawingml/2006/main" noGrp="1"/>
          </p:cNvSpPr>
          <p:nvPr/>
        </p:nvSpPr>
        <p:spPr>
          <a:xfrm xmlns:a="http://schemas.openxmlformats.org/drawingml/2006/main">
            <a:off x="9772650" y="3200400"/>
            <a:ext cx="16573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Fast lookup, fallback, attribution, experiments</a:t>
            </a:r>
          </a:p>
        </p:txBody>
      </p:sp>
      <p:sp>
        <p:nvSpPr>
          <p:cNvPr id="32" name="arch-feedback-line">
            <a:extLst xmlns:a="http://schemas.openxmlformats.org/drawingml/2006/main">
              <a:ext uri="{FF2B5EF4-FFF2-40B4-BE49-F238E27FC236}">
                <a16:creationId xmlns:a16="http://schemas.microsoft.com/office/drawing/2014/main" id="{583B57B0-EA10-48A0-9DC7-309A921A97F6}"/>
              </a:ext>
            </a:extLst>
          </p:cNvPr>
          <p:cNvSpPr>
            <a:spLocks xmlns:a="http://schemas.openxmlformats.org/drawingml/2006/main" noGrp="1"/>
          </p:cNvSpPr>
          <p:nvPr/>
        </p:nvSpPr>
        <p:spPr>
          <a:xfrm xmlns:a="http://schemas.openxmlformats.org/drawingml/2006/main">
            <a:off x="914400" y="5000625"/>
            <a:ext cx="9810750" cy="285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3" name="arch-feedback">
            <a:extLst xmlns:a="http://schemas.openxmlformats.org/drawingml/2006/main">
              <a:ext uri="{FF2B5EF4-FFF2-40B4-BE49-F238E27FC236}">
                <a16:creationId xmlns:a16="http://schemas.microsoft.com/office/drawing/2014/main" id="{289E361A-8F69-4086-92AC-1CCACA57871A}"/>
              </a:ext>
            </a:extLst>
          </p:cNvPr>
          <p:cNvSpPr>
            <a:spLocks xmlns:a="http://schemas.openxmlformats.org/drawingml/2006/main" noGrp="1"/>
          </p:cNvSpPr>
          <p:nvPr/>
        </p:nvSpPr>
        <p:spPr>
          <a:xfrm xmlns:a="http://schemas.openxmlformats.org/drawingml/2006/main">
            <a:off x="1714500" y="5286375"/>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90"/>
          </a:bodyPr>
          <a:lstStyle xmlns:a="http://schemas.openxmlformats.org/drawingml/2006/main"/>
          <a:p xmlns:a="http://schemas.openxmlformats.org/drawingml/2006/main">
            <a:pPr algn="ctr">
              <a:defRPr sz="1875" b="1" i="0">
                <a:solidFill>
                  <a:srgbClr val="3D8DFF"/>
                </a:solidFill>
                <a:latin typeface="Helvetica Neue"/>
                <a:ea typeface="Helvetica Neue"/>
                <a:cs typeface="Helvetica Neue"/>
              </a:defRPr>
            </a:pPr>
            <a:r>
              <a:rPr sz="1875" b="1" i="0">
                <a:solidFill>
                  <a:srgbClr val="3D8DFF"/>
                </a:solidFill>
                <a:latin typeface="Helvetica Neue"/>
                <a:ea typeface="Helvetica Neue"/>
                <a:cs typeface="Helvetica Neue"/>
              </a:rPr>
              <a:t>Every served item is attributable to its feed, position, source, and experiment.</a:t>
            </a:r>
          </a:p>
        </p:txBody>
      </p:sp>
    </p:spTree>
    <p:extLst>
      <p:ext uri="{BB962C8B-B14F-4D97-AF65-F5344CB8AC3E}">
        <p14:creationId xmlns:p14="http://schemas.microsoft.com/office/powerpoint/2010/main" val="1632064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752D0F92-B8D4-4A7C-AC2E-8D66B68966A9}"/>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0C66E8B0-0B3C-47F6-8199-0EE56A3446B3}"/>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29"/>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My first pipeline was correct—and completely unusable</a:t>
            </a:r>
          </a:p>
        </p:txBody>
      </p:sp>
      <p:sp>
        <p:nvSpPr>
          <p:cNvPr id="3" name="page-number">
            <a:extLst xmlns:a="http://schemas.openxmlformats.org/drawingml/2006/main">
              <a:ext uri="{FF2B5EF4-FFF2-40B4-BE49-F238E27FC236}">
                <a16:creationId xmlns:a16="http://schemas.microsoft.com/office/drawing/2014/main" id="{2A1D32B0-F388-45A3-B5CD-31AF508042FD}"/>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8</a:t>
            </a:r>
          </a:p>
        </p:txBody>
      </p:sp>
      <p:sp>
        <p:nvSpPr>
          <p:cNvPr id="4" name="pipeline-intro">
            <a:extLst xmlns:a="http://schemas.openxmlformats.org/drawingml/2006/main">
              <a:ext uri="{FF2B5EF4-FFF2-40B4-BE49-F238E27FC236}">
                <a16:creationId xmlns:a16="http://schemas.microsoft.com/office/drawing/2014/main" id="{8A9D56E8-C8A6-4AB2-B740-0DB92C4DF70C}"/>
              </a:ext>
            </a:extLst>
          </p:cNvPr>
          <p:cNvSpPr>
            <a:spLocks xmlns:a="http://schemas.openxmlformats.org/drawingml/2006/main" noGrp="1"/>
          </p:cNvSpPr>
          <p:nvPr/>
        </p:nvSpPr>
        <p:spPr>
          <a:xfrm xmlns:a="http://schemas.openxmlformats.org/drawingml/2006/main">
            <a:off x="457200" y="1285875"/>
            <a:ext cx="1066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i="0">
                <a:solidFill>
                  <a:srgbClr val="5C6470"/>
                </a:solidFill>
                <a:latin typeface="Helvetica Neue"/>
                <a:ea typeface="Helvetica Neue"/>
                <a:cs typeface="Helvetica Neue"/>
              </a:defRPr>
            </a:pPr>
            <a:r>
              <a:rPr sz="1950" b="0" i="0">
                <a:solidFill>
                  <a:srgbClr val="5C6470"/>
                </a:solidFill>
                <a:latin typeface="Helvetica Neue"/>
                <a:ea typeface="Helvetica Neue"/>
                <a:cs typeface="Helvetica Neue"/>
              </a:rPr>
              <a:t>I joined feed configuration to every candidate, then filtered unsupported buckets afterward. The logic passed small tests and exploded at production scale.</a:t>
            </a:r>
          </a:p>
        </p:txBody>
      </p:sp>
      <p:sp>
        <p:nvSpPr>
          <p:cNvPr id="5" name="pipeline-before-panel">
            <a:extLst xmlns:a="http://schemas.openxmlformats.org/drawingml/2006/main">
              <a:ext uri="{FF2B5EF4-FFF2-40B4-BE49-F238E27FC236}">
                <a16:creationId xmlns:a16="http://schemas.microsoft.com/office/drawing/2014/main" id="{05EB7F66-80A2-4C87-A8E6-3B45CE80B4F6}"/>
              </a:ext>
            </a:extLst>
          </p:cNvPr>
          <p:cNvSpPr>
            <a:spLocks xmlns:a="http://schemas.openxmlformats.org/drawingml/2006/main" noGrp="1"/>
          </p:cNvSpPr>
          <p:nvPr/>
        </p:nvSpPr>
        <p:spPr>
          <a:xfrm xmlns:a="http://schemas.openxmlformats.org/drawingml/2006/main">
            <a:off x="457200" y="2571750"/>
            <a:ext cx="5219700" cy="2762250"/>
          </a:xfrm>
          <a:prstGeom xmlns:a="http://schemas.openxmlformats.org/drawingml/2006/main" prst="rect">
            <a:avLst/>
          </a:prstGeom>
          <a:solidFill xmlns:a="http://schemas.openxmlformats.org/drawingml/2006/main">
            <a:srgbClr val="FDECEC"/>
          </a:solidFill>
          <a:ln xmlns:a="http://schemas.openxmlformats.org/drawingml/2006/main" w="0">
            <a:solidFill>
              <a:srgbClr val="FDECEC"/>
            </a:solidFill>
            <a:prstDash val="solid"/>
          </a:ln>
        </p:spPr>
      </p:sp>
      <p:sp>
        <p:nvSpPr>
          <p:cNvPr id="6" name="pipeline-before-title">
            <a:extLst xmlns:a="http://schemas.openxmlformats.org/drawingml/2006/main">
              <a:ext uri="{FF2B5EF4-FFF2-40B4-BE49-F238E27FC236}">
                <a16:creationId xmlns:a16="http://schemas.microsoft.com/office/drawing/2014/main" id="{8534BA89-3049-48FB-A35D-C5CB9E6E1D12}"/>
              </a:ext>
            </a:extLst>
          </p:cNvPr>
          <p:cNvSpPr>
            <a:spLocks xmlns:a="http://schemas.openxmlformats.org/drawingml/2006/main" noGrp="1"/>
          </p:cNvSpPr>
          <p:nvPr/>
        </p:nvSpPr>
        <p:spPr>
          <a:xfrm xmlns:a="http://schemas.openxmlformats.org/drawingml/2006/main">
            <a:off x="742950" y="28575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B42318"/>
                </a:solidFill>
                <a:latin typeface="Helvetica Neue"/>
                <a:ea typeface="Helvetica Neue"/>
                <a:cs typeface="Helvetica Neue"/>
              </a:defRPr>
            </a:pPr>
            <a:r>
              <a:rPr sz="1350" b="1" i="0">
                <a:solidFill>
                  <a:srgbClr val="B42318"/>
                </a:solidFill>
                <a:latin typeface="Helvetica Neue"/>
                <a:ea typeface="Helvetica Neue"/>
                <a:cs typeface="Helvetica Neue"/>
              </a:rPr>
              <a:t>BEFORE</a:t>
            </a:r>
          </a:p>
        </p:txBody>
      </p:sp>
      <p:sp>
        <p:nvSpPr>
          <p:cNvPr id="7" name="pipeline-before-stats">
            <a:extLst xmlns:a="http://schemas.openxmlformats.org/drawingml/2006/main">
              <a:ext uri="{FF2B5EF4-FFF2-40B4-BE49-F238E27FC236}">
                <a16:creationId xmlns:a16="http://schemas.microsoft.com/office/drawing/2014/main" id="{558E7F81-14DC-4156-A31C-C50A1C079285}"/>
              </a:ext>
            </a:extLst>
          </p:cNvPr>
          <p:cNvSpPr>
            <a:spLocks xmlns:a="http://schemas.openxmlformats.org/drawingml/2006/main" noGrp="1"/>
          </p:cNvSpPr>
          <p:nvPr/>
        </p:nvSpPr>
        <p:spPr>
          <a:xfrm xmlns:a="http://schemas.openxmlformats.org/drawingml/2006/main">
            <a:off x="742950" y="3381375"/>
            <a:ext cx="2952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i="0">
                <a:solidFill>
                  <a:srgbClr val="B42318"/>
                </a:solidFill>
                <a:latin typeface="Helvetica Neue"/>
                <a:ea typeface="Helvetica Neue"/>
                <a:cs typeface="Helvetica Neue"/>
              </a:defRPr>
            </a:pPr>
            <a:r>
              <a:rPr sz="2850" b="1" i="0">
                <a:solidFill>
                  <a:srgbClr val="B42318"/>
                </a:solidFill>
                <a:latin typeface="Helvetica Neue"/>
                <a:ea typeface="Helvetica Neue"/>
                <a:cs typeface="Helvetica Neue"/>
              </a:rPr>
              <a:t>23.4B rows</a:t>
            </a:r>
          </a:p>
          <a:p xmlns:a="http://schemas.openxmlformats.org/drawingml/2006/main">
            <a:pPr algn="l">
              <a:defRPr sz="2850" b="1" i="0">
                <a:solidFill>
                  <a:srgbClr val="B42318"/>
                </a:solidFill>
                <a:latin typeface="Helvetica Neue"/>
                <a:ea typeface="Helvetica Neue"/>
                <a:cs typeface="Helvetica Neue"/>
              </a:defRPr>
            </a:pPr>
            <a:r>
              <a:rPr sz="2850" b="1" i="0">
                <a:solidFill>
                  <a:srgbClr val="B42318"/>
                </a:solidFill>
                <a:latin typeface="Helvetica Neue"/>
                <a:ea typeface="Helvetica Neue"/>
                <a:cs typeface="Helvetica Neue"/>
              </a:rPr>
              <a:t>≈4 TB spill</a:t>
            </a:r>
          </a:p>
          <a:p xmlns:a="http://schemas.openxmlformats.org/drawingml/2006/main">
            <a:pPr algn="l">
              <a:defRPr sz="2850" b="1" i="0">
                <a:solidFill>
                  <a:srgbClr val="B42318"/>
                </a:solidFill>
                <a:latin typeface="Helvetica Neue"/>
                <a:ea typeface="Helvetica Neue"/>
                <a:cs typeface="Helvetica Neue"/>
              </a:defRPr>
            </a:pPr>
            <a:r>
              <a:rPr sz="2850" b="1" i="0">
                <a:solidFill>
                  <a:srgbClr val="B42318"/>
                </a:solidFill>
                <a:latin typeface="Helvetica Neue"/>
                <a:ea typeface="Helvetica Neue"/>
                <a:cs typeface="Helvetica Neue"/>
              </a:rPr>
              <a:t>&gt;4 hour timeout</a:t>
            </a:r>
          </a:p>
        </p:txBody>
      </p:sp>
      <p:sp>
        <p:nvSpPr>
          <p:cNvPr id="8" name="pipeline-after-panel">
            <a:extLst xmlns:a="http://schemas.openxmlformats.org/drawingml/2006/main">
              <a:ext uri="{FF2B5EF4-FFF2-40B4-BE49-F238E27FC236}">
                <a16:creationId xmlns:a16="http://schemas.microsoft.com/office/drawing/2014/main" id="{658201E0-70E5-4B3D-AA04-DC82CD395F19}"/>
              </a:ext>
            </a:extLst>
          </p:cNvPr>
          <p:cNvSpPr>
            <a:spLocks xmlns:a="http://schemas.openxmlformats.org/drawingml/2006/main" noGrp="1"/>
          </p:cNvSpPr>
          <p:nvPr/>
        </p:nvSpPr>
        <p:spPr>
          <a:xfrm xmlns:a="http://schemas.openxmlformats.org/drawingml/2006/main">
            <a:off x="6057900" y="2571750"/>
            <a:ext cx="5600700" cy="276225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9" name="pipeline-after-title">
            <a:extLst xmlns:a="http://schemas.openxmlformats.org/drawingml/2006/main">
              <a:ext uri="{FF2B5EF4-FFF2-40B4-BE49-F238E27FC236}">
                <a16:creationId xmlns:a16="http://schemas.microsoft.com/office/drawing/2014/main" id="{EC8FDB43-6811-4936-A623-579A6DE186D5}"/>
              </a:ext>
            </a:extLst>
          </p:cNvPr>
          <p:cNvSpPr>
            <a:spLocks xmlns:a="http://schemas.openxmlformats.org/drawingml/2006/main" noGrp="1"/>
          </p:cNvSpPr>
          <p:nvPr/>
        </p:nvSpPr>
        <p:spPr>
          <a:xfrm xmlns:a="http://schemas.openxmlformats.org/drawingml/2006/main">
            <a:off x="6343650" y="2857500"/>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15803D"/>
                </a:solidFill>
                <a:latin typeface="Helvetica Neue"/>
                <a:ea typeface="Helvetica Neue"/>
                <a:cs typeface="Helvetica Neue"/>
              </a:defRPr>
            </a:pPr>
            <a:r>
              <a:rPr sz="1350" b="1" i="0">
                <a:solidFill>
                  <a:srgbClr val="15803D"/>
                </a:solidFill>
                <a:latin typeface="Helvetica Neue"/>
                <a:ea typeface="Helvetica Neue"/>
                <a:cs typeface="Helvetica Neue"/>
              </a:rPr>
              <a:t>AFTER</a:t>
            </a:r>
          </a:p>
        </p:txBody>
      </p:sp>
      <p:sp>
        <p:nvSpPr>
          <p:cNvPr id="10" name="pipeline-after-main">
            <a:extLst xmlns:a="http://schemas.openxmlformats.org/drawingml/2006/main">
              <a:ext uri="{FF2B5EF4-FFF2-40B4-BE49-F238E27FC236}">
                <a16:creationId xmlns:a16="http://schemas.microsoft.com/office/drawing/2014/main" id="{AE9D6799-15AE-416A-8C37-FB0A91467F57}"/>
              </a:ext>
            </a:extLst>
          </p:cNvPr>
          <p:cNvSpPr>
            <a:spLocks xmlns:a="http://schemas.openxmlformats.org/drawingml/2006/main" noGrp="1"/>
          </p:cNvSpPr>
          <p:nvPr/>
        </p:nvSpPr>
        <p:spPr>
          <a:xfrm xmlns:a="http://schemas.openxmlformats.org/drawingml/2006/main">
            <a:off x="6343650" y="3381375"/>
            <a:ext cx="476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5803D"/>
                </a:solidFill>
                <a:latin typeface="Helvetica Neue"/>
                <a:ea typeface="Helvetica Neue"/>
                <a:cs typeface="Helvetica Neue"/>
              </a:defRPr>
            </a:pPr>
            <a:r>
              <a:rPr sz="2700" b="1" i="0">
                <a:solidFill>
                  <a:srgbClr val="15803D"/>
                </a:solidFill>
                <a:latin typeface="Helvetica Neue"/>
                <a:ea typeface="Helvetica Neue"/>
                <a:cs typeface="Helvetica Neue"/>
              </a:rPr>
              <a:t>Filter at the join grain</a:t>
            </a:r>
          </a:p>
        </p:txBody>
      </p:sp>
      <p:sp>
        <p:nvSpPr>
          <p:cNvPr id="11" name="pipeline-after-detail">
            <a:extLst xmlns:a="http://schemas.openxmlformats.org/drawingml/2006/main">
              <a:ext uri="{FF2B5EF4-FFF2-40B4-BE49-F238E27FC236}">
                <a16:creationId xmlns:a16="http://schemas.microsoft.com/office/drawing/2014/main" id="{0D869084-8A3C-4D2E-9A2D-EC5129B731F5}"/>
              </a:ext>
            </a:extLst>
          </p:cNvPr>
          <p:cNvSpPr>
            <a:spLocks xmlns:a="http://schemas.openxmlformats.org/drawingml/2006/main" noGrp="1"/>
          </p:cNvSpPr>
          <p:nvPr/>
        </p:nvSpPr>
        <p:spPr>
          <a:xfrm xmlns:a="http://schemas.openxmlformats.org/drawingml/2006/main">
            <a:off x="6343650" y="414337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39"/>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Join on user + bucket first; expand only to feeds that can consume the candidate. Output-equivalent, without materializing impossible rows.</a:t>
            </a:r>
          </a:p>
        </p:txBody>
      </p:sp>
      <p:sp>
        <p:nvSpPr>
          <p:cNvPr id="12" name="pipeline-lesson">
            <a:extLst xmlns:a="http://schemas.openxmlformats.org/drawingml/2006/main">
              <a:ext uri="{FF2B5EF4-FFF2-40B4-BE49-F238E27FC236}">
                <a16:creationId xmlns:a16="http://schemas.microsoft.com/office/drawing/2014/main" id="{11803F13-74BB-4A29-845F-5C6C85E92487}"/>
              </a:ext>
            </a:extLst>
          </p:cNvPr>
          <p:cNvSpPr>
            <a:spLocks xmlns:a="http://schemas.openxmlformats.org/drawingml/2006/main" noGrp="1"/>
          </p:cNvSpPr>
          <p:nvPr/>
        </p:nvSpPr>
        <p:spPr>
          <a:xfrm xmlns:a="http://schemas.openxmlformats.org/drawingml/2006/main">
            <a:off x="457200" y="576262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Lesson: at this scale, data grain is architecture—not an implementation detail.</a:t>
            </a:r>
          </a:p>
        </p:txBody>
      </p:sp>
    </p:spTree>
    <p:extLst>
      <p:ext uri="{BB962C8B-B14F-4D97-AF65-F5344CB8AC3E}">
        <p14:creationId xmlns:p14="http://schemas.microsoft.com/office/powerpoint/2010/main" val="7221308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0EDC6575-E22C-4322-9AAE-9D97CE96F27B}"/>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7BCB8A3C-F7AD-4341-8535-D5D22268FAB2}"/>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64"/>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In a messy codebase, plausible assumptions caused silent failures</a:t>
            </a:r>
          </a:p>
        </p:txBody>
      </p:sp>
      <p:sp>
        <p:nvSpPr>
          <p:cNvPr id="3" name="page-number">
            <a:extLst xmlns:a="http://schemas.openxmlformats.org/drawingml/2006/main">
              <a:ext uri="{FF2B5EF4-FFF2-40B4-BE49-F238E27FC236}">
                <a16:creationId xmlns:a16="http://schemas.microsoft.com/office/drawing/2014/main" id="{FEA31762-7167-4784-9719-ECD03BB7868A}"/>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9</a:t>
            </a:r>
          </a:p>
        </p:txBody>
      </p:sp>
      <p:sp>
        <p:nvSpPr>
          <p:cNvPr id="4" name="messy-intro">
            <a:extLst xmlns:a="http://schemas.openxmlformats.org/drawingml/2006/main">
              <a:ext uri="{FF2B5EF4-FFF2-40B4-BE49-F238E27FC236}">
                <a16:creationId xmlns:a16="http://schemas.microsoft.com/office/drawing/2014/main" id="{F79466E8-12C7-4FA6-87F7-42014081271F}"/>
              </a:ext>
            </a:extLst>
          </p:cNvPr>
          <p:cNvSpPr>
            <a:spLocks xmlns:a="http://schemas.openxmlformats.org/drawingml/2006/main" noGrp="1"/>
          </p:cNvSpPr>
          <p:nvPr/>
        </p:nvSpPr>
        <p:spPr>
          <a:xfrm xmlns:a="http://schemas.openxmlformats.org/drawingml/2006/main">
            <a:off x="457200" y="1333500"/>
            <a:ext cx="1076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296"/>
          </a:bodyPr>
          <a:lstStyle xmlns:a="http://schemas.openxmlformats.org/drawingml/2006/main"/>
          <a:p xmlns:a="http://schemas.openxmlformats.org/drawingml/2006/main">
            <a:pPr algn="l">
              <a:defRPr sz="2025" b="0" i="0">
                <a:solidFill>
                  <a:srgbClr val="5C6470"/>
                </a:solidFill>
                <a:latin typeface="Helvetica Neue"/>
                <a:ea typeface="Helvetica Neue"/>
                <a:cs typeface="Helvetica Neue"/>
              </a:defRPr>
            </a:pPr>
            <a:r>
              <a:rPr sz="2025" b="0" i="0">
                <a:solidFill>
                  <a:srgbClr val="5C6470"/>
                </a:solidFill>
                <a:latin typeface="Helvetica Neue"/>
                <a:ea typeface="Helvetica Neue"/>
                <a:cs typeface="Helvetica Neue"/>
              </a:rPr>
              <a:t>The same concept appeared in multiple systems: current state vs history, numeric IDs vs UUIDs, generated feeds vs actually served feeds.</a:t>
            </a:r>
          </a:p>
        </p:txBody>
      </p:sp>
      <p:sp>
        <p:nvSpPr>
          <p:cNvPr id="5" name="messy-panel-1">
            <a:extLst xmlns:a="http://schemas.openxmlformats.org/drawingml/2006/main">
              <a:ext uri="{FF2B5EF4-FFF2-40B4-BE49-F238E27FC236}">
                <a16:creationId xmlns:a16="http://schemas.microsoft.com/office/drawing/2014/main" id="{0023B8A6-2167-4E1F-96A9-B5FF79E616C9}"/>
              </a:ext>
            </a:extLst>
          </p:cNvPr>
          <p:cNvSpPr>
            <a:spLocks xmlns:a="http://schemas.openxmlformats.org/drawingml/2006/main" noGrp="1"/>
          </p:cNvSpPr>
          <p:nvPr/>
        </p:nvSpPr>
        <p:spPr>
          <a:xfrm xmlns:a="http://schemas.openxmlformats.org/drawingml/2006/main">
            <a:off x="457200" y="2428875"/>
            <a:ext cx="3429000" cy="285750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6" name="messy-panel-2">
            <a:extLst xmlns:a="http://schemas.openxmlformats.org/drawingml/2006/main">
              <a:ext uri="{FF2B5EF4-FFF2-40B4-BE49-F238E27FC236}">
                <a16:creationId xmlns:a16="http://schemas.microsoft.com/office/drawing/2014/main" id="{D31A54F7-FD1F-461F-B5D1-6E2B4F474D14}"/>
              </a:ext>
            </a:extLst>
          </p:cNvPr>
          <p:cNvSpPr>
            <a:spLocks xmlns:a="http://schemas.openxmlformats.org/drawingml/2006/main" noGrp="1"/>
          </p:cNvSpPr>
          <p:nvPr/>
        </p:nvSpPr>
        <p:spPr>
          <a:xfrm xmlns:a="http://schemas.openxmlformats.org/drawingml/2006/main">
            <a:off x="4343400" y="2428875"/>
            <a:ext cx="3429000" cy="285750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7" name="messy-panel-3">
            <a:extLst xmlns:a="http://schemas.openxmlformats.org/drawingml/2006/main">
              <a:ext uri="{FF2B5EF4-FFF2-40B4-BE49-F238E27FC236}">
                <a16:creationId xmlns:a16="http://schemas.microsoft.com/office/drawing/2014/main" id="{F6382091-899E-4DE8-9F71-C7F4133B62BB}"/>
              </a:ext>
            </a:extLst>
          </p:cNvPr>
          <p:cNvSpPr>
            <a:spLocks xmlns:a="http://schemas.openxmlformats.org/drawingml/2006/main" noGrp="1"/>
          </p:cNvSpPr>
          <p:nvPr/>
        </p:nvSpPr>
        <p:spPr>
          <a:xfrm xmlns:a="http://schemas.openxmlformats.org/drawingml/2006/main">
            <a:off x="8229600" y="2428875"/>
            <a:ext cx="3429000" cy="285750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8" name="messy-h1">
            <a:extLst xmlns:a="http://schemas.openxmlformats.org/drawingml/2006/main">
              <a:ext uri="{FF2B5EF4-FFF2-40B4-BE49-F238E27FC236}">
                <a16:creationId xmlns:a16="http://schemas.microsoft.com/office/drawing/2014/main" id="{558B9F9E-1ABD-42CC-9637-0764BA4988AE}"/>
              </a:ext>
            </a:extLst>
          </p:cNvPr>
          <p:cNvSpPr>
            <a:spLocks xmlns:a="http://schemas.openxmlformats.org/drawingml/2006/main" noGrp="1"/>
          </p:cNvSpPr>
          <p:nvPr/>
        </p:nvSpPr>
        <p:spPr>
          <a:xfrm xmlns:a="http://schemas.openxmlformats.org/drawingml/2006/main">
            <a:off x="723900" y="271462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i="0">
                <a:solidFill>
                  <a:srgbClr val="B45309"/>
                </a:solidFill>
                <a:latin typeface="Helvetica Neue"/>
                <a:ea typeface="Helvetica Neue"/>
                <a:cs typeface="Helvetica Neue"/>
              </a:defRPr>
            </a:pPr>
            <a:r>
              <a:rPr sz="2175" b="1" i="0">
                <a:solidFill>
                  <a:srgbClr val="B45309"/>
                </a:solidFill>
                <a:latin typeface="Helvetica Neue"/>
                <a:ea typeface="Helvetica Neue"/>
                <a:cs typeface="Helvetica Neue"/>
              </a:rPr>
              <a:t>Failure mode</a:t>
            </a:r>
          </a:p>
        </p:txBody>
      </p:sp>
      <p:sp>
        <p:nvSpPr>
          <p:cNvPr id="9" name="messy-b1">
            <a:extLst xmlns:a="http://schemas.openxmlformats.org/drawingml/2006/main">
              <a:ext uri="{FF2B5EF4-FFF2-40B4-BE49-F238E27FC236}">
                <a16:creationId xmlns:a16="http://schemas.microsoft.com/office/drawing/2014/main" id="{85689576-39CC-497B-8667-80FD47048385}"/>
              </a:ext>
            </a:extLst>
          </p:cNvPr>
          <p:cNvSpPr>
            <a:spLocks xmlns:a="http://schemas.openxmlformats.org/drawingml/2006/main" noGrp="1"/>
          </p:cNvSpPr>
          <p:nvPr/>
        </p:nvSpPr>
        <p:spPr>
          <a:xfrm xmlns:a="http://schemas.openxmlformats.org/drawingml/2006/main">
            <a:off x="723900" y="3381375"/>
            <a:ext cx="2857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16"/>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A query could return valid-looking but stale, incomplete, or empty results—and appear to be a ranking problem.</a:t>
            </a:r>
          </a:p>
        </p:txBody>
      </p:sp>
      <p:sp>
        <p:nvSpPr>
          <p:cNvPr id="10" name="messy-h2">
            <a:extLst xmlns:a="http://schemas.openxmlformats.org/drawingml/2006/main">
              <a:ext uri="{FF2B5EF4-FFF2-40B4-BE49-F238E27FC236}">
                <a16:creationId xmlns:a16="http://schemas.microsoft.com/office/drawing/2014/main" id="{050B3D4B-B8C2-4F92-A736-31B627061751}"/>
              </a:ext>
            </a:extLst>
          </p:cNvPr>
          <p:cNvSpPr>
            <a:spLocks xmlns:a="http://schemas.openxmlformats.org/drawingml/2006/main" noGrp="1"/>
          </p:cNvSpPr>
          <p:nvPr/>
        </p:nvSpPr>
        <p:spPr>
          <a:xfrm xmlns:a="http://schemas.openxmlformats.org/drawingml/2006/main">
            <a:off x="4610100" y="271462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i="0">
                <a:solidFill>
                  <a:srgbClr val="101216"/>
                </a:solidFill>
                <a:latin typeface="Helvetica Neue"/>
                <a:ea typeface="Helvetica Neue"/>
                <a:cs typeface="Helvetica Neue"/>
              </a:defRPr>
            </a:pPr>
            <a:r>
              <a:rPr sz="2175" b="1" i="0">
                <a:solidFill>
                  <a:srgbClr val="101216"/>
                </a:solidFill>
                <a:latin typeface="Helvetica Neue"/>
                <a:ea typeface="Helvetica Neue"/>
                <a:cs typeface="Helvetica Neue"/>
              </a:rPr>
              <a:t>How I debugged</a:t>
            </a:r>
          </a:p>
        </p:txBody>
      </p:sp>
      <p:sp>
        <p:nvSpPr>
          <p:cNvPr id="11" name="messy-b2">
            <a:extLst xmlns:a="http://schemas.openxmlformats.org/drawingml/2006/main">
              <a:ext uri="{FF2B5EF4-FFF2-40B4-BE49-F238E27FC236}">
                <a16:creationId xmlns:a16="http://schemas.microsoft.com/office/drawing/2014/main" id="{E340EDF4-990C-4964-8EE2-3D48F0D0C0B8}"/>
              </a:ext>
            </a:extLst>
          </p:cNvPr>
          <p:cNvSpPr>
            <a:spLocks xmlns:a="http://schemas.openxmlformats.org/drawingml/2006/main" noGrp="1"/>
          </p:cNvSpPr>
          <p:nvPr/>
        </p:nvSpPr>
        <p:spPr>
          <a:xfrm xmlns:a="http://schemas.openxmlformats.org/drawingml/2006/main">
            <a:off x="4610100" y="3381375"/>
            <a:ext cx="2857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Trace one user end to end. Map identity domains and grain. Compare generated, stored, served, and impressed items.</a:t>
            </a:r>
          </a:p>
        </p:txBody>
      </p:sp>
      <p:sp>
        <p:nvSpPr>
          <p:cNvPr id="12" name="messy-h3">
            <a:extLst xmlns:a="http://schemas.openxmlformats.org/drawingml/2006/main">
              <a:ext uri="{FF2B5EF4-FFF2-40B4-BE49-F238E27FC236}">
                <a16:creationId xmlns:a16="http://schemas.microsoft.com/office/drawing/2014/main" id="{4F0CE434-321F-4BE4-A290-B876771B6CA0}"/>
              </a:ext>
            </a:extLst>
          </p:cNvPr>
          <p:cNvSpPr>
            <a:spLocks xmlns:a="http://schemas.openxmlformats.org/drawingml/2006/main" noGrp="1"/>
          </p:cNvSpPr>
          <p:nvPr/>
        </p:nvSpPr>
        <p:spPr>
          <a:xfrm xmlns:a="http://schemas.openxmlformats.org/drawingml/2006/main">
            <a:off x="8496300" y="2714625"/>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1" i="0">
                <a:solidFill>
                  <a:srgbClr val="15803D"/>
                </a:solidFill>
                <a:latin typeface="Helvetica Neue"/>
                <a:ea typeface="Helvetica Neue"/>
                <a:cs typeface="Helvetica Neue"/>
              </a:defRPr>
            </a:pPr>
            <a:r>
              <a:rPr sz="2175" b="1" i="0">
                <a:solidFill>
                  <a:srgbClr val="15803D"/>
                </a:solidFill>
                <a:latin typeface="Helvetica Neue"/>
                <a:ea typeface="Helvetica Neue"/>
                <a:cs typeface="Helvetica Neue"/>
              </a:rPr>
              <a:t>What I changed</a:t>
            </a:r>
          </a:p>
        </p:txBody>
      </p:sp>
      <p:sp>
        <p:nvSpPr>
          <p:cNvPr id="13" name="messy-b3">
            <a:extLst xmlns:a="http://schemas.openxmlformats.org/drawingml/2006/main">
              <a:ext uri="{FF2B5EF4-FFF2-40B4-BE49-F238E27FC236}">
                <a16:creationId xmlns:a16="http://schemas.microsoft.com/office/drawing/2014/main" id="{8F90FAAA-E132-4436-9E8E-7FB0457690B4}"/>
              </a:ext>
            </a:extLst>
          </p:cNvPr>
          <p:cNvSpPr>
            <a:spLocks xmlns:a="http://schemas.openxmlformats.org/drawingml/2006/main" noGrp="1"/>
          </p:cNvSpPr>
          <p:nvPr/>
        </p:nvSpPr>
        <p:spPr>
          <a:xfrm xmlns:a="http://schemas.openxmlformats.org/drawingml/2006/main">
            <a:off x="8496300" y="3381375"/>
            <a:ext cx="2857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Explicit current-state contracts, snapshot replacement, source tagging, validation queries, and production telemetry.</a:t>
            </a:r>
          </a:p>
        </p:txBody>
      </p:sp>
      <p:sp>
        <p:nvSpPr>
          <p:cNvPr id="14" name="messy-lesson">
            <a:extLst xmlns:a="http://schemas.openxmlformats.org/drawingml/2006/main">
              <a:ext uri="{FF2B5EF4-FFF2-40B4-BE49-F238E27FC236}">
                <a16:creationId xmlns:a16="http://schemas.microsoft.com/office/drawing/2014/main" id="{AFFC352F-8D3E-454A-A956-9AEAE74066DE}"/>
              </a:ext>
            </a:extLst>
          </p:cNvPr>
          <p:cNvSpPr>
            <a:spLocks xmlns:a="http://schemas.openxmlformats.org/drawingml/2006/main" noGrp="1"/>
          </p:cNvSpPr>
          <p:nvPr/>
        </p:nvSpPr>
        <p:spPr>
          <a:xfrm xmlns:a="http://schemas.openxmlformats.org/drawingml/2006/main">
            <a:off x="457200" y="5715000"/>
            <a:ext cx="904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Debug the data contract before tuning the model.</a:t>
            </a:r>
          </a:p>
        </p:txBody>
      </p:sp>
    </p:spTree>
    <p:extLst>
      <p:ext uri="{BB962C8B-B14F-4D97-AF65-F5344CB8AC3E}">
        <p14:creationId xmlns:p14="http://schemas.microsoft.com/office/powerpoint/2010/main" val="19097606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7AE6181-6D30-444B-A50F-97C71EE407E6}"/>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9F9EABF0-004C-4BF7-99C5-B51627D74BBD}"/>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Creation is not just another listening signal</a:t>
            </a:r>
          </a:p>
        </p:txBody>
      </p:sp>
      <p:sp>
        <p:nvSpPr>
          <p:cNvPr id="3" name="page-number">
            <a:extLst xmlns:a="http://schemas.openxmlformats.org/drawingml/2006/main">
              <a:ext uri="{FF2B5EF4-FFF2-40B4-BE49-F238E27FC236}">
                <a16:creationId xmlns:a16="http://schemas.microsoft.com/office/drawing/2014/main" id="{51A12B36-74BD-4385-A93E-B679511DCB3D}"/>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10</a:t>
            </a:r>
          </a:p>
        </p:txBody>
      </p:sp>
      <p:sp>
        <p:nvSpPr>
          <p:cNvPr id="4" name="creation-intro">
            <a:extLst xmlns:a="http://schemas.openxmlformats.org/drawingml/2006/main">
              <a:ext uri="{FF2B5EF4-FFF2-40B4-BE49-F238E27FC236}">
                <a16:creationId xmlns:a16="http://schemas.microsoft.com/office/drawing/2014/main" id="{25588F25-3ED2-404C-9E09-14BC8BCFFE80}"/>
              </a:ext>
            </a:extLst>
          </p:cNvPr>
          <p:cNvSpPr>
            <a:spLocks xmlns:a="http://schemas.openxmlformats.org/drawingml/2006/main" noGrp="1"/>
          </p:cNvSpPr>
          <p:nvPr/>
        </p:nvSpPr>
        <p:spPr>
          <a:xfrm xmlns:a="http://schemas.openxmlformats.org/drawingml/2006/main">
            <a:off x="457200" y="1285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defRPr sz="2025" b="0" i="0">
                <a:solidFill>
                  <a:srgbClr val="5C6470"/>
                </a:solidFill>
                <a:latin typeface="Helvetica Neue"/>
                <a:ea typeface="Helvetica Neue"/>
                <a:cs typeface="Helvetica Neue"/>
              </a:defRPr>
            </a:pPr>
            <a:r>
              <a:rPr sz="2025" b="0" i="0">
                <a:solidFill>
                  <a:srgbClr val="5C6470"/>
                </a:solidFill>
                <a:latin typeface="Helvetica Neue"/>
                <a:ea typeface="Helvetica Neue"/>
                <a:cs typeface="Helvetica Neue"/>
              </a:rPr>
              <a:t>A subtle ordering bug exposed the product rule we had missed: choose from eligible creations, not from all creations.</a:t>
            </a:r>
          </a:p>
        </p:txBody>
      </p:sp>
      <p:sp>
        <p:nvSpPr>
          <p:cNvPr id="5" name="creation-before">
            <a:extLst xmlns:a="http://schemas.openxmlformats.org/drawingml/2006/main">
              <a:ext uri="{FF2B5EF4-FFF2-40B4-BE49-F238E27FC236}">
                <a16:creationId xmlns:a16="http://schemas.microsoft.com/office/drawing/2014/main" id="{CAE09347-F589-41F3-8F00-301C523756B5}"/>
              </a:ext>
            </a:extLst>
          </p:cNvPr>
          <p:cNvSpPr>
            <a:spLocks xmlns:a="http://schemas.openxmlformats.org/drawingml/2006/main" noGrp="1"/>
          </p:cNvSpPr>
          <p:nvPr/>
        </p:nvSpPr>
        <p:spPr>
          <a:xfrm xmlns:a="http://schemas.openxmlformats.org/drawingml/2006/main">
            <a:off x="457200" y="2333625"/>
            <a:ext cx="4953000" cy="2857500"/>
          </a:xfrm>
          <a:prstGeom xmlns:a="http://schemas.openxmlformats.org/drawingml/2006/main" prst="rect">
            <a:avLst/>
          </a:prstGeom>
          <a:solidFill xmlns:a="http://schemas.openxmlformats.org/drawingml/2006/main">
            <a:srgbClr val="FDECEC"/>
          </a:solidFill>
          <a:ln xmlns:a="http://schemas.openxmlformats.org/drawingml/2006/main" w="0">
            <a:solidFill>
              <a:srgbClr val="FDECEC"/>
            </a:solidFill>
            <a:prstDash val="solid"/>
          </a:ln>
        </p:spPr>
      </p:sp>
      <p:sp>
        <p:nvSpPr>
          <p:cNvPr id="6" name="creation-before-title">
            <a:extLst xmlns:a="http://schemas.openxmlformats.org/drawingml/2006/main">
              <a:ext uri="{FF2B5EF4-FFF2-40B4-BE49-F238E27FC236}">
                <a16:creationId xmlns:a16="http://schemas.microsoft.com/office/drawing/2014/main" id="{25D969A7-1B72-44BC-8C39-EEF2490B1631}"/>
              </a:ext>
            </a:extLst>
          </p:cNvPr>
          <p:cNvSpPr>
            <a:spLocks xmlns:a="http://schemas.openxmlformats.org/drawingml/2006/main" noGrp="1"/>
          </p:cNvSpPr>
          <p:nvPr/>
        </p:nvSpPr>
        <p:spPr>
          <a:xfrm xmlns:a="http://schemas.openxmlformats.org/drawingml/2006/main">
            <a:off x="762000" y="26479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B42318"/>
                </a:solidFill>
                <a:latin typeface="Helvetica Neue"/>
                <a:ea typeface="Helvetica Neue"/>
                <a:cs typeface="Helvetica Neue"/>
              </a:defRPr>
            </a:pPr>
            <a:r>
              <a:rPr sz="1650" b="1" i="0">
                <a:solidFill>
                  <a:srgbClr val="B42318"/>
                </a:solidFill>
                <a:latin typeface="Helvetica Neue"/>
                <a:ea typeface="Helvetica Neue"/>
                <a:cs typeface="Helvetica Neue"/>
              </a:rPr>
              <a:t>SAMPLE → VALIDATE</a:t>
            </a:r>
          </a:p>
        </p:txBody>
      </p:sp>
      <p:sp>
        <p:nvSpPr>
          <p:cNvPr id="7" name="creation-before-stat">
            <a:extLst xmlns:a="http://schemas.openxmlformats.org/drawingml/2006/main">
              <a:ext uri="{FF2B5EF4-FFF2-40B4-BE49-F238E27FC236}">
                <a16:creationId xmlns:a16="http://schemas.microsoft.com/office/drawing/2014/main" id="{1EB7BDCF-4326-4A68-BCEE-4488D506AF4C}"/>
              </a:ext>
            </a:extLst>
          </p:cNvPr>
          <p:cNvSpPr>
            <a:spLocks xmlns:a="http://schemas.openxmlformats.org/drawingml/2006/main" noGrp="1"/>
          </p:cNvSpPr>
          <p:nvPr/>
        </p:nvSpPr>
        <p:spPr>
          <a:xfrm xmlns:a="http://schemas.openxmlformats.org/drawingml/2006/main">
            <a:off x="762000" y="3286125"/>
            <a:ext cx="266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650" b="1" i="0">
                <a:solidFill>
                  <a:srgbClr val="B42318"/>
                </a:solidFill>
                <a:latin typeface="Helvetica Neue"/>
                <a:ea typeface="Helvetica Neue"/>
                <a:cs typeface="Helvetica Neue"/>
              </a:defRPr>
            </a:pPr>
            <a:r>
              <a:rPr sz="4650" b="1" i="0">
                <a:solidFill>
                  <a:srgbClr val="B42318"/>
                </a:solidFill>
                <a:latin typeface="Helvetica Neue"/>
                <a:ea typeface="Helvetica Neue"/>
                <a:cs typeface="Helvetica Neue"/>
              </a:rPr>
              <a:t>47.12%</a:t>
            </a:r>
          </a:p>
        </p:txBody>
      </p:sp>
      <p:sp>
        <p:nvSpPr>
          <p:cNvPr id="8" name="creation-before-label">
            <a:extLst xmlns:a="http://schemas.openxmlformats.org/drawingml/2006/main">
              <a:ext uri="{FF2B5EF4-FFF2-40B4-BE49-F238E27FC236}">
                <a16:creationId xmlns:a16="http://schemas.microsoft.com/office/drawing/2014/main" id="{BB510E1E-7F2D-42C5-9E3F-52813DE1428B}"/>
              </a:ext>
            </a:extLst>
          </p:cNvPr>
          <p:cNvSpPr>
            <a:spLocks xmlns:a="http://schemas.openxmlformats.org/drawingml/2006/main" noGrp="1"/>
          </p:cNvSpPr>
          <p:nvPr/>
        </p:nvSpPr>
        <p:spPr>
          <a:xfrm xmlns:a="http://schemas.openxmlformats.org/drawingml/2006/main">
            <a:off x="762000" y="428625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users lost their seed when the sampled creation lacked an embedding</a:t>
            </a:r>
          </a:p>
        </p:txBody>
      </p:sp>
      <p:sp>
        <p:nvSpPr>
          <p:cNvPr id="9" name="creation-arrow-line">
            <a:extLst xmlns:a="http://schemas.openxmlformats.org/drawingml/2006/main">
              <a:ext uri="{FF2B5EF4-FFF2-40B4-BE49-F238E27FC236}">
                <a16:creationId xmlns:a16="http://schemas.microsoft.com/office/drawing/2014/main" id="{F955C1CC-FB25-4EEF-B8D4-E00754F9A197}"/>
              </a:ext>
            </a:extLst>
          </p:cNvPr>
          <p:cNvSpPr>
            <a:spLocks xmlns:a="http://schemas.openxmlformats.org/drawingml/2006/main" noGrp="1"/>
          </p:cNvSpPr>
          <p:nvPr/>
        </p:nvSpPr>
        <p:spPr>
          <a:xfrm xmlns:a="http://schemas.openxmlformats.org/drawingml/2006/main">
            <a:off x="5505450" y="3657600"/>
            <a:ext cx="7429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creation-arrow-head">
            <a:extLst xmlns:a="http://schemas.openxmlformats.org/drawingml/2006/main">
              <a:ext uri="{FF2B5EF4-FFF2-40B4-BE49-F238E27FC236}">
                <a16:creationId xmlns:a16="http://schemas.microsoft.com/office/drawing/2014/main" id="{C9DA26C0-32D2-4345-B333-2738BCD0E4D3}"/>
              </a:ext>
            </a:extLst>
          </p:cNvPr>
          <p:cNvSpPr>
            <a:spLocks xmlns:a="http://schemas.openxmlformats.org/drawingml/2006/main" noGrp="1"/>
          </p:cNvSpPr>
          <p:nvPr/>
        </p:nvSpPr>
        <p:spPr>
          <a:xfrm xmlns:a="http://schemas.openxmlformats.org/drawingml/2006/main">
            <a:off x="6210300" y="35814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11" name="creation-after">
            <a:extLst xmlns:a="http://schemas.openxmlformats.org/drawingml/2006/main">
              <a:ext uri="{FF2B5EF4-FFF2-40B4-BE49-F238E27FC236}">
                <a16:creationId xmlns:a16="http://schemas.microsoft.com/office/drawing/2014/main" id="{29EAEA50-A0C9-4BD4-B607-4D69B9052ABD}"/>
              </a:ext>
            </a:extLst>
          </p:cNvPr>
          <p:cNvSpPr>
            <a:spLocks xmlns:a="http://schemas.openxmlformats.org/drawingml/2006/main" noGrp="1"/>
          </p:cNvSpPr>
          <p:nvPr/>
        </p:nvSpPr>
        <p:spPr>
          <a:xfrm xmlns:a="http://schemas.openxmlformats.org/drawingml/2006/main">
            <a:off x="6477000" y="2333625"/>
            <a:ext cx="5181600" cy="285750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12" name="creation-after-title">
            <a:extLst xmlns:a="http://schemas.openxmlformats.org/drawingml/2006/main">
              <a:ext uri="{FF2B5EF4-FFF2-40B4-BE49-F238E27FC236}">
                <a16:creationId xmlns:a16="http://schemas.microsoft.com/office/drawing/2014/main" id="{F41158E2-8FDD-400C-B6B1-ABD3F9B393CC}"/>
              </a:ext>
            </a:extLst>
          </p:cNvPr>
          <p:cNvSpPr>
            <a:spLocks xmlns:a="http://schemas.openxmlformats.org/drawingml/2006/main" noGrp="1"/>
          </p:cNvSpPr>
          <p:nvPr/>
        </p:nvSpPr>
        <p:spPr>
          <a:xfrm xmlns:a="http://schemas.openxmlformats.org/drawingml/2006/main">
            <a:off x="6781800" y="26479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5803D"/>
                </a:solidFill>
                <a:latin typeface="Helvetica Neue"/>
                <a:ea typeface="Helvetica Neue"/>
                <a:cs typeface="Helvetica Neue"/>
              </a:defRPr>
            </a:pPr>
            <a:r>
              <a:rPr sz="1650" b="1" i="0">
                <a:solidFill>
                  <a:srgbClr val="15803D"/>
                </a:solidFill>
                <a:latin typeface="Helvetica Neue"/>
                <a:ea typeface="Helvetica Neue"/>
                <a:cs typeface="Helvetica Neue"/>
              </a:rPr>
              <a:t>VALIDATE → SAMPLE</a:t>
            </a:r>
          </a:p>
        </p:txBody>
      </p:sp>
      <p:sp>
        <p:nvSpPr>
          <p:cNvPr id="13" name="creation-after-stat">
            <a:extLst xmlns:a="http://schemas.openxmlformats.org/drawingml/2006/main">
              <a:ext uri="{FF2B5EF4-FFF2-40B4-BE49-F238E27FC236}">
                <a16:creationId xmlns:a16="http://schemas.microsoft.com/office/drawing/2014/main" id="{6C38C5B7-4F34-49B5-B420-3E3C6A1BEA4F}"/>
              </a:ext>
            </a:extLst>
          </p:cNvPr>
          <p:cNvSpPr>
            <a:spLocks xmlns:a="http://schemas.openxmlformats.org/drawingml/2006/main" noGrp="1"/>
          </p:cNvSpPr>
          <p:nvPr/>
        </p:nvSpPr>
        <p:spPr>
          <a:xfrm xmlns:a="http://schemas.openxmlformats.org/drawingml/2006/main">
            <a:off x="6781800" y="3286125"/>
            <a:ext cx="266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650" b="1" i="0">
                <a:solidFill>
                  <a:srgbClr val="15803D"/>
                </a:solidFill>
                <a:latin typeface="Helvetica Neue"/>
                <a:ea typeface="Helvetica Neue"/>
                <a:cs typeface="Helvetica Neue"/>
              </a:defRPr>
            </a:pPr>
            <a:r>
              <a:rPr sz="4650" b="1" i="0">
                <a:solidFill>
                  <a:srgbClr val="15803D"/>
                </a:solidFill>
                <a:latin typeface="Helvetica Neue"/>
                <a:ea typeface="Helvetica Neue"/>
                <a:cs typeface="Helvetica Neue"/>
              </a:rPr>
              <a:t>7.91%</a:t>
            </a:r>
          </a:p>
        </p:txBody>
      </p:sp>
      <p:sp>
        <p:nvSpPr>
          <p:cNvPr id="14" name="creation-after-label">
            <a:extLst xmlns:a="http://schemas.openxmlformats.org/drawingml/2006/main">
              <a:ext uri="{FF2B5EF4-FFF2-40B4-BE49-F238E27FC236}">
                <a16:creationId xmlns:a16="http://schemas.microsoft.com/office/drawing/2014/main" id="{341E7E7B-5576-40AB-9CED-DBC6B5402E77}"/>
              </a:ext>
            </a:extLst>
          </p:cNvPr>
          <p:cNvSpPr>
            <a:spLocks xmlns:a="http://schemas.openxmlformats.org/drawingml/2006/main" noGrp="1"/>
          </p:cNvSpPr>
          <p:nvPr/>
        </p:nvSpPr>
        <p:spPr>
          <a:xfrm xmlns:a="http://schemas.openxmlformats.org/drawingml/2006/main">
            <a:off x="6781800" y="428625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true floor: users with no eligible, embeddable creation</a:t>
            </a:r>
          </a:p>
        </p:txBody>
      </p:sp>
      <p:sp>
        <p:nvSpPr>
          <p:cNvPr id="15" name="creation-rules">
            <a:extLst xmlns:a="http://schemas.openxmlformats.org/drawingml/2006/main">
              <a:ext uri="{FF2B5EF4-FFF2-40B4-BE49-F238E27FC236}">
                <a16:creationId xmlns:a16="http://schemas.microsoft.com/office/drawing/2014/main" id="{DA65F368-DDE2-4FB2-B778-76FAE21B4EB5}"/>
              </a:ext>
            </a:extLst>
          </p:cNvPr>
          <p:cNvSpPr>
            <a:spLocks xmlns:a="http://schemas.openxmlformats.org/drawingml/2006/main" noGrp="1"/>
          </p:cNvSpPr>
          <p:nvPr/>
        </p:nvSpPr>
        <p:spPr>
          <a:xfrm xmlns:a="http://schemas.openxmlformats.org/drawingml/2006/main">
            <a:off x="457200" y="56197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667"/>
          </a:bodyPr>
          <a:lstStyle xmlns:a="http://schemas.openxmlformats.org/drawingml/2006/main"/>
          <a:p xmlns:a="http://schemas.openxmlformats.org/drawingml/2006/main">
            <a:pPr algn="l">
              <a:defRPr sz="1875" b="1" i="0">
                <a:solidFill>
                  <a:srgbClr val="3D8DFF"/>
                </a:solidFill>
                <a:latin typeface="Helvetica Neue"/>
                <a:ea typeface="Helvetica Neue"/>
                <a:cs typeface="Helvetica Neue"/>
              </a:defRPr>
            </a:pPr>
            <a:r>
              <a:rPr sz="1875" b="1" i="0">
                <a:solidFill>
                  <a:srgbClr val="3D8DFF"/>
                </a:solidFill>
                <a:latin typeface="Helvetica Neue"/>
                <a:ea typeface="Helvetica Neue"/>
                <a:cs typeface="Helvetica Neue"/>
              </a:rPr>
              <a:t>The final feed also required a visible anchor, owner-only private access, and rotation among strong creations to avoid repetition.</a:t>
            </a:r>
          </a:p>
        </p:txBody>
      </p:sp>
    </p:spTree>
    <p:extLst>
      <p:ext uri="{BB962C8B-B14F-4D97-AF65-F5344CB8AC3E}">
        <p14:creationId xmlns:p14="http://schemas.microsoft.com/office/powerpoint/2010/main" val="13228961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D1EAC784-7F49-4AA3-8FFA-385AE8C20CE0}"/>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5C1010B2-C986-4AE5-8A39-D4BD12F52208}"/>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Experiments—not intuition—decided what shipped</a:t>
            </a:r>
          </a:p>
        </p:txBody>
      </p:sp>
      <p:sp>
        <p:nvSpPr>
          <p:cNvPr id="3" name="page-number">
            <a:extLst xmlns:a="http://schemas.openxmlformats.org/drawingml/2006/main">
              <a:ext uri="{FF2B5EF4-FFF2-40B4-BE49-F238E27FC236}">
                <a16:creationId xmlns:a16="http://schemas.microsoft.com/office/drawing/2014/main" id="{9880878A-C2F7-40B5-877C-ABAC12D7E521}"/>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11</a:t>
            </a:r>
          </a:p>
        </p:txBody>
      </p:sp>
      <p:sp>
        <p:nvSpPr>
          <p:cNvPr id="4" name="xp-intro">
            <a:extLst xmlns:a="http://schemas.openxmlformats.org/drawingml/2006/main">
              <a:ext uri="{FF2B5EF4-FFF2-40B4-BE49-F238E27FC236}">
                <a16:creationId xmlns:a16="http://schemas.microsoft.com/office/drawing/2014/main" id="{9ED38E37-AD47-49AE-AFDC-A0756ED30FC2}"/>
              </a:ext>
            </a:extLst>
          </p:cNvPr>
          <p:cNvSpPr>
            <a:spLocks xmlns:a="http://schemas.openxmlformats.org/drawingml/2006/main" noGrp="1"/>
          </p:cNvSpPr>
          <p:nvPr/>
        </p:nvSpPr>
        <p:spPr>
          <a:xfrm xmlns:a="http://schemas.openxmlformats.org/drawingml/2006/main">
            <a:off x="457200" y="128587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179"/>
          </a:bodyPr>
          <a:lstStyle xmlns:a="http://schemas.openxmlformats.org/drawingml/2006/main"/>
          <a:p xmlns:a="http://schemas.openxmlformats.org/drawingml/2006/main">
            <a:pPr algn="l">
              <a:defRPr sz="1950" b="0" i="0">
                <a:solidFill>
                  <a:srgbClr val="5C6470"/>
                </a:solidFill>
                <a:latin typeface="Helvetica Neue"/>
                <a:ea typeface="Helvetica Neue"/>
                <a:cs typeface="Helvetica Neue"/>
              </a:defRPr>
            </a:pPr>
            <a:r>
              <a:rPr sz="1950" b="0" i="0">
                <a:solidFill>
                  <a:srgbClr val="5C6470"/>
                </a:solidFill>
                <a:latin typeface="Helvetica Neue"/>
                <a:ea typeface="Helvetica Neue"/>
                <a:cs typeface="Helvetica Neue"/>
              </a:rPr>
              <a:t>Each treatment asked a specific product question and graduated only when the outcome and guardrails supported it.</a:t>
            </a:r>
          </a:p>
        </p:txBody>
      </p:sp>
      <p:sp>
        <p:nvSpPr>
          <p:cNvPr id="5" name="xp-panel-1">
            <a:extLst xmlns:a="http://schemas.openxmlformats.org/drawingml/2006/main">
              <a:ext uri="{FF2B5EF4-FFF2-40B4-BE49-F238E27FC236}">
                <a16:creationId xmlns:a16="http://schemas.microsoft.com/office/drawing/2014/main" id="{558B76F6-AB38-4DEF-83E4-45A3488EA6C3}"/>
              </a:ext>
            </a:extLst>
          </p:cNvPr>
          <p:cNvSpPr>
            <a:spLocks xmlns:a="http://schemas.openxmlformats.org/drawingml/2006/main" noGrp="1"/>
          </p:cNvSpPr>
          <p:nvPr/>
        </p:nvSpPr>
        <p:spPr>
          <a:xfrm xmlns:a="http://schemas.openxmlformats.org/drawingml/2006/main">
            <a:off x="457200" y="2238375"/>
            <a:ext cx="3429000" cy="3238500"/>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6" name="xp-panel-2">
            <a:extLst xmlns:a="http://schemas.openxmlformats.org/drawingml/2006/main">
              <a:ext uri="{FF2B5EF4-FFF2-40B4-BE49-F238E27FC236}">
                <a16:creationId xmlns:a16="http://schemas.microsoft.com/office/drawing/2014/main" id="{0D343520-37DA-4F74-AC0B-C7F8FAD2B672}"/>
              </a:ext>
            </a:extLst>
          </p:cNvPr>
          <p:cNvSpPr>
            <a:spLocks xmlns:a="http://schemas.openxmlformats.org/drawingml/2006/main" noGrp="1"/>
          </p:cNvSpPr>
          <p:nvPr/>
        </p:nvSpPr>
        <p:spPr>
          <a:xfrm xmlns:a="http://schemas.openxmlformats.org/drawingml/2006/main">
            <a:off x="4343400" y="2238375"/>
            <a:ext cx="3429000" cy="323850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7" name="xp-panel-3">
            <a:extLst xmlns:a="http://schemas.openxmlformats.org/drawingml/2006/main">
              <a:ext uri="{FF2B5EF4-FFF2-40B4-BE49-F238E27FC236}">
                <a16:creationId xmlns:a16="http://schemas.microsoft.com/office/drawing/2014/main" id="{82E622AF-D963-4DE4-B90C-9E6A69A69AD1}"/>
              </a:ext>
            </a:extLst>
          </p:cNvPr>
          <p:cNvSpPr>
            <a:spLocks xmlns:a="http://schemas.openxmlformats.org/drawingml/2006/main" noGrp="1"/>
          </p:cNvSpPr>
          <p:nvPr/>
        </p:nvSpPr>
        <p:spPr>
          <a:xfrm xmlns:a="http://schemas.openxmlformats.org/drawingml/2006/main">
            <a:off x="8229600" y="2238375"/>
            <a:ext cx="3429000" cy="323850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8" name="xp-stat-1">
            <a:extLst xmlns:a="http://schemas.openxmlformats.org/drawingml/2006/main">
              <a:ext uri="{FF2B5EF4-FFF2-40B4-BE49-F238E27FC236}">
                <a16:creationId xmlns:a16="http://schemas.microsoft.com/office/drawing/2014/main" id="{B77E3709-4B3A-4DE6-9270-E30623D76040}"/>
              </a:ext>
            </a:extLst>
          </p:cNvPr>
          <p:cNvSpPr>
            <a:spLocks xmlns:a="http://schemas.openxmlformats.org/drawingml/2006/main" noGrp="1"/>
          </p:cNvSpPr>
          <p:nvPr/>
        </p:nvSpPr>
        <p:spPr>
          <a:xfrm xmlns:a="http://schemas.openxmlformats.org/drawingml/2006/main">
            <a:off x="742950" y="25717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i="0">
                <a:solidFill>
                  <a:srgbClr val="3D8DFF"/>
                </a:solidFill>
                <a:latin typeface="Helvetica Neue"/>
                <a:ea typeface="Helvetica Neue"/>
                <a:cs typeface="Helvetica Neue"/>
              </a:defRPr>
            </a:pPr>
            <a:r>
              <a:rPr sz="4500" b="1" i="0">
                <a:solidFill>
                  <a:srgbClr val="3D8DFF"/>
                </a:solidFill>
                <a:latin typeface="Helvetica Neue"/>
                <a:ea typeface="Helvetica Neue"/>
                <a:cs typeface="Helvetica Neue"/>
              </a:rPr>
              <a:t>+63%</a:t>
            </a:r>
          </a:p>
        </p:txBody>
      </p:sp>
      <p:sp>
        <p:nvSpPr>
          <p:cNvPr id="9" name="xp-title-1">
            <a:extLst xmlns:a="http://schemas.openxmlformats.org/drawingml/2006/main">
              <a:ext uri="{FF2B5EF4-FFF2-40B4-BE49-F238E27FC236}">
                <a16:creationId xmlns:a16="http://schemas.microsoft.com/office/drawing/2014/main" id="{CB24D54A-EB31-4D4B-9A90-B0D870D4093C}"/>
              </a:ext>
            </a:extLst>
          </p:cNvPr>
          <p:cNvSpPr>
            <a:spLocks xmlns:a="http://schemas.openxmlformats.org/drawingml/2006/main" noGrp="1"/>
          </p:cNvSpPr>
          <p:nvPr/>
        </p:nvSpPr>
        <p:spPr>
          <a:xfrm xmlns:a="http://schemas.openxmlformats.org/drawingml/2006/main">
            <a:off x="742950" y="36195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Because You Create</a:t>
            </a:r>
          </a:p>
        </p:txBody>
      </p:sp>
      <p:sp>
        <p:nvSpPr>
          <p:cNvPr id="10" name="xp-detail-1">
            <a:extLst xmlns:a="http://schemas.openxmlformats.org/drawingml/2006/main">
              <a:ext uri="{FF2B5EF4-FFF2-40B4-BE49-F238E27FC236}">
                <a16:creationId xmlns:a16="http://schemas.microsoft.com/office/drawing/2014/main" id="{B7AE49D3-EC15-4858-85B6-52A2E115021F}"/>
              </a:ext>
            </a:extLst>
          </p:cNvPr>
          <p:cNvSpPr>
            <a:spLocks xmlns:a="http://schemas.openxmlformats.org/drawingml/2006/main" noGrp="1"/>
          </p:cNvSpPr>
          <p:nvPr/>
        </p:nvSpPr>
        <p:spPr>
          <a:xfrm xmlns:a="http://schemas.openxmlformats.org/drawingml/2006/main">
            <a:off x="742950" y="4238625"/>
            <a:ext cx="285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feed playtime</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+36% feed plays</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+0.83% overall web plays</a:t>
            </a:r>
          </a:p>
        </p:txBody>
      </p:sp>
      <p:sp>
        <p:nvSpPr>
          <p:cNvPr id="11" name="xp-stat-2">
            <a:extLst xmlns:a="http://schemas.openxmlformats.org/drawingml/2006/main">
              <a:ext uri="{FF2B5EF4-FFF2-40B4-BE49-F238E27FC236}">
                <a16:creationId xmlns:a16="http://schemas.microsoft.com/office/drawing/2014/main" id="{856BBDCF-2B47-46C7-9AC0-3B0BFFB3001C}"/>
              </a:ext>
            </a:extLst>
          </p:cNvPr>
          <p:cNvSpPr>
            <a:spLocks xmlns:a="http://schemas.openxmlformats.org/drawingml/2006/main" noGrp="1"/>
          </p:cNvSpPr>
          <p:nvPr/>
        </p:nvSpPr>
        <p:spPr>
          <a:xfrm xmlns:a="http://schemas.openxmlformats.org/drawingml/2006/main">
            <a:off x="4629150" y="25717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i="0">
                <a:solidFill>
                  <a:srgbClr val="15803D"/>
                </a:solidFill>
                <a:latin typeface="Helvetica Neue"/>
                <a:ea typeface="Helvetica Neue"/>
                <a:cs typeface="Helvetica Neue"/>
              </a:defRPr>
            </a:pPr>
            <a:r>
              <a:rPr sz="4500" b="1" i="0">
                <a:solidFill>
                  <a:srgbClr val="15803D"/>
                </a:solidFill>
                <a:latin typeface="Helvetica Neue"/>
                <a:ea typeface="Helvetica Neue"/>
                <a:cs typeface="Helvetica Neue"/>
              </a:rPr>
              <a:t>+15%</a:t>
            </a:r>
          </a:p>
        </p:txBody>
      </p:sp>
      <p:sp>
        <p:nvSpPr>
          <p:cNvPr id="12" name="xp-title-2">
            <a:extLst xmlns:a="http://schemas.openxmlformats.org/drawingml/2006/main">
              <a:ext uri="{FF2B5EF4-FFF2-40B4-BE49-F238E27FC236}">
                <a16:creationId xmlns:a16="http://schemas.microsoft.com/office/drawing/2014/main" id="{74995C41-31C8-4CC3-B53E-81E4269A7EB9}"/>
              </a:ext>
            </a:extLst>
          </p:cNvPr>
          <p:cNvSpPr>
            <a:spLocks xmlns:a="http://schemas.openxmlformats.org/drawingml/2006/main" noGrp="1"/>
          </p:cNvSpPr>
          <p:nvPr/>
        </p:nvSpPr>
        <p:spPr>
          <a:xfrm xmlns:a="http://schemas.openxmlformats.org/drawingml/2006/main">
            <a:off x="4629150" y="36195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76"/>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Personalized creators</a:t>
            </a:r>
          </a:p>
        </p:txBody>
      </p:sp>
      <p:sp>
        <p:nvSpPr>
          <p:cNvPr id="13" name="xp-detail-2">
            <a:extLst xmlns:a="http://schemas.openxmlformats.org/drawingml/2006/main">
              <a:ext uri="{FF2B5EF4-FFF2-40B4-BE49-F238E27FC236}">
                <a16:creationId xmlns:a16="http://schemas.microsoft.com/office/drawing/2014/main" id="{A8DA0092-2DC9-4A76-8AAB-279B4CAA48C3}"/>
              </a:ext>
            </a:extLst>
          </p:cNvPr>
          <p:cNvSpPr>
            <a:spLocks xmlns:a="http://schemas.openxmlformats.org/drawingml/2006/main" noGrp="1"/>
          </p:cNvSpPr>
          <p:nvPr/>
        </p:nvSpPr>
        <p:spPr>
          <a:xfrm xmlns:a="http://schemas.openxmlformats.org/drawingml/2006/main">
            <a:off x="4629150" y="4171950"/>
            <a:ext cx="2857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82"/>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net follows; statistically significant</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+7.9% carousel CTR</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+17% profile follows</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Guardrails flat</a:t>
            </a:r>
          </a:p>
        </p:txBody>
      </p:sp>
      <p:sp>
        <p:nvSpPr>
          <p:cNvPr id="14" name="xp-stat-3">
            <a:extLst xmlns:a="http://schemas.openxmlformats.org/drawingml/2006/main">
              <a:ext uri="{FF2B5EF4-FFF2-40B4-BE49-F238E27FC236}">
                <a16:creationId xmlns:a16="http://schemas.microsoft.com/office/drawing/2014/main" id="{40D9D9F0-F280-42B9-9C3C-7DF50E1F8036}"/>
              </a:ext>
            </a:extLst>
          </p:cNvPr>
          <p:cNvSpPr>
            <a:spLocks xmlns:a="http://schemas.openxmlformats.org/drawingml/2006/main" noGrp="1"/>
          </p:cNvSpPr>
          <p:nvPr/>
        </p:nvSpPr>
        <p:spPr>
          <a:xfrm xmlns:a="http://schemas.openxmlformats.org/drawingml/2006/main">
            <a:off x="8515350" y="257175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500" b="1" i="0">
                <a:solidFill>
                  <a:srgbClr val="101216"/>
                </a:solidFill>
                <a:latin typeface="Helvetica Neue"/>
                <a:ea typeface="Helvetica Neue"/>
                <a:cs typeface="Helvetica Neue"/>
              </a:defRPr>
            </a:pPr>
            <a:r>
              <a:rPr sz="4500" b="1" i="0">
                <a:solidFill>
                  <a:srgbClr val="101216"/>
                </a:solidFill>
                <a:latin typeface="Helvetica Neue"/>
                <a:ea typeface="Helvetica Neue"/>
                <a:cs typeface="Helvetica Neue"/>
              </a:rPr>
              <a:t>+18%</a:t>
            </a:r>
          </a:p>
        </p:txBody>
      </p:sp>
      <p:sp>
        <p:nvSpPr>
          <p:cNvPr id="15" name="xp-title-3">
            <a:extLst xmlns:a="http://schemas.openxmlformats.org/drawingml/2006/main">
              <a:ext uri="{FF2B5EF4-FFF2-40B4-BE49-F238E27FC236}">
                <a16:creationId xmlns:a16="http://schemas.microsoft.com/office/drawing/2014/main" id="{3A1DD000-8E48-4E22-A429-E1A581540B43}"/>
              </a:ext>
            </a:extLst>
          </p:cNvPr>
          <p:cNvSpPr>
            <a:spLocks xmlns:a="http://schemas.openxmlformats.org/drawingml/2006/main" noGrp="1"/>
          </p:cNvSpPr>
          <p:nvPr/>
        </p:nvSpPr>
        <p:spPr>
          <a:xfrm xmlns:a="http://schemas.openxmlformats.org/drawingml/2006/main">
            <a:off x="8515350" y="36195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Listening-seeded precursor</a:t>
            </a:r>
          </a:p>
        </p:txBody>
      </p:sp>
      <p:sp>
        <p:nvSpPr>
          <p:cNvPr id="16" name="xp-detail-3">
            <a:extLst xmlns:a="http://schemas.openxmlformats.org/drawingml/2006/main">
              <a:ext uri="{FF2B5EF4-FFF2-40B4-BE49-F238E27FC236}">
                <a16:creationId xmlns:a16="http://schemas.microsoft.com/office/drawing/2014/main" id="{2744F6FB-502B-4E9E-9C47-74FB59DD15FE}"/>
              </a:ext>
            </a:extLst>
          </p:cNvPr>
          <p:cNvSpPr>
            <a:spLocks xmlns:a="http://schemas.openxmlformats.org/drawingml/2006/main" noGrp="1"/>
          </p:cNvSpPr>
          <p:nvPr/>
        </p:nvSpPr>
        <p:spPr>
          <a:xfrm xmlns:a="http://schemas.openxmlformats.org/drawingml/2006/main">
            <a:off x="8515350" y="430530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feed playtime</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+5.6% feed plays</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+4.2% likes</a:t>
            </a:r>
          </a:p>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No other regressions</a:t>
            </a:r>
          </a:p>
        </p:txBody>
      </p:sp>
      <p:sp>
        <p:nvSpPr>
          <p:cNvPr id="17" name="xp-footnote">
            <a:extLst xmlns:a="http://schemas.openxmlformats.org/drawingml/2006/main">
              <a:ext uri="{FF2B5EF4-FFF2-40B4-BE49-F238E27FC236}">
                <a16:creationId xmlns:a16="http://schemas.microsoft.com/office/drawing/2014/main" id="{93A8A553-779B-42DF-AA45-AFD2CBB46E3E}"/>
              </a:ext>
            </a:extLst>
          </p:cNvPr>
          <p:cNvSpPr>
            <a:spLocks xmlns:a="http://schemas.openxmlformats.org/drawingml/2006/main" noGrp="1"/>
          </p:cNvSpPr>
          <p:nvPr/>
        </p:nvSpPr>
        <p:spPr>
          <a:xfrm xmlns:a="http://schemas.openxmlformats.org/drawingml/2006/main">
            <a:off x="457200" y="59055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216"/>
          </a:bodyPr>
          <a:lstStyle xmlns:a="http://schemas.openxmlformats.org/drawingml/2006/main"/>
          <a:p xmlns:a="http://schemas.openxmlformats.org/drawingml/2006/main">
            <a:pPr algn="l">
              <a:defRPr sz="1200" b="0" i="0">
                <a:solidFill>
                  <a:srgbClr val="5C6470"/>
                </a:solidFill>
                <a:latin typeface="Helvetica Neue"/>
                <a:ea typeface="Helvetica Neue"/>
                <a:cs typeface="Helvetica Neue"/>
              </a:defRPr>
            </a:pPr>
            <a:r>
              <a:rPr sz="1200" b="0" i="0">
                <a:solidFill>
                  <a:srgbClr val="5C6470"/>
                </a:solidFill>
                <a:latin typeface="Helvetica Neue"/>
                <a:ea typeface="Helvetica Neue"/>
                <a:cs typeface="Helvetica Neue"/>
              </a:rPr>
              <a:t>All figures are relative lifts vs control from launch summaries. Baselines, sample sizes, duration, and confidence intervals should be added before external circulation.</a:t>
            </a:r>
          </a:p>
        </p:txBody>
      </p:sp>
    </p:spTree>
    <p:extLst>
      <p:ext uri="{BB962C8B-B14F-4D97-AF65-F5344CB8AC3E}">
        <p14:creationId xmlns:p14="http://schemas.microsoft.com/office/powerpoint/2010/main" val="16705320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7D9EE517-8154-4E91-9357-FD26BD6DF2B6}"/>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SUNO RECOMMENDATION FEEDS</a:t>
            </a:r>
          </a:p>
        </p:txBody>
      </p:sp>
      <p:sp>
        <p:nvSpPr>
          <p:cNvPr id="2" name="slide-title">
            <a:extLst xmlns:a="http://schemas.openxmlformats.org/drawingml/2006/main">
              <a:ext uri="{FF2B5EF4-FFF2-40B4-BE49-F238E27FC236}">
                <a16:creationId xmlns:a16="http://schemas.microsoft.com/office/drawing/2014/main" id="{638FA350-3A2B-403E-AE23-A2C767C7E772}"/>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The lasting deliverable was a reusable capability</a:t>
            </a:r>
          </a:p>
        </p:txBody>
      </p:sp>
      <p:sp>
        <p:nvSpPr>
          <p:cNvPr id="3" name="page-number">
            <a:extLst xmlns:a="http://schemas.openxmlformats.org/drawingml/2006/main">
              <a:ext uri="{FF2B5EF4-FFF2-40B4-BE49-F238E27FC236}">
                <a16:creationId xmlns:a16="http://schemas.microsoft.com/office/drawing/2014/main" id="{C1503121-A9D1-45AA-8FBE-6CA38F96A2DC}"/>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12</a:t>
            </a:r>
          </a:p>
        </p:txBody>
      </p:sp>
      <p:sp>
        <p:nvSpPr>
          <p:cNvPr id="4" name="platform-intro">
            <a:extLst xmlns:a="http://schemas.openxmlformats.org/drawingml/2006/main">
              <a:ext uri="{FF2B5EF4-FFF2-40B4-BE49-F238E27FC236}">
                <a16:creationId xmlns:a16="http://schemas.microsoft.com/office/drawing/2014/main" id="{B654293F-3928-44D5-9E80-AA10F8B27169}"/>
              </a:ext>
            </a:extLst>
          </p:cNvPr>
          <p:cNvSpPr>
            <a:spLocks xmlns:a="http://schemas.openxmlformats.org/drawingml/2006/main" noGrp="1"/>
          </p:cNvSpPr>
          <p:nvPr/>
        </p:nvSpPr>
        <p:spPr>
          <a:xfrm xmlns:a="http://schemas.openxmlformats.org/drawingml/2006/main">
            <a:off x="457200" y="128587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defRPr sz="2025" b="0" i="0">
                <a:solidFill>
                  <a:srgbClr val="5C6470"/>
                </a:solidFill>
                <a:latin typeface="Helvetica Neue"/>
                <a:ea typeface="Helvetica Neue"/>
                <a:cs typeface="Helvetica Neue"/>
              </a:defRPr>
            </a:pPr>
            <a:r>
              <a:rPr sz="2025" b="0" i="0">
                <a:solidFill>
                  <a:srgbClr val="5C6470"/>
                </a:solidFill>
                <a:latin typeface="Helvetica Neue"/>
                <a:ea typeface="Helvetica Neue"/>
                <a:cs typeface="Helvetica Neue"/>
              </a:rPr>
              <a:t>The same system now supports product iteration, reliable serving, and defensible measurement across multiple surfaces.</a:t>
            </a:r>
          </a:p>
        </p:txBody>
      </p:sp>
      <p:sp>
        <p:nvSpPr>
          <p:cNvPr id="5" name="platform-num-0">
            <a:extLst xmlns:a="http://schemas.openxmlformats.org/drawingml/2006/main">
              <a:ext uri="{FF2B5EF4-FFF2-40B4-BE49-F238E27FC236}">
                <a16:creationId xmlns:a16="http://schemas.microsoft.com/office/drawing/2014/main" id="{E0BF5883-9911-4BAA-A937-588C364BB006}"/>
              </a:ext>
            </a:extLst>
          </p:cNvPr>
          <p:cNvSpPr>
            <a:spLocks xmlns:a="http://schemas.openxmlformats.org/drawingml/2006/main" noGrp="1"/>
          </p:cNvSpPr>
          <p:nvPr/>
        </p:nvSpPr>
        <p:spPr>
          <a:xfrm xmlns:a="http://schemas.openxmlformats.org/drawingml/2006/main">
            <a:off x="571500" y="23336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01</a:t>
            </a:r>
          </a:p>
        </p:txBody>
      </p:sp>
      <p:sp>
        <p:nvSpPr>
          <p:cNvPr id="6" name="platform-head-0">
            <a:extLst xmlns:a="http://schemas.openxmlformats.org/drawingml/2006/main">
              <a:ext uri="{FF2B5EF4-FFF2-40B4-BE49-F238E27FC236}">
                <a16:creationId xmlns:a16="http://schemas.microsoft.com/office/drawing/2014/main" id="{D5827CE4-D4B1-4AA5-AE67-9C696BCF0621}"/>
              </a:ext>
            </a:extLst>
          </p:cNvPr>
          <p:cNvSpPr>
            <a:spLocks xmlns:a="http://schemas.openxmlformats.org/drawingml/2006/main" noGrp="1"/>
          </p:cNvSpPr>
          <p:nvPr/>
        </p:nvSpPr>
        <p:spPr>
          <a:xfrm xmlns:a="http://schemas.openxmlformats.org/drawingml/2006/main">
            <a:off x="1428750" y="23336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028"/>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Reusable product configuration</a:t>
            </a:r>
          </a:p>
        </p:txBody>
      </p:sp>
      <p:sp>
        <p:nvSpPr>
          <p:cNvPr id="7" name="platform-body-0">
            <a:extLst xmlns:a="http://schemas.openxmlformats.org/drawingml/2006/main">
              <a:ext uri="{FF2B5EF4-FFF2-40B4-BE49-F238E27FC236}">
                <a16:creationId xmlns:a16="http://schemas.microsoft.com/office/drawing/2014/main" id="{7039FD33-0FFD-4F9F-A9CE-9AB125FBBCF4}"/>
              </a:ext>
            </a:extLst>
          </p:cNvPr>
          <p:cNvSpPr>
            <a:spLocks xmlns:a="http://schemas.openxmlformats.org/drawingml/2006/main" noGrp="1"/>
          </p:cNvSpPr>
          <p:nvPr/>
        </p:nvSpPr>
        <p:spPr>
          <a:xfrm xmlns:a="http://schemas.openxmlformats.org/drawingml/2006/main">
            <a:off x="5334000" y="2333625"/>
            <a:ext cx="604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0" i="0">
                <a:solidFill>
                  <a:srgbClr val="5C6470"/>
                </a:solidFill>
                <a:latin typeface="Helvetica Neue"/>
                <a:ea typeface="Helvetica Neue"/>
                <a:cs typeface="Helvetica Neue"/>
              </a:defRPr>
            </a:pPr>
            <a:r>
              <a:rPr sz="1575" b="0" i="0">
                <a:solidFill>
                  <a:srgbClr val="5C6470"/>
                </a:solidFill>
                <a:latin typeface="Helvetica Neue"/>
                <a:ea typeface="Helvetica Neue"/>
                <a:cs typeface="Helvetica Neue"/>
              </a:rPr>
              <a:t>New feed mixes, fallbacks, cohorts, and rollbacks no longer require bespoke stacks.</a:t>
            </a:r>
          </a:p>
        </p:txBody>
      </p:sp>
      <p:sp>
        <p:nvSpPr>
          <p:cNvPr id="8" name="platform-rule-0">
            <a:extLst xmlns:a="http://schemas.openxmlformats.org/drawingml/2006/main">
              <a:ext uri="{FF2B5EF4-FFF2-40B4-BE49-F238E27FC236}">
                <a16:creationId xmlns:a16="http://schemas.microsoft.com/office/drawing/2014/main" id="{37C9F567-2716-4853-9CC4-224924652D17}"/>
              </a:ext>
            </a:extLst>
          </p:cNvPr>
          <p:cNvSpPr>
            <a:spLocks xmlns:a="http://schemas.openxmlformats.org/drawingml/2006/main" noGrp="1"/>
          </p:cNvSpPr>
          <p:nvPr/>
        </p:nvSpPr>
        <p:spPr>
          <a:xfrm xmlns:a="http://schemas.openxmlformats.org/drawingml/2006/main">
            <a:off x="457200" y="3067050"/>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9" name="platform-num-1">
            <a:extLst xmlns:a="http://schemas.openxmlformats.org/drawingml/2006/main">
              <a:ext uri="{FF2B5EF4-FFF2-40B4-BE49-F238E27FC236}">
                <a16:creationId xmlns:a16="http://schemas.microsoft.com/office/drawing/2014/main" id="{D41850E2-C678-40B9-8DD1-3726D1583B93}"/>
              </a:ext>
            </a:extLst>
          </p:cNvPr>
          <p:cNvSpPr>
            <a:spLocks xmlns:a="http://schemas.openxmlformats.org/drawingml/2006/main" noGrp="1"/>
          </p:cNvSpPr>
          <p:nvPr/>
        </p:nvSpPr>
        <p:spPr>
          <a:xfrm xmlns:a="http://schemas.openxmlformats.org/drawingml/2006/main">
            <a:off x="571500" y="32861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02</a:t>
            </a:r>
          </a:p>
        </p:txBody>
      </p:sp>
      <p:sp>
        <p:nvSpPr>
          <p:cNvPr id="10" name="platform-head-1">
            <a:extLst xmlns:a="http://schemas.openxmlformats.org/drawingml/2006/main">
              <a:ext uri="{FF2B5EF4-FFF2-40B4-BE49-F238E27FC236}">
                <a16:creationId xmlns:a16="http://schemas.microsoft.com/office/drawing/2014/main" id="{B0328218-8E24-4ACE-90E3-D6187284DA29}"/>
              </a:ext>
            </a:extLst>
          </p:cNvPr>
          <p:cNvSpPr>
            <a:spLocks xmlns:a="http://schemas.openxmlformats.org/drawingml/2006/main" noGrp="1"/>
          </p:cNvSpPr>
          <p:nvPr/>
        </p:nvSpPr>
        <p:spPr>
          <a:xfrm xmlns:a="http://schemas.openxmlformats.org/drawingml/2006/main">
            <a:off x="1428750" y="32861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Production-safe serving</a:t>
            </a:r>
          </a:p>
        </p:txBody>
      </p:sp>
      <p:sp>
        <p:nvSpPr>
          <p:cNvPr id="11" name="platform-body-1">
            <a:extLst xmlns:a="http://schemas.openxmlformats.org/drawingml/2006/main">
              <a:ext uri="{FF2B5EF4-FFF2-40B4-BE49-F238E27FC236}">
                <a16:creationId xmlns:a16="http://schemas.microsoft.com/office/drawing/2014/main" id="{C72689D7-3B00-4A90-8173-89DD9A8BF093}"/>
              </a:ext>
            </a:extLst>
          </p:cNvPr>
          <p:cNvSpPr>
            <a:spLocks xmlns:a="http://schemas.openxmlformats.org/drawingml/2006/main" noGrp="1"/>
          </p:cNvSpPr>
          <p:nvPr/>
        </p:nvSpPr>
        <p:spPr>
          <a:xfrm xmlns:a="http://schemas.openxmlformats.org/drawingml/2006/main">
            <a:off x="5334000" y="3286125"/>
            <a:ext cx="604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0" i="0">
                <a:solidFill>
                  <a:srgbClr val="5C6470"/>
                </a:solidFill>
                <a:latin typeface="Helvetica Neue"/>
                <a:ea typeface="Helvetica Neue"/>
                <a:cs typeface="Helvetica Neue"/>
              </a:defRPr>
            </a:pPr>
            <a:r>
              <a:rPr sz="1575" b="0" i="0">
                <a:solidFill>
                  <a:srgbClr val="5C6470"/>
                </a:solidFill>
                <a:latin typeface="Helvetica Neue"/>
                <a:ea typeface="Helvetica Neue"/>
                <a:cs typeface="Helvetica Neue"/>
              </a:rPr>
              <a:t>Precomputed results, hard floors, safety rechecks, and online fallbacks prevent empty homepages.</a:t>
            </a:r>
          </a:p>
        </p:txBody>
      </p:sp>
      <p:sp>
        <p:nvSpPr>
          <p:cNvPr id="12" name="platform-rule-1">
            <a:extLst xmlns:a="http://schemas.openxmlformats.org/drawingml/2006/main">
              <a:ext uri="{FF2B5EF4-FFF2-40B4-BE49-F238E27FC236}">
                <a16:creationId xmlns:a16="http://schemas.microsoft.com/office/drawing/2014/main" id="{5AA248CD-F30C-4382-B543-ED18144C83EB}"/>
              </a:ext>
            </a:extLst>
          </p:cNvPr>
          <p:cNvSpPr>
            <a:spLocks xmlns:a="http://schemas.openxmlformats.org/drawingml/2006/main" noGrp="1"/>
          </p:cNvSpPr>
          <p:nvPr/>
        </p:nvSpPr>
        <p:spPr>
          <a:xfrm xmlns:a="http://schemas.openxmlformats.org/drawingml/2006/main">
            <a:off x="457200" y="4019550"/>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13" name="platform-num-2">
            <a:extLst xmlns:a="http://schemas.openxmlformats.org/drawingml/2006/main">
              <a:ext uri="{FF2B5EF4-FFF2-40B4-BE49-F238E27FC236}">
                <a16:creationId xmlns:a16="http://schemas.microsoft.com/office/drawing/2014/main" id="{0546C62B-B207-4C24-B03F-F48FA9150D7F}"/>
              </a:ext>
            </a:extLst>
          </p:cNvPr>
          <p:cNvSpPr>
            <a:spLocks xmlns:a="http://schemas.openxmlformats.org/drawingml/2006/main" noGrp="1"/>
          </p:cNvSpPr>
          <p:nvPr/>
        </p:nvSpPr>
        <p:spPr>
          <a:xfrm xmlns:a="http://schemas.openxmlformats.org/drawingml/2006/main">
            <a:off x="571500" y="42386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03</a:t>
            </a:r>
          </a:p>
        </p:txBody>
      </p:sp>
      <p:sp>
        <p:nvSpPr>
          <p:cNvPr id="14" name="platform-head-2">
            <a:extLst xmlns:a="http://schemas.openxmlformats.org/drawingml/2006/main">
              <a:ext uri="{FF2B5EF4-FFF2-40B4-BE49-F238E27FC236}">
                <a16:creationId xmlns:a16="http://schemas.microsoft.com/office/drawing/2014/main" id="{4FD0C38F-54B4-4A7E-B919-4F149E6FC360}"/>
              </a:ext>
            </a:extLst>
          </p:cNvPr>
          <p:cNvSpPr>
            <a:spLocks xmlns:a="http://schemas.openxmlformats.org/drawingml/2006/main" noGrp="1"/>
          </p:cNvSpPr>
          <p:nvPr/>
        </p:nvSpPr>
        <p:spPr>
          <a:xfrm xmlns:a="http://schemas.openxmlformats.org/drawingml/2006/main">
            <a:off x="1428750" y="42386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Closed-loop measurement</a:t>
            </a:r>
          </a:p>
        </p:txBody>
      </p:sp>
      <p:sp>
        <p:nvSpPr>
          <p:cNvPr id="15" name="platform-body-2">
            <a:extLst xmlns:a="http://schemas.openxmlformats.org/drawingml/2006/main">
              <a:ext uri="{FF2B5EF4-FFF2-40B4-BE49-F238E27FC236}">
                <a16:creationId xmlns:a16="http://schemas.microsoft.com/office/drawing/2014/main" id="{535EDB32-63CE-48EE-812D-3C0C457C47B7}"/>
              </a:ext>
            </a:extLst>
          </p:cNvPr>
          <p:cNvSpPr>
            <a:spLocks xmlns:a="http://schemas.openxmlformats.org/drawingml/2006/main" noGrp="1"/>
          </p:cNvSpPr>
          <p:nvPr/>
        </p:nvSpPr>
        <p:spPr>
          <a:xfrm xmlns:a="http://schemas.openxmlformats.org/drawingml/2006/main">
            <a:off x="5334000" y="4238625"/>
            <a:ext cx="604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0" i="0">
                <a:solidFill>
                  <a:srgbClr val="5C6470"/>
                </a:solidFill>
                <a:latin typeface="Helvetica Neue"/>
                <a:ea typeface="Helvetica Neue"/>
                <a:cs typeface="Helvetica Neue"/>
              </a:defRPr>
            </a:pPr>
            <a:r>
              <a:rPr sz="1575" b="0" i="0">
                <a:solidFill>
                  <a:srgbClr val="5C6470"/>
                </a:solidFill>
                <a:latin typeface="Helvetica Neue"/>
                <a:ea typeface="Helvetica Neue"/>
                <a:cs typeface="Helvetica Neue"/>
              </a:rPr>
              <a:t>Run and item attribution connect generation to impressions, plays, follows, and experiments.</a:t>
            </a:r>
          </a:p>
        </p:txBody>
      </p:sp>
      <p:sp>
        <p:nvSpPr>
          <p:cNvPr id="16" name="platform-rule-2">
            <a:extLst xmlns:a="http://schemas.openxmlformats.org/drawingml/2006/main">
              <a:ext uri="{FF2B5EF4-FFF2-40B4-BE49-F238E27FC236}">
                <a16:creationId xmlns:a16="http://schemas.microsoft.com/office/drawing/2014/main" id="{24520CF2-23AE-4F73-AC12-B3D188B7E283}"/>
              </a:ext>
            </a:extLst>
          </p:cNvPr>
          <p:cNvSpPr>
            <a:spLocks xmlns:a="http://schemas.openxmlformats.org/drawingml/2006/main" noGrp="1"/>
          </p:cNvSpPr>
          <p:nvPr/>
        </p:nvSpPr>
        <p:spPr>
          <a:xfrm xmlns:a="http://schemas.openxmlformats.org/drawingml/2006/main">
            <a:off x="457200" y="4972050"/>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17" name="platform-num-3">
            <a:extLst xmlns:a="http://schemas.openxmlformats.org/drawingml/2006/main">
              <a:ext uri="{FF2B5EF4-FFF2-40B4-BE49-F238E27FC236}">
                <a16:creationId xmlns:a16="http://schemas.microsoft.com/office/drawing/2014/main" id="{908BFBC9-8B46-44DE-9228-9EF5F6323443}"/>
              </a:ext>
            </a:extLst>
          </p:cNvPr>
          <p:cNvSpPr>
            <a:spLocks xmlns:a="http://schemas.openxmlformats.org/drawingml/2006/main" noGrp="1"/>
          </p:cNvSpPr>
          <p:nvPr/>
        </p:nvSpPr>
        <p:spPr>
          <a:xfrm xmlns:a="http://schemas.openxmlformats.org/drawingml/2006/main">
            <a:off x="571500" y="51911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04</a:t>
            </a:r>
          </a:p>
        </p:txBody>
      </p:sp>
      <p:sp>
        <p:nvSpPr>
          <p:cNvPr id="18" name="platform-head-3">
            <a:extLst xmlns:a="http://schemas.openxmlformats.org/drawingml/2006/main">
              <a:ext uri="{FF2B5EF4-FFF2-40B4-BE49-F238E27FC236}">
                <a16:creationId xmlns:a16="http://schemas.microsoft.com/office/drawing/2014/main" id="{C77670DA-222D-4D29-BB3C-D4791DF5318D}"/>
              </a:ext>
            </a:extLst>
          </p:cNvPr>
          <p:cNvSpPr>
            <a:spLocks xmlns:a="http://schemas.openxmlformats.org/drawingml/2006/main" noGrp="1"/>
          </p:cNvSpPr>
          <p:nvPr/>
        </p:nvSpPr>
        <p:spPr>
          <a:xfrm xmlns:a="http://schemas.openxmlformats.org/drawingml/2006/main">
            <a:off x="1428750" y="5191125"/>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i="0">
                <a:solidFill>
                  <a:srgbClr val="101216"/>
                </a:solidFill>
                <a:latin typeface="Helvetica Neue"/>
                <a:ea typeface="Helvetica Neue"/>
                <a:cs typeface="Helvetica Neue"/>
              </a:defRPr>
            </a:pPr>
            <a:r>
              <a:rPr sz="2025" b="1" i="0">
                <a:solidFill>
                  <a:srgbClr val="101216"/>
                </a:solidFill>
                <a:latin typeface="Helvetica Neue"/>
                <a:ea typeface="Helvetica Neue"/>
                <a:cs typeface="Helvetica Neue"/>
              </a:rPr>
              <a:t>Clear operational ownership</a:t>
            </a:r>
          </a:p>
        </p:txBody>
      </p:sp>
      <p:sp>
        <p:nvSpPr>
          <p:cNvPr id="19" name="platform-body-3">
            <a:extLst xmlns:a="http://schemas.openxmlformats.org/drawingml/2006/main">
              <a:ext uri="{FF2B5EF4-FFF2-40B4-BE49-F238E27FC236}">
                <a16:creationId xmlns:a16="http://schemas.microsoft.com/office/drawing/2014/main" id="{4AF8A197-0C61-41B3-BB5D-3E3CBC945A50}"/>
              </a:ext>
            </a:extLst>
          </p:cNvPr>
          <p:cNvSpPr>
            <a:spLocks xmlns:a="http://schemas.openxmlformats.org/drawingml/2006/main" noGrp="1"/>
          </p:cNvSpPr>
          <p:nvPr/>
        </p:nvSpPr>
        <p:spPr>
          <a:xfrm xmlns:a="http://schemas.openxmlformats.org/drawingml/2006/main">
            <a:off x="5334000" y="5191125"/>
            <a:ext cx="604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defRPr sz="1575" b="0" i="0">
                <a:solidFill>
                  <a:srgbClr val="5C6470"/>
                </a:solidFill>
                <a:latin typeface="Helvetica Neue"/>
                <a:ea typeface="Helvetica Neue"/>
                <a:cs typeface="Helvetica Neue"/>
              </a:defRPr>
            </a:pPr>
            <a:r>
              <a:rPr sz="1575" b="0" i="0">
                <a:solidFill>
                  <a:srgbClr val="5C6470"/>
                </a:solidFill>
                <a:latin typeface="Helvetica Neue"/>
                <a:ea typeface="Helvetica Neue"/>
                <a:cs typeface="Helvetica Neue"/>
              </a:rPr>
              <a:t>I owned launch validation, health metrics, failure diagnosis, and the path from staged rollout to production.</a:t>
            </a:r>
          </a:p>
        </p:txBody>
      </p:sp>
    </p:spTree>
    <p:extLst>
      <p:ext uri="{BB962C8B-B14F-4D97-AF65-F5344CB8AC3E}">
        <p14:creationId xmlns:p14="http://schemas.microsoft.com/office/powerpoint/2010/main" val="3863660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lose-eyebrow">
            <a:extLst xmlns:a="http://schemas.openxmlformats.org/drawingml/2006/main">
              <a:ext uri="{FF2B5EF4-FFF2-40B4-BE49-F238E27FC236}">
                <a16:creationId xmlns:a16="http://schemas.microsoft.com/office/drawing/2014/main" id="{CAA50C2D-377A-4C2A-BF54-533728910127}"/>
              </a:ext>
            </a:extLst>
          </p:cNvPr>
          <p:cNvSpPr>
            <a:spLocks xmlns:a="http://schemas.openxmlformats.org/drawingml/2006/main" noGrp="1"/>
          </p:cNvSpPr>
          <p:nvPr/>
        </p:nvSpPr>
        <p:spPr>
          <a:xfrm xmlns:a="http://schemas.openxmlformats.org/drawingml/2006/main">
            <a:off x="457200" y="3810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WHAT I LEARNED</a:t>
            </a:r>
          </a:p>
        </p:txBody>
      </p:sp>
      <p:sp>
        <p:nvSpPr>
          <p:cNvPr id="2" name="close-title">
            <a:extLst xmlns:a="http://schemas.openxmlformats.org/drawingml/2006/main">
              <a:ext uri="{FF2B5EF4-FFF2-40B4-BE49-F238E27FC236}">
                <a16:creationId xmlns:a16="http://schemas.microsoft.com/office/drawing/2014/main" id="{62D5FAB7-F0BB-4BB8-BE74-A37E1614633E}"/>
              </a:ext>
            </a:extLst>
          </p:cNvPr>
          <p:cNvSpPr>
            <a:spLocks xmlns:a="http://schemas.openxmlformats.org/drawingml/2006/main" noGrp="1"/>
          </p:cNvSpPr>
          <p:nvPr/>
        </p:nvSpPr>
        <p:spPr>
          <a:xfrm xmlns:a="http://schemas.openxmlformats.org/drawingml/2006/main">
            <a:off x="457200" y="14763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75" b="1" i="0">
                <a:solidFill>
                  <a:srgbClr val="101216"/>
                </a:solidFill>
                <a:latin typeface="Helvetica Neue"/>
                <a:ea typeface="Helvetica Neue"/>
                <a:cs typeface="Helvetica Neue"/>
              </a:defRPr>
            </a:pPr>
            <a:r>
              <a:rPr sz="4875" b="1" i="0">
                <a:solidFill>
                  <a:srgbClr val="101216"/>
                </a:solidFill>
                <a:latin typeface="Helvetica Neue"/>
                <a:ea typeface="Helvetica Neue"/>
                <a:cs typeface="Helvetica Neue"/>
              </a:rPr>
              <a:t>The hard part was not the model.</a:t>
            </a:r>
          </a:p>
          <a:p xmlns:a="http://schemas.openxmlformats.org/drawingml/2006/main">
            <a:pPr algn="l">
              <a:defRPr sz="4875" b="1" i="0">
                <a:solidFill>
                  <a:srgbClr val="101216"/>
                </a:solidFill>
                <a:latin typeface="Helvetica Neue"/>
                <a:ea typeface="Helvetica Neue"/>
                <a:cs typeface="Helvetica Neue"/>
              </a:defRPr>
            </a:pPr>
            <a:r>
              <a:rPr sz="4875" b="1" i="0">
                <a:solidFill>
                  <a:srgbClr val="101216"/>
                </a:solidFill>
                <a:latin typeface="Helvetica Neue"/>
                <a:ea typeface="Helvetica Neue"/>
                <a:cs typeface="Helvetica Neue"/>
              </a:rPr>
              <a:t>It was making product, data, and operations agree.</a:t>
            </a:r>
          </a:p>
        </p:txBody>
      </p:sp>
      <p:sp>
        <p:nvSpPr>
          <p:cNvPr id="3" name="close-lessons">
            <a:extLst xmlns:a="http://schemas.openxmlformats.org/drawingml/2006/main">
              <a:ext uri="{FF2B5EF4-FFF2-40B4-BE49-F238E27FC236}">
                <a16:creationId xmlns:a16="http://schemas.microsoft.com/office/drawing/2014/main" id="{347249C6-A965-4F5E-AEAA-64386C8CB250}"/>
              </a:ext>
            </a:extLst>
          </p:cNvPr>
          <p:cNvSpPr>
            <a:spLocks xmlns:a="http://schemas.openxmlformats.org/drawingml/2006/main" noGrp="1"/>
          </p:cNvSpPr>
          <p:nvPr/>
        </p:nvSpPr>
        <p:spPr>
          <a:xfrm xmlns:a="http://schemas.openxmlformats.org/drawingml/2006/main">
            <a:off x="457200" y="4667250"/>
            <a:ext cx="7429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Start with grain and data contracts.</a:t>
            </a:r>
          </a:p>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Define the metric tree before the experiment.</a:t>
            </a:r>
          </a:p>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Make fallbacks and observability part of the product.</a:t>
            </a:r>
          </a:p>
        </p:txBody>
      </p:sp>
      <p:sp>
        <p:nvSpPr>
          <p:cNvPr id="4" name="close-accent">
            <a:extLst xmlns:a="http://schemas.openxmlformats.org/drawingml/2006/main">
              <a:ext uri="{FF2B5EF4-FFF2-40B4-BE49-F238E27FC236}">
                <a16:creationId xmlns:a16="http://schemas.microsoft.com/office/drawing/2014/main" id="{6B6AEEEE-A505-48B6-ABAE-7B37EE5A06C9}"/>
              </a:ext>
            </a:extLst>
          </p:cNvPr>
          <p:cNvSpPr>
            <a:spLocks xmlns:a="http://schemas.openxmlformats.org/drawingml/2006/main" noGrp="1"/>
          </p:cNvSpPr>
          <p:nvPr/>
        </p:nvSpPr>
        <p:spPr>
          <a:xfrm xmlns:a="http://schemas.openxmlformats.org/drawingml/2006/main">
            <a:off x="457200" y="6286500"/>
            <a:ext cx="2190750" cy="762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5" name="close-question">
            <a:extLst xmlns:a="http://schemas.openxmlformats.org/drawingml/2006/main">
              <a:ext uri="{FF2B5EF4-FFF2-40B4-BE49-F238E27FC236}">
                <a16:creationId xmlns:a16="http://schemas.microsoft.com/office/drawing/2014/main" id="{64C8ED66-EFED-47AF-8B5D-8D584F371476}"/>
              </a:ext>
            </a:extLst>
          </p:cNvPr>
          <p:cNvSpPr>
            <a:spLocks xmlns:a="http://schemas.openxmlformats.org/drawingml/2006/main" noGrp="1"/>
          </p:cNvSpPr>
          <p:nvPr/>
        </p:nvSpPr>
        <p:spPr>
          <a:xfrm xmlns:a="http://schemas.openxmlformats.org/drawingml/2006/main">
            <a:off x="9477375" y="58102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2325" b="1" i="0">
                <a:solidFill>
                  <a:srgbClr val="101216"/>
                </a:solidFill>
                <a:latin typeface="Helvetica Neue"/>
                <a:ea typeface="Helvetica Neue"/>
                <a:cs typeface="Helvetica Neue"/>
              </a:defRPr>
            </a:pPr>
            <a:r>
              <a:rPr sz="2325" b="1" i="0">
                <a:solidFill>
                  <a:srgbClr val="101216"/>
                </a:solidFill>
                <a:latin typeface="Helvetica Neue"/>
                <a:ea typeface="Helvetica Neue"/>
                <a:cs typeface="Helvetica Neue"/>
              </a:rPr>
              <a:t>Questions</a:t>
            </a:r>
          </a:p>
        </p:txBody>
      </p:sp>
    </p:spTree>
    <p:extLst>
      <p:ext uri="{BB962C8B-B14F-4D97-AF65-F5344CB8AC3E}">
        <p14:creationId xmlns:p14="http://schemas.microsoft.com/office/powerpoint/2010/main" val="8705447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appendix-eyebrow">
            <a:extLst xmlns:a="http://schemas.openxmlformats.org/drawingml/2006/main">
              <a:ext uri="{FF2B5EF4-FFF2-40B4-BE49-F238E27FC236}">
                <a16:creationId xmlns:a16="http://schemas.microsoft.com/office/drawing/2014/main" id="{E2776E88-D949-4638-A579-F6E0BE982148}"/>
              </a:ext>
            </a:extLst>
          </p:cNvPr>
          <p:cNvSpPr>
            <a:spLocks xmlns:a="http://schemas.openxmlformats.org/drawingml/2006/main" noGrp="1"/>
          </p:cNvSpPr>
          <p:nvPr/>
        </p:nvSpPr>
        <p:spPr>
          <a:xfrm xmlns:a="http://schemas.openxmlformats.org/drawingml/2006/main">
            <a:off x="457200" y="381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BACKUP</a:t>
            </a:r>
          </a:p>
        </p:txBody>
      </p:sp>
      <p:sp>
        <p:nvSpPr>
          <p:cNvPr id="2" name="appendix-title">
            <a:extLst xmlns:a="http://schemas.openxmlformats.org/drawingml/2006/main">
              <a:ext uri="{FF2B5EF4-FFF2-40B4-BE49-F238E27FC236}">
                <a16:creationId xmlns:a16="http://schemas.microsoft.com/office/drawing/2014/main" id="{BA7E8C26-20C1-4CE1-8996-F5ACED6AE490}"/>
              </a:ext>
            </a:extLst>
          </p:cNvPr>
          <p:cNvSpPr>
            <a:spLocks xmlns:a="http://schemas.openxmlformats.org/drawingml/2006/main" noGrp="1"/>
          </p:cNvSpPr>
          <p:nvPr/>
        </p:nvSpPr>
        <p:spPr>
          <a:xfrm xmlns:a="http://schemas.openxmlformats.org/drawingml/2006/main">
            <a:off x="457200" y="2286000"/>
            <a:ext cx="9906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109"/>
          </a:bodyPr>
          <a:lstStyle xmlns:a="http://schemas.openxmlformats.org/drawingml/2006/main"/>
          <a:p xmlns:a="http://schemas.openxmlformats.org/drawingml/2006/main">
            <a:pPr algn="l">
              <a:defRPr sz="5400" b="1" i="0">
                <a:solidFill>
                  <a:srgbClr val="101216"/>
                </a:solidFill>
                <a:latin typeface="Helvetica Neue"/>
                <a:ea typeface="Helvetica Neue"/>
                <a:cs typeface="Helvetica Neue"/>
              </a:defRPr>
            </a:pPr>
            <a:r>
              <a:rPr sz="5400" b="1" i="0">
                <a:solidFill>
                  <a:srgbClr val="101216"/>
                </a:solidFill>
                <a:latin typeface="Helvetica Neue"/>
                <a:ea typeface="Helvetica Neue"/>
                <a:cs typeface="Helvetica Neue"/>
              </a:rPr>
              <a:t>Technical and experiment appendix</a:t>
            </a:r>
          </a:p>
        </p:txBody>
      </p:sp>
      <p:sp>
        <p:nvSpPr>
          <p:cNvPr id="3" name="appendix-subtitle">
            <a:extLst xmlns:a="http://schemas.openxmlformats.org/drawingml/2006/main">
              <a:ext uri="{FF2B5EF4-FFF2-40B4-BE49-F238E27FC236}">
                <a16:creationId xmlns:a16="http://schemas.microsoft.com/office/drawing/2014/main" id="{BB082031-CD03-4553-BE96-1888F788890F}"/>
              </a:ext>
            </a:extLst>
          </p:cNvPr>
          <p:cNvSpPr>
            <a:spLocks xmlns:a="http://schemas.openxmlformats.org/drawingml/2006/main" noGrp="1"/>
          </p:cNvSpPr>
          <p:nvPr/>
        </p:nvSpPr>
        <p:spPr>
          <a:xfrm xmlns:a="http://schemas.openxmlformats.org/drawingml/2006/main">
            <a:off x="457200" y="4000500"/>
            <a:ext cx="666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00" b="0" i="0">
                <a:solidFill>
                  <a:srgbClr val="5C6470"/>
                </a:solidFill>
                <a:latin typeface="Helvetica Neue"/>
                <a:ea typeface="Helvetica Neue"/>
                <a:cs typeface="Helvetica Neue"/>
              </a:defRPr>
            </a:pPr>
            <a:r>
              <a:rPr sz="2100" b="0" i="0">
                <a:solidFill>
                  <a:srgbClr val="5C6470"/>
                </a:solidFill>
                <a:latin typeface="Helvetica Neue"/>
                <a:ea typeface="Helvetica Neue"/>
                <a:cs typeface="Helvetica Neue"/>
              </a:rPr>
              <a:t>Use selectively during the 20-minute Q&amp;A</a:t>
            </a:r>
          </a:p>
        </p:txBody>
      </p:sp>
    </p:spTree>
    <p:extLst>
      <p:ext uri="{BB962C8B-B14F-4D97-AF65-F5344CB8AC3E}">
        <p14:creationId xmlns:p14="http://schemas.microsoft.com/office/powerpoint/2010/main" val="739246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212859F6-4061-46AD-BEC8-0AFC4CC3D5DB}"/>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TECHNICAL APPENDIX</a:t>
            </a:r>
          </a:p>
        </p:txBody>
      </p:sp>
      <p:sp>
        <p:nvSpPr>
          <p:cNvPr id="2" name="slide-title">
            <a:extLst xmlns:a="http://schemas.openxmlformats.org/drawingml/2006/main">
              <a:ext uri="{FF2B5EF4-FFF2-40B4-BE49-F238E27FC236}">
                <a16:creationId xmlns:a16="http://schemas.microsoft.com/office/drawing/2014/main" id="{4B48EC89-CBED-416F-A6A6-B4FC0119D0DC}"/>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Appendix: detailed ownership by workstream</a:t>
            </a:r>
          </a:p>
        </p:txBody>
      </p:sp>
      <p:sp>
        <p:nvSpPr>
          <p:cNvPr id="3" name="page-number">
            <a:extLst xmlns:a="http://schemas.openxmlformats.org/drawingml/2006/main">
              <a:ext uri="{FF2B5EF4-FFF2-40B4-BE49-F238E27FC236}">
                <a16:creationId xmlns:a16="http://schemas.microsoft.com/office/drawing/2014/main" id="{5AEC622D-5869-4ACD-B08C-537F53075A48}"/>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A1</a:t>
            </a:r>
          </a:p>
        </p:txBody>
      </p:sp>
      <p:sp>
        <p:nvSpPr>
          <p:cNvPr id="4" name="owner-table-head-0">
            <a:extLst xmlns:a="http://schemas.openxmlformats.org/drawingml/2006/main">
              <a:ext uri="{FF2B5EF4-FFF2-40B4-BE49-F238E27FC236}">
                <a16:creationId xmlns:a16="http://schemas.microsoft.com/office/drawing/2014/main" id="{80DBAE83-8385-477A-A4DD-73B0868D3D89}"/>
              </a:ext>
            </a:extLst>
          </p:cNvPr>
          <p:cNvSpPr>
            <a:spLocks xmlns:a="http://schemas.openxmlformats.org/drawingml/2006/main" noGrp="1"/>
          </p:cNvSpPr>
          <p:nvPr/>
        </p:nvSpPr>
        <p:spPr>
          <a:xfrm xmlns:a="http://schemas.openxmlformats.org/drawingml/2006/main">
            <a:off x="457200" y="1476375"/>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Workstream</a:t>
            </a:r>
          </a:p>
        </p:txBody>
      </p:sp>
      <p:sp>
        <p:nvSpPr>
          <p:cNvPr id="5" name="owner-table-head-1">
            <a:extLst xmlns:a="http://schemas.openxmlformats.org/drawingml/2006/main">
              <a:ext uri="{FF2B5EF4-FFF2-40B4-BE49-F238E27FC236}">
                <a16:creationId xmlns:a16="http://schemas.microsoft.com/office/drawing/2014/main" id="{D4FB8B3C-B915-4512-8FDD-870C0C60C755}"/>
              </a:ext>
            </a:extLst>
          </p:cNvPr>
          <p:cNvSpPr>
            <a:spLocks xmlns:a="http://schemas.openxmlformats.org/drawingml/2006/main" noGrp="1"/>
          </p:cNvSpPr>
          <p:nvPr/>
        </p:nvSpPr>
        <p:spPr>
          <a:xfrm xmlns:a="http://schemas.openxmlformats.org/drawingml/2006/main">
            <a:off x="3219450" y="1476375"/>
            <a:ext cx="354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My role</a:t>
            </a:r>
          </a:p>
        </p:txBody>
      </p:sp>
      <p:sp>
        <p:nvSpPr>
          <p:cNvPr id="6" name="owner-table-head-2">
            <a:extLst xmlns:a="http://schemas.openxmlformats.org/drawingml/2006/main">
              <a:ext uri="{FF2B5EF4-FFF2-40B4-BE49-F238E27FC236}">
                <a16:creationId xmlns:a16="http://schemas.microsoft.com/office/drawing/2014/main" id="{A69BFCAD-6A52-4EAC-8A49-FBEB55E6DA78}"/>
              </a:ext>
            </a:extLst>
          </p:cNvPr>
          <p:cNvSpPr>
            <a:spLocks xmlns:a="http://schemas.openxmlformats.org/drawingml/2006/main" noGrp="1"/>
          </p:cNvSpPr>
          <p:nvPr/>
        </p:nvSpPr>
        <p:spPr>
          <a:xfrm xmlns:a="http://schemas.openxmlformats.org/drawingml/2006/main">
            <a:off x="6953250" y="1476375"/>
            <a:ext cx="4705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Partner contribution</a:t>
            </a:r>
          </a:p>
        </p:txBody>
      </p:sp>
      <p:sp>
        <p:nvSpPr>
          <p:cNvPr id="7" name="owner-row-bg-0">
            <a:extLst xmlns:a="http://schemas.openxmlformats.org/drawingml/2006/main">
              <a:ext uri="{FF2B5EF4-FFF2-40B4-BE49-F238E27FC236}">
                <a16:creationId xmlns:a16="http://schemas.microsoft.com/office/drawing/2014/main" id="{B7E5D0EF-3062-4D46-8D1F-532364021120}"/>
              </a:ext>
            </a:extLst>
          </p:cNvPr>
          <p:cNvSpPr>
            <a:spLocks xmlns:a="http://schemas.openxmlformats.org/drawingml/2006/main" noGrp="1"/>
          </p:cNvSpPr>
          <p:nvPr/>
        </p:nvSpPr>
        <p:spPr>
          <a:xfrm xmlns:a="http://schemas.openxmlformats.org/drawingml/2006/main">
            <a:off x="419100" y="202882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8" name="owner-cell-0-0">
            <a:extLst xmlns:a="http://schemas.openxmlformats.org/drawingml/2006/main">
              <a:ext uri="{FF2B5EF4-FFF2-40B4-BE49-F238E27FC236}">
                <a16:creationId xmlns:a16="http://schemas.microsoft.com/office/drawing/2014/main" id="{261DBC4C-70B4-4731-B132-A26C463D5B0A}"/>
              </a:ext>
            </a:extLst>
          </p:cNvPr>
          <p:cNvSpPr>
            <a:spLocks xmlns:a="http://schemas.openxmlformats.org/drawingml/2006/main" noGrp="1"/>
          </p:cNvSpPr>
          <p:nvPr/>
        </p:nvSpPr>
        <p:spPr>
          <a:xfrm xmlns:a="http://schemas.openxmlformats.org/drawingml/2006/main">
            <a:off x="457200" y="209550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Architecture</a:t>
            </a:r>
          </a:p>
        </p:txBody>
      </p:sp>
      <p:sp>
        <p:nvSpPr>
          <p:cNvPr id="9" name="owner-cell-0-1">
            <a:extLst xmlns:a="http://schemas.openxmlformats.org/drawingml/2006/main">
              <a:ext uri="{FF2B5EF4-FFF2-40B4-BE49-F238E27FC236}">
                <a16:creationId xmlns:a16="http://schemas.microsoft.com/office/drawing/2014/main" id="{6EC37705-666D-4392-B115-1451FB15F621}"/>
              </a:ext>
            </a:extLst>
          </p:cNvPr>
          <p:cNvSpPr>
            <a:spLocks xmlns:a="http://schemas.openxmlformats.org/drawingml/2006/main" noGrp="1"/>
          </p:cNvSpPr>
          <p:nvPr/>
        </p:nvSpPr>
        <p:spPr>
          <a:xfrm xmlns:a="http://schemas.openxmlformats.org/drawingml/2006/main">
            <a:off x="3219450" y="209550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Co-owned contracts + architecture</a:t>
            </a:r>
          </a:p>
        </p:txBody>
      </p:sp>
      <p:sp>
        <p:nvSpPr>
          <p:cNvPr id="10" name="owner-cell-0-2">
            <a:extLst xmlns:a="http://schemas.openxmlformats.org/drawingml/2006/main">
              <a:ext uri="{FF2B5EF4-FFF2-40B4-BE49-F238E27FC236}">
                <a16:creationId xmlns:a16="http://schemas.microsoft.com/office/drawing/2014/main" id="{A776376A-2605-44B1-A633-FD6D518604B3}"/>
              </a:ext>
            </a:extLst>
          </p:cNvPr>
          <p:cNvSpPr>
            <a:spLocks xmlns:a="http://schemas.openxmlformats.org/drawingml/2006/main" noGrp="1"/>
          </p:cNvSpPr>
          <p:nvPr/>
        </p:nvSpPr>
        <p:spPr>
          <a:xfrm xmlns:a="http://schemas.openxmlformats.org/drawingml/2006/main">
            <a:off x="6953250" y="209550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ML scientist: retrieval/ranking judgment</a:t>
            </a:r>
          </a:p>
        </p:txBody>
      </p:sp>
      <p:sp>
        <p:nvSpPr>
          <p:cNvPr id="11" name="owner-cell-1-0">
            <a:extLst xmlns:a="http://schemas.openxmlformats.org/drawingml/2006/main">
              <a:ext uri="{FF2B5EF4-FFF2-40B4-BE49-F238E27FC236}">
                <a16:creationId xmlns:a16="http://schemas.microsoft.com/office/drawing/2014/main" id="{8C4048C7-54B4-4FD3-8319-F23BACA790B2}"/>
              </a:ext>
            </a:extLst>
          </p:cNvPr>
          <p:cNvSpPr>
            <a:spLocks xmlns:a="http://schemas.openxmlformats.org/drawingml/2006/main" noGrp="1"/>
          </p:cNvSpPr>
          <p:nvPr/>
        </p:nvSpPr>
        <p:spPr>
          <a:xfrm xmlns:a="http://schemas.openxmlformats.org/drawingml/2006/main">
            <a:off x="457200" y="272415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Data pipelines</a:t>
            </a:r>
          </a:p>
        </p:txBody>
      </p:sp>
      <p:sp>
        <p:nvSpPr>
          <p:cNvPr id="12" name="owner-cell-1-1">
            <a:extLst xmlns:a="http://schemas.openxmlformats.org/drawingml/2006/main">
              <a:ext uri="{FF2B5EF4-FFF2-40B4-BE49-F238E27FC236}">
                <a16:creationId xmlns:a16="http://schemas.microsoft.com/office/drawing/2014/main" id="{39BA2238-B7A9-48B3-9E0A-2B04177EA703}"/>
              </a:ext>
            </a:extLst>
          </p:cNvPr>
          <p:cNvSpPr>
            <a:spLocks xmlns:a="http://schemas.openxmlformats.org/drawingml/2006/main" noGrp="1"/>
          </p:cNvSpPr>
          <p:nvPr/>
        </p:nvSpPr>
        <p:spPr>
          <a:xfrm xmlns:a="http://schemas.openxmlformats.org/drawingml/2006/main">
            <a:off x="3219450" y="272415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Owned end to end</a:t>
            </a:r>
          </a:p>
        </p:txBody>
      </p:sp>
      <p:sp>
        <p:nvSpPr>
          <p:cNvPr id="13" name="owner-cell-1-2">
            <a:extLst xmlns:a="http://schemas.openxmlformats.org/drawingml/2006/main">
              <a:ext uri="{FF2B5EF4-FFF2-40B4-BE49-F238E27FC236}">
                <a16:creationId xmlns:a16="http://schemas.microsoft.com/office/drawing/2014/main" id="{6E2894AB-8C2A-4A3F-8A1D-C63F40B6278D}"/>
              </a:ext>
            </a:extLst>
          </p:cNvPr>
          <p:cNvSpPr>
            <a:spLocks xmlns:a="http://schemas.openxmlformats.org/drawingml/2006/main" noGrp="1"/>
          </p:cNvSpPr>
          <p:nvPr/>
        </p:nvSpPr>
        <p:spPr>
          <a:xfrm xmlns:a="http://schemas.openxmlformats.org/drawingml/2006/main">
            <a:off x="6953250" y="272415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Reviews + domain input</a:t>
            </a:r>
          </a:p>
        </p:txBody>
      </p:sp>
      <p:sp>
        <p:nvSpPr>
          <p:cNvPr id="14" name="owner-row-bg-2">
            <a:extLst xmlns:a="http://schemas.openxmlformats.org/drawingml/2006/main">
              <a:ext uri="{FF2B5EF4-FFF2-40B4-BE49-F238E27FC236}">
                <a16:creationId xmlns:a16="http://schemas.microsoft.com/office/drawing/2014/main" id="{04A2AB54-89C4-415F-A7FB-6826D7C8262D}"/>
              </a:ext>
            </a:extLst>
          </p:cNvPr>
          <p:cNvSpPr>
            <a:spLocks xmlns:a="http://schemas.openxmlformats.org/drawingml/2006/main" noGrp="1"/>
          </p:cNvSpPr>
          <p:nvPr/>
        </p:nvSpPr>
        <p:spPr>
          <a:xfrm xmlns:a="http://schemas.openxmlformats.org/drawingml/2006/main">
            <a:off x="419100" y="328612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5" name="owner-cell-2-0">
            <a:extLst xmlns:a="http://schemas.openxmlformats.org/drawingml/2006/main">
              <a:ext uri="{FF2B5EF4-FFF2-40B4-BE49-F238E27FC236}">
                <a16:creationId xmlns:a16="http://schemas.microsoft.com/office/drawing/2014/main" id="{AEFC142F-F0EF-4D60-9E0B-DAB8B9587035}"/>
              </a:ext>
            </a:extLst>
          </p:cNvPr>
          <p:cNvSpPr>
            <a:spLocks xmlns:a="http://schemas.openxmlformats.org/drawingml/2006/main" noGrp="1"/>
          </p:cNvSpPr>
          <p:nvPr/>
        </p:nvSpPr>
        <p:spPr>
          <a:xfrm xmlns:a="http://schemas.openxmlformats.org/drawingml/2006/main">
            <a:off x="457200" y="335280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Retrieval + ranking</a:t>
            </a:r>
          </a:p>
        </p:txBody>
      </p:sp>
      <p:sp>
        <p:nvSpPr>
          <p:cNvPr id="16" name="owner-cell-2-1">
            <a:extLst xmlns:a="http://schemas.openxmlformats.org/drawingml/2006/main">
              <a:ext uri="{FF2B5EF4-FFF2-40B4-BE49-F238E27FC236}">
                <a16:creationId xmlns:a16="http://schemas.microsoft.com/office/drawing/2014/main" id="{37A93999-0570-4A32-9028-1D0BB33C8FB7}"/>
              </a:ext>
            </a:extLst>
          </p:cNvPr>
          <p:cNvSpPr>
            <a:spLocks xmlns:a="http://schemas.openxmlformats.org/drawingml/2006/main" noGrp="1"/>
          </p:cNvSpPr>
          <p:nvPr/>
        </p:nvSpPr>
        <p:spPr>
          <a:xfrm xmlns:a="http://schemas.openxmlformats.org/drawingml/2006/main">
            <a:off x="3219450" y="335280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552"/>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Implemented most logic; co-designed</a:t>
            </a:r>
          </a:p>
        </p:txBody>
      </p:sp>
      <p:sp>
        <p:nvSpPr>
          <p:cNvPr id="17" name="owner-cell-2-2">
            <a:extLst xmlns:a="http://schemas.openxmlformats.org/drawingml/2006/main">
              <a:ext uri="{FF2B5EF4-FFF2-40B4-BE49-F238E27FC236}">
                <a16:creationId xmlns:a16="http://schemas.microsoft.com/office/drawing/2014/main" id="{0AAF3F8F-B6C8-4F8B-A92A-BD50701AAD28}"/>
              </a:ext>
            </a:extLst>
          </p:cNvPr>
          <p:cNvSpPr>
            <a:spLocks xmlns:a="http://schemas.openxmlformats.org/drawingml/2006/main" noGrp="1"/>
          </p:cNvSpPr>
          <p:nvPr/>
        </p:nvSpPr>
        <p:spPr>
          <a:xfrm xmlns:a="http://schemas.openxmlformats.org/drawingml/2006/main">
            <a:off x="6953250" y="335280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ML scientist: scoring + metric interpretation</a:t>
            </a:r>
          </a:p>
        </p:txBody>
      </p:sp>
      <p:sp>
        <p:nvSpPr>
          <p:cNvPr id="18" name="owner-cell-3-0">
            <a:extLst xmlns:a="http://schemas.openxmlformats.org/drawingml/2006/main">
              <a:ext uri="{FF2B5EF4-FFF2-40B4-BE49-F238E27FC236}">
                <a16:creationId xmlns:a16="http://schemas.microsoft.com/office/drawing/2014/main" id="{49AAA4C8-3DB2-4CB0-958A-3D55B88A9DAC}"/>
              </a:ext>
            </a:extLst>
          </p:cNvPr>
          <p:cNvSpPr>
            <a:spLocks xmlns:a="http://schemas.openxmlformats.org/drawingml/2006/main" noGrp="1"/>
          </p:cNvSpPr>
          <p:nvPr/>
        </p:nvSpPr>
        <p:spPr>
          <a:xfrm xmlns:a="http://schemas.openxmlformats.org/drawingml/2006/main">
            <a:off x="457200" y="398145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Serving + UI</a:t>
            </a:r>
          </a:p>
        </p:txBody>
      </p:sp>
      <p:sp>
        <p:nvSpPr>
          <p:cNvPr id="19" name="owner-cell-3-1">
            <a:extLst xmlns:a="http://schemas.openxmlformats.org/drawingml/2006/main">
              <a:ext uri="{FF2B5EF4-FFF2-40B4-BE49-F238E27FC236}">
                <a16:creationId xmlns:a16="http://schemas.microsoft.com/office/drawing/2014/main" id="{F2917DC3-8D4D-4D4D-9F69-E8D1D2BED5D4}"/>
              </a:ext>
            </a:extLst>
          </p:cNvPr>
          <p:cNvSpPr>
            <a:spLocks xmlns:a="http://schemas.openxmlformats.org/drawingml/2006/main" noGrp="1"/>
          </p:cNvSpPr>
          <p:nvPr/>
        </p:nvSpPr>
        <p:spPr>
          <a:xfrm xmlns:a="http://schemas.openxmlformats.org/drawingml/2006/main">
            <a:off x="3219450" y="398145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93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Implemented most backend + frontend</a:t>
            </a:r>
          </a:p>
        </p:txBody>
      </p:sp>
      <p:sp>
        <p:nvSpPr>
          <p:cNvPr id="20" name="owner-cell-3-2">
            <a:extLst xmlns:a="http://schemas.openxmlformats.org/drawingml/2006/main">
              <a:ext uri="{FF2B5EF4-FFF2-40B4-BE49-F238E27FC236}">
                <a16:creationId xmlns:a16="http://schemas.microsoft.com/office/drawing/2014/main" id="{5CF87F98-AE2A-4A79-AA7D-06B2D4BA1886}"/>
              </a:ext>
            </a:extLst>
          </p:cNvPr>
          <p:cNvSpPr>
            <a:spLocks xmlns:a="http://schemas.openxmlformats.org/drawingml/2006/main" noGrp="1"/>
          </p:cNvSpPr>
          <p:nvPr/>
        </p:nvSpPr>
        <p:spPr>
          <a:xfrm xmlns:a="http://schemas.openxmlformats.org/drawingml/2006/main">
            <a:off x="6953250" y="398145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Design specs + occasional engineering support</a:t>
            </a:r>
          </a:p>
        </p:txBody>
      </p:sp>
      <p:sp>
        <p:nvSpPr>
          <p:cNvPr id="21" name="owner-row-bg-4">
            <a:extLst xmlns:a="http://schemas.openxmlformats.org/drawingml/2006/main">
              <a:ext uri="{FF2B5EF4-FFF2-40B4-BE49-F238E27FC236}">
                <a16:creationId xmlns:a16="http://schemas.microsoft.com/office/drawing/2014/main" id="{959AC721-4AD0-418A-AF64-65B3B2C14E4D}"/>
              </a:ext>
            </a:extLst>
          </p:cNvPr>
          <p:cNvSpPr>
            <a:spLocks xmlns:a="http://schemas.openxmlformats.org/drawingml/2006/main" noGrp="1"/>
          </p:cNvSpPr>
          <p:nvPr/>
        </p:nvSpPr>
        <p:spPr>
          <a:xfrm xmlns:a="http://schemas.openxmlformats.org/drawingml/2006/main">
            <a:off x="419100" y="454342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22" name="owner-cell-4-0">
            <a:extLst xmlns:a="http://schemas.openxmlformats.org/drawingml/2006/main">
              <a:ext uri="{FF2B5EF4-FFF2-40B4-BE49-F238E27FC236}">
                <a16:creationId xmlns:a16="http://schemas.microsoft.com/office/drawing/2014/main" id="{1B9A7DFC-BA8F-4923-9C99-DC13C1B675BC}"/>
              </a:ext>
            </a:extLst>
          </p:cNvPr>
          <p:cNvSpPr>
            <a:spLocks xmlns:a="http://schemas.openxmlformats.org/drawingml/2006/main" noGrp="1"/>
          </p:cNvSpPr>
          <p:nvPr/>
        </p:nvSpPr>
        <p:spPr>
          <a:xfrm xmlns:a="http://schemas.openxmlformats.org/drawingml/2006/main">
            <a:off x="457200" y="461010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Experiments</a:t>
            </a:r>
          </a:p>
        </p:txBody>
      </p:sp>
      <p:sp>
        <p:nvSpPr>
          <p:cNvPr id="23" name="owner-cell-4-1">
            <a:extLst xmlns:a="http://schemas.openxmlformats.org/drawingml/2006/main">
              <a:ext uri="{FF2B5EF4-FFF2-40B4-BE49-F238E27FC236}">
                <a16:creationId xmlns:a16="http://schemas.microsoft.com/office/drawing/2014/main" id="{C987B222-CCED-4425-ADA9-DD3EAD2EAEA4}"/>
              </a:ext>
            </a:extLst>
          </p:cNvPr>
          <p:cNvSpPr>
            <a:spLocks xmlns:a="http://schemas.openxmlformats.org/drawingml/2006/main" noGrp="1"/>
          </p:cNvSpPr>
          <p:nvPr/>
        </p:nvSpPr>
        <p:spPr>
          <a:xfrm xmlns:a="http://schemas.openxmlformats.org/drawingml/2006/main">
            <a:off x="3219450" y="461010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57"/>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Co-owned setup, instrumentation, readout</a:t>
            </a:r>
          </a:p>
        </p:txBody>
      </p:sp>
      <p:sp>
        <p:nvSpPr>
          <p:cNvPr id="24" name="owner-cell-4-2">
            <a:extLst xmlns:a="http://schemas.openxmlformats.org/drawingml/2006/main">
              <a:ext uri="{FF2B5EF4-FFF2-40B4-BE49-F238E27FC236}">
                <a16:creationId xmlns:a16="http://schemas.microsoft.com/office/drawing/2014/main" id="{D3128A63-45B5-498C-B169-E9240E18DFAD}"/>
              </a:ext>
            </a:extLst>
          </p:cNvPr>
          <p:cNvSpPr>
            <a:spLocks xmlns:a="http://schemas.openxmlformats.org/drawingml/2006/main" noGrp="1"/>
          </p:cNvSpPr>
          <p:nvPr/>
        </p:nvSpPr>
        <p:spPr>
          <a:xfrm xmlns:a="http://schemas.openxmlformats.org/drawingml/2006/main">
            <a:off x="6953250" y="461010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ML + data scientists: analysis</a:t>
            </a:r>
          </a:p>
        </p:txBody>
      </p:sp>
      <p:sp>
        <p:nvSpPr>
          <p:cNvPr id="25" name="owner-cell-5-0">
            <a:extLst xmlns:a="http://schemas.openxmlformats.org/drawingml/2006/main">
              <a:ext uri="{FF2B5EF4-FFF2-40B4-BE49-F238E27FC236}">
                <a16:creationId xmlns:a16="http://schemas.microsoft.com/office/drawing/2014/main" id="{81544F82-0C1F-436A-9BF6-4347F1A1C89B}"/>
              </a:ext>
            </a:extLst>
          </p:cNvPr>
          <p:cNvSpPr>
            <a:spLocks xmlns:a="http://schemas.openxmlformats.org/drawingml/2006/main" noGrp="1"/>
          </p:cNvSpPr>
          <p:nvPr/>
        </p:nvSpPr>
        <p:spPr>
          <a:xfrm xmlns:a="http://schemas.openxmlformats.org/drawingml/2006/main">
            <a:off x="457200" y="5238750"/>
            <a:ext cx="257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Rollout + health</a:t>
            </a:r>
          </a:p>
        </p:txBody>
      </p:sp>
      <p:sp>
        <p:nvSpPr>
          <p:cNvPr id="26" name="owner-cell-5-1">
            <a:extLst xmlns:a="http://schemas.openxmlformats.org/drawingml/2006/main">
              <a:ext uri="{FF2B5EF4-FFF2-40B4-BE49-F238E27FC236}">
                <a16:creationId xmlns:a16="http://schemas.microsoft.com/office/drawing/2014/main" id="{1274AAAE-CC9F-4906-974A-42C47E0BE077}"/>
              </a:ext>
            </a:extLst>
          </p:cNvPr>
          <p:cNvSpPr>
            <a:spLocks xmlns:a="http://schemas.openxmlformats.org/drawingml/2006/main" noGrp="1"/>
          </p:cNvSpPr>
          <p:nvPr/>
        </p:nvSpPr>
        <p:spPr>
          <a:xfrm xmlns:a="http://schemas.openxmlformats.org/drawingml/2006/main">
            <a:off x="3219450" y="5238750"/>
            <a:ext cx="35433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Owned staging, launch, monitoring</a:t>
            </a:r>
          </a:p>
        </p:txBody>
      </p:sp>
      <p:sp>
        <p:nvSpPr>
          <p:cNvPr id="27" name="owner-cell-5-2">
            <a:extLst xmlns:a="http://schemas.openxmlformats.org/drawingml/2006/main">
              <a:ext uri="{FF2B5EF4-FFF2-40B4-BE49-F238E27FC236}">
                <a16:creationId xmlns:a16="http://schemas.microsoft.com/office/drawing/2014/main" id="{F1EE89B1-A424-49D4-99D6-ADC07A269F91}"/>
              </a:ext>
            </a:extLst>
          </p:cNvPr>
          <p:cNvSpPr>
            <a:spLocks xmlns:a="http://schemas.openxmlformats.org/drawingml/2006/main" noGrp="1"/>
          </p:cNvSpPr>
          <p:nvPr/>
        </p:nvSpPr>
        <p:spPr>
          <a:xfrm xmlns:a="http://schemas.openxmlformats.org/drawingml/2006/main">
            <a:off x="6953250" y="5238750"/>
            <a:ext cx="47053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Team reviewed launch decisions</a:t>
            </a:r>
          </a:p>
        </p:txBody>
      </p:sp>
    </p:spTree>
    <p:extLst>
      <p:ext uri="{BB962C8B-B14F-4D97-AF65-F5344CB8AC3E}">
        <p14:creationId xmlns:p14="http://schemas.microsoft.com/office/powerpoint/2010/main" val="9691748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eyebrow">
            <a:extLst xmlns:a="http://schemas.openxmlformats.org/drawingml/2006/main">
              <a:ext uri="{FF2B5EF4-FFF2-40B4-BE49-F238E27FC236}">
                <a16:creationId xmlns:a16="http://schemas.microsoft.com/office/drawing/2014/main" id="{40C2E0B7-D381-4AFB-B88F-5B39EEB70629}"/>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TECHNICAL APPENDIX</a:t>
            </a:r>
          </a:p>
        </p:txBody>
      </p:sp>
      <p:sp>
        <p:nvSpPr>
          <p:cNvPr id="2" name="slide-title">
            <a:extLst xmlns:a="http://schemas.openxmlformats.org/drawingml/2006/main">
              <a:ext uri="{FF2B5EF4-FFF2-40B4-BE49-F238E27FC236}">
                <a16:creationId xmlns:a16="http://schemas.microsoft.com/office/drawing/2014/main" id="{C5B2361D-A840-4549-A1B5-0BF7C4E57ADA}"/>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Three feeds, three semantics</a:t>
            </a:r>
          </a:p>
        </p:txBody>
      </p:sp>
      <p:sp>
        <p:nvSpPr>
          <p:cNvPr id="3" name="page-number">
            <a:extLst xmlns:a="http://schemas.openxmlformats.org/drawingml/2006/main">
              <a:ext uri="{FF2B5EF4-FFF2-40B4-BE49-F238E27FC236}">
                <a16:creationId xmlns:a16="http://schemas.microsoft.com/office/drawing/2014/main" id="{184C76E1-5B46-4048-88EC-9D45E247F46B}"/>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A2</a:t>
            </a:r>
          </a:p>
        </p:txBody>
      </p:sp>
      <p:sp>
        <p:nvSpPr>
          <p:cNvPr id="4" name="feed-table-head-0">
            <a:extLst xmlns:a="http://schemas.openxmlformats.org/drawingml/2006/main">
              <a:ext uri="{FF2B5EF4-FFF2-40B4-BE49-F238E27FC236}">
                <a16:creationId xmlns:a16="http://schemas.microsoft.com/office/drawing/2014/main" id="{D1825833-F9E2-48E3-A6F9-F695AFA86F2B}"/>
              </a:ext>
            </a:extLst>
          </p:cNvPr>
          <p:cNvSpPr>
            <a:spLocks xmlns:a="http://schemas.openxmlformats.org/drawingml/2006/main" noGrp="1"/>
          </p:cNvSpPr>
          <p:nvPr/>
        </p:nvSpPr>
        <p:spPr>
          <a:xfrm xmlns:a="http://schemas.openxmlformats.org/drawingml/2006/main">
            <a:off x="457200" y="14287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i="0">
                <a:solidFill>
                  <a:srgbClr val="5C6470"/>
                </a:solidFill>
                <a:latin typeface="Helvetica Neue"/>
                <a:ea typeface="Helvetica Neue"/>
                <a:cs typeface="Helvetica Neue"/>
              </a:defRPr>
            </a:pPr>
            <a:r>
              <a:rPr sz="1575" b="1" i="0">
                <a:solidFill>
                  <a:srgbClr val="5C6470"/>
                </a:solidFill>
                <a:latin typeface="Helvetica Neue"/>
                <a:ea typeface="Helvetica Neue"/>
                <a:cs typeface="Helvetica Neue"/>
              </a:rPr>
              <a:t>Dimension</a:t>
            </a:r>
          </a:p>
        </p:txBody>
      </p:sp>
      <p:sp>
        <p:nvSpPr>
          <p:cNvPr id="5" name="feed-table-head-1">
            <a:extLst xmlns:a="http://schemas.openxmlformats.org/drawingml/2006/main">
              <a:ext uri="{FF2B5EF4-FFF2-40B4-BE49-F238E27FC236}">
                <a16:creationId xmlns:a16="http://schemas.microsoft.com/office/drawing/2014/main" id="{2E22FCAB-A44D-4DE8-8AF3-1579E5D133F1}"/>
              </a:ext>
            </a:extLst>
          </p:cNvPr>
          <p:cNvSpPr>
            <a:spLocks xmlns:a="http://schemas.openxmlformats.org/drawingml/2006/main" noGrp="1"/>
          </p:cNvSpPr>
          <p:nvPr/>
        </p:nvSpPr>
        <p:spPr>
          <a:xfrm xmlns:a="http://schemas.openxmlformats.org/drawingml/2006/main">
            <a:off x="3067050" y="1428750"/>
            <a:ext cx="2714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For You</a:t>
            </a:r>
          </a:p>
        </p:txBody>
      </p:sp>
      <p:sp>
        <p:nvSpPr>
          <p:cNvPr id="6" name="feed-table-head-2">
            <a:extLst xmlns:a="http://schemas.openxmlformats.org/drawingml/2006/main">
              <a:ext uri="{FF2B5EF4-FFF2-40B4-BE49-F238E27FC236}">
                <a16:creationId xmlns:a16="http://schemas.microsoft.com/office/drawing/2014/main" id="{DE7384FA-61A4-42EE-A01B-39A9980C3149}"/>
              </a:ext>
            </a:extLst>
          </p:cNvPr>
          <p:cNvSpPr>
            <a:spLocks xmlns:a="http://schemas.openxmlformats.org/drawingml/2006/main" noGrp="1"/>
          </p:cNvSpPr>
          <p:nvPr/>
        </p:nvSpPr>
        <p:spPr>
          <a:xfrm xmlns:a="http://schemas.openxmlformats.org/drawingml/2006/main">
            <a:off x="6000750" y="1428750"/>
            <a:ext cx="26384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Because You Create</a:t>
            </a:r>
          </a:p>
        </p:txBody>
      </p:sp>
      <p:sp>
        <p:nvSpPr>
          <p:cNvPr id="7" name="feed-table-head-3">
            <a:extLst xmlns:a="http://schemas.openxmlformats.org/drawingml/2006/main">
              <a:ext uri="{FF2B5EF4-FFF2-40B4-BE49-F238E27FC236}">
                <a16:creationId xmlns:a16="http://schemas.microsoft.com/office/drawing/2014/main" id="{12CA224F-188F-4BFB-873C-DDA9DE9D9669}"/>
              </a:ext>
            </a:extLst>
          </p:cNvPr>
          <p:cNvSpPr>
            <a:spLocks xmlns:a="http://schemas.openxmlformats.org/drawingml/2006/main" noGrp="1"/>
          </p:cNvSpPr>
          <p:nvPr/>
        </p:nvSpPr>
        <p:spPr>
          <a:xfrm xmlns:a="http://schemas.openxmlformats.org/drawingml/2006/main">
            <a:off x="8858250" y="1428750"/>
            <a:ext cx="2800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Creators You May Like</a:t>
            </a:r>
          </a:p>
        </p:txBody>
      </p:sp>
      <p:sp>
        <p:nvSpPr>
          <p:cNvPr id="8" name="feed-table-bg-0">
            <a:extLst xmlns:a="http://schemas.openxmlformats.org/drawingml/2006/main">
              <a:ext uri="{FF2B5EF4-FFF2-40B4-BE49-F238E27FC236}">
                <a16:creationId xmlns:a16="http://schemas.microsoft.com/office/drawing/2014/main" id="{6057BF1D-CF2E-4CC8-9AFD-FCAA028E8B1B}"/>
              </a:ext>
            </a:extLst>
          </p:cNvPr>
          <p:cNvSpPr>
            <a:spLocks xmlns:a="http://schemas.openxmlformats.org/drawingml/2006/main" noGrp="1"/>
          </p:cNvSpPr>
          <p:nvPr/>
        </p:nvSpPr>
        <p:spPr>
          <a:xfrm xmlns:a="http://schemas.openxmlformats.org/drawingml/2006/main">
            <a:off x="419100" y="206692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9" name="feed-table-cell-0-0">
            <a:extLst xmlns:a="http://schemas.openxmlformats.org/drawingml/2006/main">
              <a:ext uri="{FF2B5EF4-FFF2-40B4-BE49-F238E27FC236}">
                <a16:creationId xmlns:a16="http://schemas.microsoft.com/office/drawing/2014/main" id="{ABC7299F-BA32-47F4-8343-E4B3B566DCEE}"/>
              </a:ext>
            </a:extLst>
          </p:cNvPr>
          <p:cNvSpPr>
            <a:spLocks xmlns:a="http://schemas.openxmlformats.org/drawingml/2006/main" noGrp="1"/>
          </p:cNvSpPr>
          <p:nvPr/>
        </p:nvSpPr>
        <p:spPr>
          <a:xfrm xmlns:a="http://schemas.openxmlformats.org/drawingml/2006/main">
            <a:off x="457200" y="21431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Entity</a:t>
            </a:r>
          </a:p>
        </p:txBody>
      </p:sp>
      <p:sp>
        <p:nvSpPr>
          <p:cNvPr id="10" name="feed-table-cell-0-1">
            <a:extLst xmlns:a="http://schemas.openxmlformats.org/drawingml/2006/main">
              <a:ext uri="{FF2B5EF4-FFF2-40B4-BE49-F238E27FC236}">
                <a16:creationId xmlns:a16="http://schemas.microsoft.com/office/drawing/2014/main" id="{42C8D085-2D42-40CF-B07D-98D50650C6E7}"/>
              </a:ext>
            </a:extLst>
          </p:cNvPr>
          <p:cNvSpPr>
            <a:spLocks xmlns:a="http://schemas.openxmlformats.org/drawingml/2006/main" noGrp="1"/>
          </p:cNvSpPr>
          <p:nvPr/>
        </p:nvSpPr>
        <p:spPr>
          <a:xfrm xmlns:a="http://schemas.openxmlformats.org/drawingml/2006/main">
            <a:off x="3067050" y="2143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Song</a:t>
            </a:r>
          </a:p>
        </p:txBody>
      </p:sp>
      <p:sp>
        <p:nvSpPr>
          <p:cNvPr id="11" name="feed-table-cell-0-2">
            <a:extLst xmlns:a="http://schemas.openxmlformats.org/drawingml/2006/main">
              <a:ext uri="{FF2B5EF4-FFF2-40B4-BE49-F238E27FC236}">
                <a16:creationId xmlns:a16="http://schemas.microsoft.com/office/drawing/2014/main" id="{288555B1-C375-49FF-85DA-8059E8D5B45A}"/>
              </a:ext>
            </a:extLst>
          </p:cNvPr>
          <p:cNvSpPr>
            <a:spLocks xmlns:a="http://schemas.openxmlformats.org/drawingml/2006/main" noGrp="1"/>
          </p:cNvSpPr>
          <p:nvPr/>
        </p:nvSpPr>
        <p:spPr>
          <a:xfrm xmlns:a="http://schemas.openxmlformats.org/drawingml/2006/main">
            <a:off x="6000750" y="2143125"/>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Song</a:t>
            </a:r>
          </a:p>
        </p:txBody>
      </p:sp>
      <p:sp>
        <p:nvSpPr>
          <p:cNvPr id="12" name="feed-table-cell-0-3">
            <a:extLst xmlns:a="http://schemas.openxmlformats.org/drawingml/2006/main">
              <a:ext uri="{FF2B5EF4-FFF2-40B4-BE49-F238E27FC236}">
                <a16:creationId xmlns:a16="http://schemas.microsoft.com/office/drawing/2014/main" id="{F63ACCC8-266E-41AF-96AB-AA2C1A185781}"/>
              </a:ext>
            </a:extLst>
          </p:cNvPr>
          <p:cNvSpPr>
            <a:spLocks xmlns:a="http://schemas.openxmlformats.org/drawingml/2006/main" noGrp="1"/>
          </p:cNvSpPr>
          <p:nvPr/>
        </p:nvSpPr>
        <p:spPr>
          <a:xfrm xmlns:a="http://schemas.openxmlformats.org/drawingml/2006/main">
            <a:off x="8858250" y="2143125"/>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Creator</a:t>
            </a:r>
          </a:p>
        </p:txBody>
      </p:sp>
      <p:sp>
        <p:nvSpPr>
          <p:cNvPr id="13" name="feed-table-cell-1-0">
            <a:extLst xmlns:a="http://schemas.openxmlformats.org/drawingml/2006/main">
              <a:ext uri="{FF2B5EF4-FFF2-40B4-BE49-F238E27FC236}">
                <a16:creationId xmlns:a16="http://schemas.microsoft.com/office/drawing/2014/main" id="{3CF0E17A-1F65-41F6-A277-3A829E57F695}"/>
              </a:ext>
            </a:extLst>
          </p:cNvPr>
          <p:cNvSpPr>
            <a:spLocks xmlns:a="http://schemas.openxmlformats.org/drawingml/2006/main" noGrp="1"/>
          </p:cNvSpPr>
          <p:nvPr/>
        </p:nvSpPr>
        <p:spPr>
          <a:xfrm xmlns:a="http://schemas.openxmlformats.org/drawingml/2006/main">
            <a:off x="457200" y="27813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Core input</a:t>
            </a:r>
          </a:p>
        </p:txBody>
      </p:sp>
      <p:sp>
        <p:nvSpPr>
          <p:cNvPr id="14" name="feed-table-cell-1-1">
            <a:extLst xmlns:a="http://schemas.openxmlformats.org/drawingml/2006/main">
              <a:ext uri="{FF2B5EF4-FFF2-40B4-BE49-F238E27FC236}">
                <a16:creationId xmlns:a16="http://schemas.microsoft.com/office/drawing/2014/main" id="{8951EBB3-6DD8-4E1F-9BAC-FC94EBD2088D}"/>
              </a:ext>
            </a:extLst>
          </p:cNvPr>
          <p:cNvSpPr>
            <a:spLocks xmlns:a="http://schemas.openxmlformats.org/drawingml/2006/main" noGrp="1"/>
          </p:cNvSpPr>
          <p:nvPr/>
        </p:nvSpPr>
        <p:spPr>
          <a:xfrm xmlns:a="http://schemas.openxmlformats.org/drawingml/2006/main">
            <a:off x="3067050" y="2781300"/>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Mixed behavior</a:t>
            </a:r>
          </a:p>
        </p:txBody>
      </p:sp>
      <p:sp>
        <p:nvSpPr>
          <p:cNvPr id="15" name="feed-table-cell-1-2">
            <a:extLst xmlns:a="http://schemas.openxmlformats.org/drawingml/2006/main">
              <a:ext uri="{FF2B5EF4-FFF2-40B4-BE49-F238E27FC236}">
                <a16:creationId xmlns:a16="http://schemas.microsoft.com/office/drawing/2014/main" id="{49FE6CC1-0585-4340-8B55-118DF7FB2C13}"/>
              </a:ext>
            </a:extLst>
          </p:cNvPr>
          <p:cNvSpPr>
            <a:spLocks xmlns:a="http://schemas.openxmlformats.org/drawingml/2006/main" noGrp="1"/>
          </p:cNvSpPr>
          <p:nvPr/>
        </p:nvSpPr>
        <p:spPr>
          <a:xfrm xmlns:a="http://schemas.openxmlformats.org/drawingml/2006/main">
            <a:off x="6000750" y="2781300"/>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One strong own creation</a:t>
            </a:r>
          </a:p>
        </p:txBody>
      </p:sp>
      <p:sp>
        <p:nvSpPr>
          <p:cNvPr id="16" name="feed-table-cell-1-3">
            <a:extLst xmlns:a="http://schemas.openxmlformats.org/drawingml/2006/main">
              <a:ext uri="{FF2B5EF4-FFF2-40B4-BE49-F238E27FC236}">
                <a16:creationId xmlns:a16="http://schemas.microsoft.com/office/drawing/2014/main" id="{ADA7857B-7218-44E6-97C2-5635B1E4A35A}"/>
              </a:ext>
            </a:extLst>
          </p:cNvPr>
          <p:cNvSpPr>
            <a:spLocks xmlns:a="http://schemas.openxmlformats.org/drawingml/2006/main" noGrp="1"/>
          </p:cNvSpPr>
          <p:nvPr/>
        </p:nvSpPr>
        <p:spPr>
          <a:xfrm xmlns:a="http://schemas.openxmlformats.org/drawingml/2006/main">
            <a:off x="8858250" y="2781300"/>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Listening + creation profile</a:t>
            </a:r>
          </a:p>
        </p:txBody>
      </p:sp>
      <p:sp>
        <p:nvSpPr>
          <p:cNvPr id="17" name="feed-table-bg-2">
            <a:extLst xmlns:a="http://schemas.openxmlformats.org/drawingml/2006/main">
              <a:ext uri="{FF2B5EF4-FFF2-40B4-BE49-F238E27FC236}">
                <a16:creationId xmlns:a16="http://schemas.microsoft.com/office/drawing/2014/main" id="{401D32B8-3233-44AF-B00D-8E8EBDF35E36}"/>
              </a:ext>
            </a:extLst>
          </p:cNvPr>
          <p:cNvSpPr>
            <a:spLocks xmlns:a="http://schemas.openxmlformats.org/drawingml/2006/main" noGrp="1"/>
          </p:cNvSpPr>
          <p:nvPr/>
        </p:nvSpPr>
        <p:spPr>
          <a:xfrm xmlns:a="http://schemas.openxmlformats.org/drawingml/2006/main">
            <a:off x="419100" y="334327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8" name="feed-table-cell-2-0">
            <a:extLst xmlns:a="http://schemas.openxmlformats.org/drawingml/2006/main">
              <a:ext uri="{FF2B5EF4-FFF2-40B4-BE49-F238E27FC236}">
                <a16:creationId xmlns:a16="http://schemas.microsoft.com/office/drawing/2014/main" id="{24935C7A-A7C3-423D-BF20-41D9890EDBFA}"/>
              </a:ext>
            </a:extLst>
          </p:cNvPr>
          <p:cNvSpPr>
            <a:spLocks xmlns:a="http://schemas.openxmlformats.org/drawingml/2006/main" noGrp="1"/>
          </p:cNvSpPr>
          <p:nvPr/>
        </p:nvSpPr>
        <p:spPr>
          <a:xfrm xmlns:a="http://schemas.openxmlformats.org/drawingml/2006/main">
            <a:off x="457200" y="341947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Retrieval</a:t>
            </a:r>
          </a:p>
        </p:txBody>
      </p:sp>
      <p:sp>
        <p:nvSpPr>
          <p:cNvPr id="19" name="feed-table-cell-2-1">
            <a:extLst xmlns:a="http://schemas.openxmlformats.org/drawingml/2006/main">
              <a:ext uri="{FF2B5EF4-FFF2-40B4-BE49-F238E27FC236}">
                <a16:creationId xmlns:a16="http://schemas.microsoft.com/office/drawing/2014/main" id="{11A6ABBE-DB9F-4D4B-A61B-965A6A5E629A}"/>
              </a:ext>
            </a:extLst>
          </p:cNvPr>
          <p:cNvSpPr>
            <a:spLocks xmlns:a="http://schemas.openxmlformats.org/drawingml/2006/main" noGrp="1"/>
          </p:cNvSpPr>
          <p:nvPr/>
        </p:nvSpPr>
        <p:spPr>
          <a:xfrm xmlns:a="http://schemas.openxmlformats.org/drawingml/2006/main">
            <a:off x="3067050" y="341947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Audio + personal buckets</a:t>
            </a:r>
          </a:p>
        </p:txBody>
      </p:sp>
      <p:sp>
        <p:nvSpPr>
          <p:cNvPr id="20" name="feed-table-cell-2-2">
            <a:extLst xmlns:a="http://schemas.openxmlformats.org/drawingml/2006/main">
              <a:ext uri="{FF2B5EF4-FFF2-40B4-BE49-F238E27FC236}">
                <a16:creationId xmlns:a16="http://schemas.microsoft.com/office/drawing/2014/main" id="{77931D8C-3F36-40D5-87B9-431007F0ADE4}"/>
              </a:ext>
            </a:extLst>
          </p:cNvPr>
          <p:cNvSpPr>
            <a:spLocks xmlns:a="http://schemas.openxmlformats.org/drawingml/2006/main" noGrp="1"/>
          </p:cNvSpPr>
          <p:nvPr/>
        </p:nvSpPr>
        <p:spPr>
          <a:xfrm xmlns:a="http://schemas.openxmlformats.org/drawingml/2006/main">
            <a:off x="6000750" y="3419475"/>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Audio similarity</a:t>
            </a:r>
          </a:p>
        </p:txBody>
      </p:sp>
      <p:sp>
        <p:nvSpPr>
          <p:cNvPr id="21" name="feed-table-cell-2-3">
            <a:extLst xmlns:a="http://schemas.openxmlformats.org/drawingml/2006/main">
              <a:ext uri="{FF2B5EF4-FFF2-40B4-BE49-F238E27FC236}">
                <a16:creationId xmlns:a16="http://schemas.microsoft.com/office/drawing/2014/main" id="{7329541F-CEF6-4F02-A11C-F76A27F789FF}"/>
              </a:ext>
            </a:extLst>
          </p:cNvPr>
          <p:cNvSpPr>
            <a:spLocks xmlns:a="http://schemas.openxmlformats.org/drawingml/2006/main" noGrp="1"/>
          </p:cNvSpPr>
          <p:nvPr/>
        </p:nvSpPr>
        <p:spPr>
          <a:xfrm xmlns:a="http://schemas.openxmlformats.org/drawingml/2006/main">
            <a:off x="8858250" y="3419475"/>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Profile similarity</a:t>
            </a:r>
          </a:p>
        </p:txBody>
      </p:sp>
      <p:sp>
        <p:nvSpPr>
          <p:cNvPr id="22" name="feed-table-cell-3-0">
            <a:extLst xmlns:a="http://schemas.openxmlformats.org/drawingml/2006/main">
              <a:ext uri="{FF2B5EF4-FFF2-40B4-BE49-F238E27FC236}">
                <a16:creationId xmlns:a16="http://schemas.microsoft.com/office/drawing/2014/main" id="{859D7C8F-7560-4C7F-A65D-99D556BB4389}"/>
              </a:ext>
            </a:extLst>
          </p:cNvPr>
          <p:cNvSpPr>
            <a:spLocks xmlns:a="http://schemas.openxmlformats.org/drawingml/2006/main" noGrp="1"/>
          </p:cNvSpPr>
          <p:nvPr/>
        </p:nvSpPr>
        <p:spPr>
          <a:xfrm xmlns:a="http://schemas.openxmlformats.org/drawingml/2006/main">
            <a:off x="457200" y="40576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Assembly</a:t>
            </a:r>
          </a:p>
        </p:txBody>
      </p:sp>
      <p:sp>
        <p:nvSpPr>
          <p:cNvPr id="23" name="feed-table-cell-3-1">
            <a:extLst xmlns:a="http://schemas.openxmlformats.org/drawingml/2006/main">
              <a:ext uri="{FF2B5EF4-FFF2-40B4-BE49-F238E27FC236}">
                <a16:creationId xmlns:a16="http://schemas.microsoft.com/office/drawing/2014/main" id="{8390158D-6CF8-48B9-AA7D-EA370AA8B945}"/>
              </a:ext>
            </a:extLst>
          </p:cNvPr>
          <p:cNvSpPr>
            <a:spLocks xmlns:a="http://schemas.openxmlformats.org/drawingml/2006/main" noGrp="1"/>
          </p:cNvSpPr>
          <p:nvPr/>
        </p:nvSpPr>
        <p:spPr>
          <a:xfrm xmlns:a="http://schemas.openxmlformats.org/drawingml/2006/main">
            <a:off x="3067050" y="4057650"/>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Multi-signal slots</a:t>
            </a:r>
          </a:p>
        </p:txBody>
      </p:sp>
      <p:sp>
        <p:nvSpPr>
          <p:cNvPr id="24" name="feed-table-cell-3-2">
            <a:extLst xmlns:a="http://schemas.openxmlformats.org/drawingml/2006/main">
              <a:ext uri="{FF2B5EF4-FFF2-40B4-BE49-F238E27FC236}">
                <a16:creationId xmlns:a16="http://schemas.microsoft.com/office/drawing/2014/main" id="{5E00B11E-C039-462F-8C4C-3BEBE9B03700}"/>
              </a:ext>
            </a:extLst>
          </p:cNvPr>
          <p:cNvSpPr>
            <a:spLocks xmlns:a="http://schemas.openxmlformats.org/drawingml/2006/main" noGrp="1"/>
          </p:cNvSpPr>
          <p:nvPr/>
        </p:nvSpPr>
        <p:spPr>
          <a:xfrm xmlns:a="http://schemas.openxmlformats.org/drawingml/2006/main">
            <a:off x="6000750" y="4057650"/>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Anchor, then neighbors</a:t>
            </a:r>
          </a:p>
        </p:txBody>
      </p:sp>
      <p:sp>
        <p:nvSpPr>
          <p:cNvPr id="25" name="feed-table-cell-3-3">
            <a:extLst xmlns:a="http://schemas.openxmlformats.org/drawingml/2006/main">
              <a:ext uri="{FF2B5EF4-FFF2-40B4-BE49-F238E27FC236}">
                <a16:creationId xmlns:a16="http://schemas.microsoft.com/office/drawing/2014/main" id="{CF80C030-0A6B-45B6-8767-EED73CD3BEF2}"/>
              </a:ext>
            </a:extLst>
          </p:cNvPr>
          <p:cNvSpPr>
            <a:spLocks xmlns:a="http://schemas.openxmlformats.org/drawingml/2006/main" noGrp="1"/>
          </p:cNvSpPr>
          <p:nvPr/>
        </p:nvSpPr>
        <p:spPr>
          <a:xfrm xmlns:a="http://schemas.openxmlformats.org/drawingml/2006/main">
            <a:off x="8858250" y="4057650"/>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Ranked creators</a:t>
            </a:r>
          </a:p>
        </p:txBody>
      </p:sp>
      <p:sp>
        <p:nvSpPr>
          <p:cNvPr id="26" name="feed-table-bg-4">
            <a:extLst xmlns:a="http://schemas.openxmlformats.org/drawingml/2006/main">
              <a:ext uri="{FF2B5EF4-FFF2-40B4-BE49-F238E27FC236}">
                <a16:creationId xmlns:a16="http://schemas.microsoft.com/office/drawing/2014/main" id="{FD14F82B-7040-423C-9DB2-A297D4AD2BA8}"/>
              </a:ext>
            </a:extLst>
          </p:cNvPr>
          <p:cNvSpPr>
            <a:spLocks xmlns:a="http://schemas.openxmlformats.org/drawingml/2006/main" noGrp="1"/>
          </p:cNvSpPr>
          <p:nvPr/>
        </p:nvSpPr>
        <p:spPr>
          <a:xfrm xmlns:a="http://schemas.openxmlformats.org/drawingml/2006/main">
            <a:off x="419100" y="4619625"/>
            <a:ext cx="11277600" cy="5524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27" name="feed-table-cell-4-0">
            <a:extLst xmlns:a="http://schemas.openxmlformats.org/drawingml/2006/main">
              <a:ext uri="{FF2B5EF4-FFF2-40B4-BE49-F238E27FC236}">
                <a16:creationId xmlns:a16="http://schemas.microsoft.com/office/drawing/2014/main" id="{FA755683-D30F-4CD0-A60E-8C1D63F49CCA}"/>
              </a:ext>
            </a:extLst>
          </p:cNvPr>
          <p:cNvSpPr>
            <a:spLocks xmlns:a="http://schemas.openxmlformats.org/drawingml/2006/main" noGrp="1"/>
          </p:cNvSpPr>
          <p:nvPr/>
        </p:nvSpPr>
        <p:spPr>
          <a:xfrm xmlns:a="http://schemas.openxmlformats.org/drawingml/2006/main">
            <a:off x="457200" y="469582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Cold start</a:t>
            </a:r>
          </a:p>
        </p:txBody>
      </p:sp>
      <p:sp>
        <p:nvSpPr>
          <p:cNvPr id="28" name="feed-table-cell-4-1">
            <a:extLst xmlns:a="http://schemas.openxmlformats.org/drawingml/2006/main">
              <a:ext uri="{FF2B5EF4-FFF2-40B4-BE49-F238E27FC236}">
                <a16:creationId xmlns:a16="http://schemas.microsoft.com/office/drawing/2014/main" id="{246758AC-D34A-4F6E-828F-64D889B3416F}"/>
              </a:ext>
            </a:extLst>
          </p:cNvPr>
          <p:cNvSpPr>
            <a:spLocks xmlns:a="http://schemas.openxmlformats.org/drawingml/2006/main" noGrp="1"/>
          </p:cNvSpPr>
          <p:nvPr/>
        </p:nvSpPr>
        <p:spPr>
          <a:xfrm xmlns:a="http://schemas.openxmlformats.org/drawingml/2006/main">
            <a:off x="3067050" y="46958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25"/>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Personal → local/global trends</a:t>
            </a:r>
          </a:p>
        </p:txBody>
      </p:sp>
      <p:sp>
        <p:nvSpPr>
          <p:cNvPr id="29" name="feed-table-cell-4-2">
            <a:extLst xmlns:a="http://schemas.openxmlformats.org/drawingml/2006/main">
              <a:ext uri="{FF2B5EF4-FFF2-40B4-BE49-F238E27FC236}">
                <a16:creationId xmlns:a16="http://schemas.microsoft.com/office/drawing/2014/main" id="{A6AC01ED-5E02-4B59-97D3-630B1E17B178}"/>
              </a:ext>
            </a:extLst>
          </p:cNvPr>
          <p:cNvSpPr>
            <a:spLocks xmlns:a="http://schemas.openxmlformats.org/drawingml/2006/main" noGrp="1"/>
          </p:cNvSpPr>
          <p:nvPr/>
        </p:nvSpPr>
        <p:spPr>
          <a:xfrm xmlns:a="http://schemas.openxmlformats.org/drawingml/2006/main">
            <a:off x="6000750" y="4695825"/>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No seed → online fallback</a:t>
            </a:r>
          </a:p>
        </p:txBody>
      </p:sp>
      <p:sp>
        <p:nvSpPr>
          <p:cNvPr id="30" name="feed-table-cell-4-3">
            <a:extLst xmlns:a="http://schemas.openxmlformats.org/drawingml/2006/main">
              <a:ext uri="{FF2B5EF4-FFF2-40B4-BE49-F238E27FC236}">
                <a16:creationId xmlns:a16="http://schemas.microsoft.com/office/drawing/2014/main" id="{DC49FB8A-A1B3-4575-B795-565D6258C5D5}"/>
              </a:ext>
            </a:extLst>
          </p:cNvPr>
          <p:cNvSpPr>
            <a:spLocks xmlns:a="http://schemas.openxmlformats.org/drawingml/2006/main" noGrp="1"/>
          </p:cNvSpPr>
          <p:nvPr/>
        </p:nvSpPr>
        <p:spPr>
          <a:xfrm xmlns:a="http://schemas.openxmlformats.org/drawingml/2006/main">
            <a:off x="8858250" y="4695825"/>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Creation → curated/search</a:t>
            </a:r>
          </a:p>
        </p:txBody>
      </p:sp>
      <p:sp>
        <p:nvSpPr>
          <p:cNvPr id="31" name="feed-table-cell-5-0">
            <a:extLst xmlns:a="http://schemas.openxmlformats.org/drawingml/2006/main">
              <a:ext uri="{FF2B5EF4-FFF2-40B4-BE49-F238E27FC236}">
                <a16:creationId xmlns:a16="http://schemas.microsoft.com/office/drawing/2014/main" id="{6007DCF0-8732-4D71-AB02-61FEE46D7C02}"/>
              </a:ext>
            </a:extLst>
          </p:cNvPr>
          <p:cNvSpPr>
            <a:spLocks xmlns:a="http://schemas.openxmlformats.org/drawingml/2006/main" noGrp="1"/>
          </p:cNvSpPr>
          <p:nvPr/>
        </p:nvSpPr>
        <p:spPr>
          <a:xfrm xmlns:a="http://schemas.openxmlformats.org/drawingml/2006/main">
            <a:off x="457200" y="53340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5C6470"/>
                </a:solidFill>
                <a:latin typeface="Helvetica Neue"/>
                <a:ea typeface="Helvetica Neue"/>
                <a:cs typeface="Helvetica Neue"/>
              </a:defRPr>
            </a:pPr>
            <a:r>
              <a:rPr sz="1650" b="1" i="0">
                <a:solidFill>
                  <a:srgbClr val="5C6470"/>
                </a:solidFill>
                <a:latin typeface="Helvetica Neue"/>
                <a:ea typeface="Helvetica Neue"/>
                <a:cs typeface="Helvetica Neue"/>
              </a:rPr>
              <a:t>Primary outcome</a:t>
            </a:r>
          </a:p>
        </p:txBody>
      </p:sp>
      <p:sp>
        <p:nvSpPr>
          <p:cNvPr id="32" name="feed-table-cell-5-1">
            <a:extLst xmlns:a="http://schemas.openxmlformats.org/drawingml/2006/main">
              <a:ext uri="{FF2B5EF4-FFF2-40B4-BE49-F238E27FC236}">
                <a16:creationId xmlns:a16="http://schemas.microsoft.com/office/drawing/2014/main" id="{531D2E3A-A755-46E6-9B7A-7288B2E554D5}"/>
              </a:ext>
            </a:extLst>
          </p:cNvPr>
          <p:cNvSpPr>
            <a:spLocks xmlns:a="http://schemas.openxmlformats.org/drawingml/2006/main" noGrp="1"/>
          </p:cNvSpPr>
          <p:nvPr/>
        </p:nvSpPr>
        <p:spPr>
          <a:xfrm xmlns:a="http://schemas.openxmlformats.org/drawingml/2006/main">
            <a:off x="3067050" y="5334000"/>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Qualified listening</a:t>
            </a:r>
          </a:p>
        </p:txBody>
      </p:sp>
      <p:sp>
        <p:nvSpPr>
          <p:cNvPr id="33" name="feed-table-cell-5-2">
            <a:extLst xmlns:a="http://schemas.openxmlformats.org/drawingml/2006/main">
              <a:ext uri="{FF2B5EF4-FFF2-40B4-BE49-F238E27FC236}">
                <a16:creationId xmlns:a16="http://schemas.microsoft.com/office/drawing/2014/main" id="{DD7C14F0-61F9-437C-8569-462AD074A301}"/>
              </a:ext>
            </a:extLst>
          </p:cNvPr>
          <p:cNvSpPr>
            <a:spLocks xmlns:a="http://schemas.openxmlformats.org/drawingml/2006/main" noGrp="1"/>
          </p:cNvSpPr>
          <p:nvPr/>
        </p:nvSpPr>
        <p:spPr>
          <a:xfrm xmlns:a="http://schemas.openxmlformats.org/drawingml/2006/main">
            <a:off x="6000750" y="5334000"/>
            <a:ext cx="26384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25"/>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Creation-adjacent listening</a:t>
            </a:r>
          </a:p>
        </p:txBody>
      </p:sp>
      <p:sp>
        <p:nvSpPr>
          <p:cNvPr id="34" name="feed-table-cell-5-3">
            <a:extLst xmlns:a="http://schemas.openxmlformats.org/drawingml/2006/main">
              <a:ext uri="{FF2B5EF4-FFF2-40B4-BE49-F238E27FC236}">
                <a16:creationId xmlns:a16="http://schemas.microsoft.com/office/drawing/2014/main" id="{7E7892D9-E033-4966-9FAC-154C220398BC}"/>
              </a:ext>
            </a:extLst>
          </p:cNvPr>
          <p:cNvSpPr>
            <a:spLocks xmlns:a="http://schemas.openxmlformats.org/drawingml/2006/main" noGrp="1"/>
          </p:cNvSpPr>
          <p:nvPr/>
        </p:nvSpPr>
        <p:spPr>
          <a:xfrm xmlns:a="http://schemas.openxmlformats.org/drawingml/2006/main">
            <a:off x="8858250" y="5334000"/>
            <a:ext cx="2800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101216"/>
                </a:solidFill>
                <a:latin typeface="Helvetica Neue"/>
                <a:ea typeface="Helvetica Neue"/>
                <a:cs typeface="Helvetica Neue"/>
              </a:defRPr>
            </a:pPr>
            <a:r>
              <a:rPr sz="1650" b="0" i="0">
                <a:solidFill>
                  <a:srgbClr val="101216"/>
                </a:solidFill>
                <a:latin typeface="Helvetica Neue"/>
                <a:ea typeface="Helvetica Neue"/>
                <a:cs typeface="Helvetica Neue"/>
              </a:rPr>
              <a:t>Follows</a:t>
            </a:r>
          </a:p>
        </p:txBody>
      </p:sp>
    </p:spTree>
    <p:extLst>
      <p:ext uri="{BB962C8B-B14F-4D97-AF65-F5344CB8AC3E}">
        <p14:creationId xmlns:p14="http://schemas.microsoft.com/office/powerpoint/2010/main" val="18608238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FB035239-8D26-4E85-AB4B-75775084EDE6}"/>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TECHNICAL APPENDIX</a:t>
            </a:r>
          </a:p>
        </p:txBody>
      </p:sp>
      <p:sp>
        <p:nvSpPr>
          <p:cNvPr id="2" name="slide-title">
            <a:extLst xmlns:a="http://schemas.openxmlformats.org/drawingml/2006/main">
              <a:ext uri="{FF2B5EF4-FFF2-40B4-BE49-F238E27FC236}">
                <a16:creationId xmlns:a16="http://schemas.microsoft.com/office/drawing/2014/main" id="{76BFF34D-448D-42CC-8097-12E8A691CA41}"/>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Appendix: retrieval finds; ranking decides</a:t>
            </a:r>
          </a:p>
        </p:txBody>
      </p:sp>
      <p:sp>
        <p:nvSpPr>
          <p:cNvPr id="3" name="page-number">
            <a:extLst xmlns:a="http://schemas.openxmlformats.org/drawingml/2006/main">
              <a:ext uri="{FF2B5EF4-FFF2-40B4-BE49-F238E27FC236}">
                <a16:creationId xmlns:a16="http://schemas.microsoft.com/office/drawing/2014/main" id="{9F1BD232-E894-4E89-9F7A-846102E9EFB1}"/>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A3</a:t>
            </a:r>
          </a:p>
        </p:txBody>
      </p:sp>
      <p:sp>
        <p:nvSpPr>
          <p:cNvPr id="4" name="rank-left">
            <a:extLst xmlns:a="http://schemas.openxmlformats.org/drawingml/2006/main">
              <a:ext uri="{FF2B5EF4-FFF2-40B4-BE49-F238E27FC236}">
                <a16:creationId xmlns:a16="http://schemas.microsoft.com/office/drawing/2014/main" id="{C3631E4F-854E-4328-99FF-6BF9BA6F63AE}"/>
              </a:ext>
            </a:extLst>
          </p:cNvPr>
          <p:cNvSpPr>
            <a:spLocks xmlns:a="http://schemas.openxmlformats.org/drawingml/2006/main" noGrp="1"/>
          </p:cNvSpPr>
          <p:nvPr/>
        </p:nvSpPr>
        <p:spPr>
          <a:xfrm xmlns:a="http://schemas.openxmlformats.org/drawingml/2006/main">
            <a:off x="457200" y="1619250"/>
            <a:ext cx="5238750" cy="39052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5" name="rank-left-title">
            <a:extLst xmlns:a="http://schemas.openxmlformats.org/drawingml/2006/main">
              <a:ext uri="{FF2B5EF4-FFF2-40B4-BE49-F238E27FC236}">
                <a16:creationId xmlns:a16="http://schemas.microsoft.com/office/drawing/2014/main" id="{04DE110F-BD5D-4412-862F-0F230CB714CE}"/>
              </a:ext>
            </a:extLst>
          </p:cNvPr>
          <p:cNvSpPr>
            <a:spLocks xmlns:a="http://schemas.openxmlformats.org/drawingml/2006/main" noGrp="1"/>
          </p:cNvSpPr>
          <p:nvPr/>
        </p:nvSpPr>
        <p:spPr>
          <a:xfrm xmlns:a="http://schemas.openxmlformats.org/drawingml/2006/main">
            <a:off x="762000" y="195262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i="0">
                <a:solidFill>
                  <a:srgbClr val="101216"/>
                </a:solidFill>
                <a:latin typeface="Helvetica Neue"/>
                <a:ea typeface="Helvetica Neue"/>
                <a:cs typeface="Helvetica Neue"/>
              </a:defRPr>
            </a:pPr>
            <a:r>
              <a:rPr sz="2325" b="1" i="0">
                <a:solidFill>
                  <a:srgbClr val="101216"/>
                </a:solidFill>
                <a:latin typeface="Helvetica Neue"/>
                <a:ea typeface="Helvetica Neue"/>
                <a:cs typeface="Helvetica Neue"/>
              </a:rPr>
              <a:t>Candidate retrieval</a:t>
            </a:r>
          </a:p>
        </p:txBody>
      </p:sp>
      <p:sp>
        <p:nvSpPr>
          <p:cNvPr id="6" name="rank-left-bullets">
            <a:extLst xmlns:a="http://schemas.openxmlformats.org/drawingml/2006/main">
              <a:ext uri="{FF2B5EF4-FFF2-40B4-BE49-F238E27FC236}">
                <a16:creationId xmlns:a16="http://schemas.microsoft.com/office/drawing/2014/main" id="{B4B022AC-CBBB-467E-AE0F-7F45256EFA46}"/>
              </a:ext>
            </a:extLst>
          </p:cNvPr>
          <p:cNvSpPr>
            <a:spLocks xmlns:a="http://schemas.openxmlformats.org/drawingml/2006/main" noGrp="1"/>
          </p:cNvSpPr>
          <p:nvPr/>
        </p:nvSpPr>
        <p:spPr>
          <a:xfrm xmlns:a="http://schemas.openxmlformats.org/drawingml/2006/main">
            <a:off x="762000" y="2762250"/>
            <a:ext cx="4286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Audio or profile similarity</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Listening, likes, and creations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Country-first and global fallbacks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Broad pool; intentionally imperfect</a:t>
            </a:r>
          </a:p>
        </p:txBody>
      </p:sp>
      <p:sp>
        <p:nvSpPr>
          <p:cNvPr id="7" name="rank-right">
            <a:extLst xmlns:a="http://schemas.openxmlformats.org/drawingml/2006/main">
              <a:ext uri="{FF2B5EF4-FFF2-40B4-BE49-F238E27FC236}">
                <a16:creationId xmlns:a16="http://schemas.microsoft.com/office/drawing/2014/main" id="{51D1FBAF-20D8-45F0-8F39-91D24CAE206F}"/>
              </a:ext>
            </a:extLst>
          </p:cNvPr>
          <p:cNvSpPr>
            <a:spLocks xmlns:a="http://schemas.openxmlformats.org/drawingml/2006/main" noGrp="1"/>
          </p:cNvSpPr>
          <p:nvPr/>
        </p:nvSpPr>
        <p:spPr>
          <a:xfrm xmlns:a="http://schemas.openxmlformats.org/drawingml/2006/main">
            <a:off x="6000750" y="1619250"/>
            <a:ext cx="5657850" cy="3905250"/>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8" name="rank-right-title">
            <a:extLst xmlns:a="http://schemas.openxmlformats.org/drawingml/2006/main">
              <a:ext uri="{FF2B5EF4-FFF2-40B4-BE49-F238E27FC236}">
                <a16:creationId xmlns:a16="http://schemas.microsoft.com/office/drawing/2014/main" id="{D271DA44-AC46-4B8B-A5BA-F0251F182E2D}"/>
              </a:ext>
            </a:extLst>
          </p:cNvPr>
          <p:cNvSpPr>
            <a:spLocks xmlns:a="http://schemas.openxmlformats.org/drawingml/2006/main" noGrp="1"/>
          </p:cNvSpPr>
          <p:nvPr/>
        </p:nvSpPr>
        <p:spPr>
          <a:xfrm xmlns:a="http://schemas.openxmlformats.org/drawingml/2006/main">
            <a:off x="6305550" y="1952625"/>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Per-feed reranking + assembly</a:t>
            </a:r>
          </a:p>
        </p:txBody>
      </p:sp>
      <p:sp>
        <p:nvSpPr>
          <p:cNvPr id="9" name="rank-right-bullets">
            <a:extLst xmlns:a="http://schemas.openxmlformats.org/drawingml/2006/main">
              <a:ext uri="{FF2B5EF4-FFF2-40B4-BE49-F238E27FC236}">
                <a16:creationId xmlns:a16="http://schemas.microsoft.com/office/drawing/2014/main" id="{7E1966F7-F1BA-420B-8EC4-44D00C5F3654}"/>
              </a:ext>
            </a:extLst>
          </p:cNvPr>
          <p:cNvSpPr>
            <a:spLocks xmlns:a="http://schemas.openxmlformats.org/drawingml/2006/main" noGrp="1"/>
          </p:cNvSpPr>
          <p:nvPr/>
        </p:nvSpPr>
        <p:spPr>
          <a:xfrm xmlns:a="http://schemas.openxmlformats.org/drawingml/2006/main">
            <a:off x="6305550" y="27622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Bucket weights and rank fusion</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Negative signals and cooldown</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Privacy, rights, quality, and safety</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Slot pattern, dedup, refill, hard floor</a:t>
            </a:r>
          </a:p>
        </p:txBody>
      </p:sp>
      <p:sp>
        <p:nvSpPr>
          <p:cNvPr id="10" name="rank-formula">
            <a:extLst xmlns:a="http://schemas.openxmlformats.org/drawingml/2006/main">
              <a:ext uri="{FF2B5EF4-FFF2-40B4-BE49-F238E27FC236}">
                <a16:creationId xmlns:a16="http://schemas.microsoft.com/office/drawing/2014/main" id="{49FD40E9-D856-4298-B3CB-D8D237A76E79}"/>
              </a:ext>
            </a:extLst>
          </p:cNvPr>
          <p:cNvSpPr>
            <a:spLocks xmlns:a="http://schemas.openxmlformats.org/drawingml/2006/main" noGrp="1"/>
          </p:cNvSpPr>
          <p:nvPr/>
        </p:nvSpPr>
        <p:spPr>
          <a:xfrm xmlns:a="http://schemas.openxmlformats.org/drawingml/2006/main">
            <a:off x="1285875" y="58864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827"/>
          </a:bodyPr>
          <a:lstStyle xmlns:a="http://schemas.openxmlformats.org/drawingml/2006/main"/>
          <a:p xmlns:a="http://schemas.openxmlformats.org/drawingml/2006/main">
            <a:pPr algn="ctr">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score = relevance × feed weight × quality × novelty</a:t>
            </a:r>
          </a:p>
        </p:txBody>
      </p:sp>
    </p:spTree>
    <p:extLst>
      <p:ext uri="{BB962C8B-B14F-4D97-AF65-F5344CB8AC3E}">
        <p14:creationId xmlns:p14="http://schemas.microsoft.com/office/powerpoint/2010/main" val="10182236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eyebrow">
            <a:extLst xmlns:a="http://schemas.openxmlformats.org/drawingml/2006/main">
              <a:ext uri="{FF2B5EF4-FFF2-40B4-BE49-F238E27FC236}">
                <a16:creationId xmlns:a16="http://schemas.microsoft.com/office/drawing/2014/main" id="{CC88A962-25BF-4414-B6F4-56F10487451B}"/>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TECHNICAL APPENDIX</a:t>
            </a:r>
          </a:p>
        </p:txBody>
      </p:sp>
      <p:sp>
        <p:nvSpPr>
          <p:cNvPr id="2" name="slide-title">
            <a:extLst xmlns:a="http://schemas.openxmlformats.org/drawingml/2006/main">
              <a:ext uri="{FF2B5EF4-FFF2-40B4-BE49-F238E27FC236}">
                <a16:creationId xmlns:a16="http://schemas.microsoft.com/office/drawing/2014/main" id="{848018A2-E782-4888-8E3B-23A555F1BEAA}"/>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Safety is enforced twice</a:t>
            </a:r>
          </a:p>
        </p:txBody>
      </p:sp>
      <p:sp>
        <p:nvSpPr>
          <p:cNvPr id="3" name="page-number">
            <a:extLst xmlns:a="http://schemas.openxmlformats.org/drawingml/2006/main">
              <a:ext uri="{FF2B5EF4-FFF2-40B4-BE49-F238E27FC236}">
                <a16:creationId xmlns:a16="http://schemas.microsoft.com/office/drawing/2014/main" id="{CF2A38AD-4242-4D4E-A42A-31E361E72BAF}"/>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A4</a:t>
            </a:r>
          </a:p>
        </p:txBody>
      </p:sp>
      <p:sp>
        <p:nvSpPr>
          <p:cNvPr id="4" name="fallback-arrow-0-line">
            <a:extLst xmlns:a="http://schemas.openxmlformats.org/drawingml/2006/main">
              <a:ext uri="{FF2B5EF4-FFF2-40B4-BE49-F238E27FC236}">
                <a16:creationId xmlns:a16="http://schemas.microsoft.com/office/drawing/2014/main" id="{083969E5-345E-4F17-8DFB-091A54837E78}"/>
              </a:ext>
            </a:extLst>
          </p:cNvPr>
          <p:cNvSpPr>
            <a:spLocks xmlns:a="http://schemas.openxmlformats.org/drawingml/2006/main" noGrp="1"/>
          </p:cNvSpPr>
          <p:nvPr/>
        </p:nvSpPr>
        <p:spPr>
          <a:xfrm xmlns:a="http://schemas.openxmlformats.org/drawingml/2006/main">
            <a:off x="2838450" y="3200400"/>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fallback-arrow-0-head">
            <a:extLst xmlns:a="http://schemas.openxmlformats.org/drawingml/2006/main">
              <a:ext uri="{FF2B5EF4-FFF2-40B4-BE49-F238E27FC236}">
                <a16:creationId xmlns:a16="http://schemas.microsoft.com/office/drawing/2014/main" id="{56697CF1-0A27-4AF5-A1A0-21E88B1E3DC8}"/>
              </a:ext>
            </a:extLst>
          </p:cNvPr>
          <p:cNvSpPr>
            <a:spLocks xmlns:a="http://schemas.openxmlformats.org/drawingml/2006/main" noGrp="1"/>
          </p:cNvSpPr>
          <p:nvPr/>
        </p:nvSpPr>
        <p:spPr>
          <a:xfrm xmlns:a="http://schemas.openxmlformats.org/drawingml/2006/main">
            <a:off x="3086100" y="31242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6" name="fallback-arrow-1-line">
            <a:extLst xmlns:a="http://schemas.openxmlformats.org/drawingml/2006/main">
              <a:ext uri="{FF2B5EF4-FFF2-40B4-BE49-F238E27FC236}">
                <a16:creationId xmlns:a16="http://schemas.microsoft.com/office/drawing/2014/main" id="{283FDFEE-C539-404F-A21E-9CAC905CDD51}"/>
              </a:ext>
            </a:extLst>
          </p:cNvPr>
          <p:cNvSpPr>
            <a:spLocks xmlns:a="http://schemas.openxmlformats.org/drawingml/2006/main" noGrp="1"/>
          </p:cNvSpPr>
          <p:nvPr/>
        </p:nvSpPr>
        <p:spPr>
          <a:xfrm xmlns:a="http://schemas.openxmlformats.org/drawingml/2006/main">
            <a:off x="5619750" y="3200400"/>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fallback-arrow-1-head">
            <a:extLst xmlns:a="http://schemas.openxmlformats.org/drawingml/2006/main">
              <a:ext uri="{FF2B5EF4-FFF2-40B4-BE49-F238E27FC236}">
                <a16:creationId xmlns:a16="http://schemas.microsoft.com/office/drawing/2014/main" id="{A24EEA7D-EF11-428C-BB60-9DB6B8BF313B}"/>
              </a:ext>
            </a:extLst>
          </p:cNvPr>
          <p:cNvSpPr>
            <a:spLocks xmlns:a="http://schemas.openxmlformats.org/drawingml/2006/main" noGrp="1"/>
          </p:cNvSpPr>
          <p:nvPr/>
        </p:nvSpPr>
        <p:spPr>
          <a:xfrm xmlns:a="http://schemas.openxmlformats.org/drawingml/2006/main">
            <a:off x="5867400" y="31242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8" name="fallback-arrow-2-line">
            <a:extLst xmlns:a="http://schemas.openxmlformats.org/drawingml/2006/main">
              <a:ext uri="{FF2B5EF4-FFF2-40B4-BE49-F238E27FC236}">
                <a16:creationId xmlns:a16="http://schemas.microsoft.com/office/drawing/2014/main" id="{4391D83C-D647-449A-9170-11D3445640C1}"/>
              </a:ext>
            </a:extLst>
          </p:cNvPr>
          <p:cNvSpPr>
            <a:spLocks xmlns:a="http://schemas.openxmlformats.org/drawingml/2006/main" noGrp="1"/>
          </p:cNvSpPr>
          <p:nvPr/>
        </p:nvSpPr>
        <p:spPr>
          <a:xfrm xmlns:a="http://schemas.openxmlformats.org/drawingml/2006/main">
            <a:off x="8401050" y="3200400"/>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fallback-arrow-2-head">
            <a:extLst xmlns:a="http://schemas.openxmlformats.org/drawingml/2006/main">
              <a:ext uri="{FF2B5EF4-FFF2-40B4-BE49-F238E27FC236}">
                <a16:creationId xmlns:a16="http://schemas.microsoft.com/office/drawing/2014/main" id="{DB8348DF-5681-4E8A-B8A4-6A7A9F6AB2EA}"/>
              </a:ext>
            </a:extLst>
          </p:cNvPr>
          <p:cNvSpPr>
            <a:spLocks xmlns:a="http://schemas.openxmlformats.org/drawingml/2006/main" noGrp="1"/>
          </p:cNvSpPr>
          <p:nvPr/>
        </p:nvSpPr>
        <p:spPr>
          <a:xfrm xmlns:a="http://schemas.openxmlformats.org/drawingml/2006/main">
            <a:off x="8648700" y="3124200"/>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10" name="fallback-gen-panel">
            <a:extLst xmlns:a="http://schemas.openxmlformats.org/drawingml/2006/main">
              <a:ext uri="{FF2B5EF4-FFF2-40B4-BE49-F238E27FC236}">
                <a16:creationId xmlns:a16="http://schemas.microsoft.com/office/drawing/2014/main" id="{C9C13CC3-554F-4C1A-A924-2F8BEB313EA0}"/>
              </a:ext>
            </a:extLst>
          </p:cNvPr>
          <p:cNvSpPr>
            <a:spLocks xmlns:a="http://schemas.openxmlformats.org/drawingml/2006/main" noGrp="1"/>
          </p:cNvSpPr>
          <p:nvPr/>
        </p:nvSpPr>
        <p:spPr>
          <a:xfrm xmlns:a="http://schemas.openxmlformats.org/drawingml/2006/main">
            <a:off x="457200" y="2286000"/>
            <a:ext cx="2381250" cy="2190750"/>
          </a:xfrm>
          <a:prstGeom xmlns:a="http://schemas.openxmlformats.org/drawingml/2006/main" prst="rect">
            <a:avLst/>
          </a:prstGeom>
          <a:solidFill xmlns:a="http://schemas.openxmlformats.org/drawingml/2006/main">
            <a:srgbClr val="EEF7FF"/>
          </a:solidFill>
          <a:ln xmlns:a="http://schemas.openxmlformats.org/drawingml/2006/main" w="0">
            <a:solidFill>
              <a:srgbClr val="EEF7FF"/>
            </a:solidFill>
            <a:prstDash val="solid"/>
          </a:ln>
        </p:spPr>
      </p:sp>
      <p:sp>
        <p:nvSpPr>
          <p:cNvPr id="11" name="fallback-gen-number">
            <a:extLst xmlns:a="http://schemas.openxmlformats.org/drawingml/2006/main">
              <a:ext uri="{FF2B5EF4-FFF2-40B4-BE49-F238E27FC236}">
                <a16:creationId xmlns:a16="http://schemas.microsoft.com/office/drawing/2014/main" id="{105AFD52-B0CC-48CD-8186-AA6B14D3CA4B}"/>
              </a:ext>
            </a:extLst>
          </p:cNvPr>
          <p:cNvSpPr>
            <a:spLocks xmlns:a="http://schemas.openxmlformats.org/drawingml/2006/main" noGrp="1"/>
          </p:cNvSpPr>
          <p:nvPr/>
        </p:nvSpPr>
        <p:spPr>
          <a:xfrm xmlns:a="http://schemas.openxmlformats.org/drawingml/2006/main">
            <a:off x="628650" y="24384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01</a:t>
            </a:r>
          </a:p>
        </p:txBody>
      </p:sp>
      <p:sp>
        <p:nvSpPr>
          <p:cNvPr id="12" name="fallback-gen-title">
            <a:extLst xmlns:a="http://schemas.openxmlformats.org/drawingml/2006/main">
              <a:ext uri="{FF2B5EF4-FFF2-40B4-BE49-F238E27FC236}">
                <a16:creationId xmlns:a16="http://schemas.microsoft.com/office/drawing/2014/main" id="{9B4EAD4B-DB5A-4470-8F11-DF99E2F9A3D2}"/>
              </a:ext>
            </a:extLst>
          </p:cNvPr>
          <p:cNvSpPr>
            <a:spLocks xmlns:a="http://schemas.openxmlformats.org/drawingml/2006/main" noGrp="1"/>
          </p:cNvSpPr>
          <p:nvPr/>
        </p:nvSpPr>
        <p:spPr>
          <a:xfrm xmlns:a="http://schemas.openxmlformats.org/drawingml/2006/main">
            <a:off x="628650" y="282892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Generation</a:t>
            </a:r>
          </a:p>
        </p:txBody>
      </p:sp>
      <p:sp>
        <p:nvSpPr>
          <p:cNvPr id="13" name="fallback-gen-detail">
            <a:extLst xmlns:a="http://schemas.openxmlformats.org/drawingml/2006/main">
              <a:ext uri="{FF2B5EF4-FFF2-40B4-BE49-F238E27FC236}">
                <a16:creationId xmlns:a16="http://schemas.microsoft.com/office/drawing/2014/main" id="{D31529E7-56F0-4D13-98A8-7D599771A070}"/>
              </a:ext>
            </a:extLst>
          </p:cNvPr>
          <p:cNvSpPr>
            <a:spLocks xmlns:a="http://schemas.openxmlformats.org/drawingml/2006/main" noGrp="1"/>
          </p:cNvSpPr>
          <p:nvPr/>
        </p:nvSpPr>
        <p:spPr>
          <a:xfrm xmlns:a="http://schemas.openxmlformats.org/drawingml/2006/main">
            <a:off x="628650" y="3390900"/>
            <a:ext cx="2038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789"/>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Remove unsafe or low-quality candidates before storage</a:t>
            </a:r>
          </a:p>
        </p:txBody>
      </p:sp>
      <p:sp>
        <p:nvSpPr>
          <p:cNvPr id="14" name="fallback-store-panel">
            <a:extLst xmlns:a="http://schemas.openxmlformats.org/drawingml/2006/main">
              <a:ext uri="{FF2B5EF4-FFF2-40B4-BE49-F238E27FC236}">
                <a16:creationId xmlns:a16="http://schemas.microsoft.com/office/drawing/2014/main" id="{9CA466A1-E58B-4677-8925-4E805FDC7C3E}"/>
              </a:ext>
            </a:extLst>
          </p:cNvPr>
          <p:cNvSpPr>
            <a:spLocks xmlns:a="http://schemas.openxmlformats.org/drawingml/2006/main" noGrp="1"/>
          </p:cNvSpPr>
          <p:nvPr/>
        </p:nvSpPr>
        <p:spPr>
          <a:xfrm xmlns:a="http://schemas.openxmlformats.org/drawingml/2006/main">
            <a:off x="3238500" y="2286000"/>
            <a:ext cx="2381250" cy="21907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5" name="fallback-store-number">
            <a:extLst xmlns:a="http://schemas.openxmlformats.org/drawingml/2006/main">
              <a:ext uri="{FF2B5EF4-FFF2-40B4-BE49-F238E27FC236}">
                <a16:creationId xmlns:a16="http://schemas.microsoft.com/office/drawing/2014/main" id="{5863386B-AF93-487D-A502-2A102E7EBC79}"/>
              </a:ext>
            </a:extLst>
          </p:cNvPr>
          <p:cNvSpPr>
            <a:spLocks xmlns:a="http://schemas.openxmlformats.org/drawingml/2006/main" noGrp="1"/>
          </p:cNvSpPr>
          <p:nvPr/>
        </p:nvSpPr>
        <p:spPr>
          <a:xfrm xmlns:a="http://schemas.openxmlformats.org/drawingml/2006/main">
            <a:off x="3409950" y="24384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02</a:t>
            </a:r>
          </a:p>
        </p:txBody>
      </p:sp>
      <p:sp>
        <p:nvSpPr>
          <p:cNvPr id="16" name="fallback-store-title">
            <a:extLst xmlns:a="http://schemas.openxmlformats.org/drawingml/2006/main">
              <a:ext uri="{FF2B5EF4-FFF2-40B4-BE49-F238E27FC236}">
                <a16:creationId xmlns:a16="http://schemas.microsoft.com/office/drawing/2014/main" id="{56B2BB12-83EF-4AC7-A82D-4012DB48A8B4}"/>
              </a:ext>
            </a:extLst>
          </p:cNvPr>
          <p:cNvSpPr>
            <a:spLocks xmlns:a="http://schemas.openxmlformats.org/drawingml/2006/main" noGrp="1"/>
          </p:cNvSpPr>
          <p:nvPr/>
        </p:nvSpPr>
        <p:spPr>
          <a:xfrm xmlns:a="http://schemas.openxmlformats.org/drawingml/2006/main">
            <a:off x="3409950" y="282892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Offline row</a:t>
            </a:r>
          </a:p>
        </p:txBody>
      </p:sp>
      <p:sp>
        <p:nvSpPr>
          <p:cNvPr id="17" name="fallback-store-detail">
            <a:extLst xmlns:a="http://schemas.openxmlformats.org/drawingml/2006/main">
              <a:ext uri="{FF2B5EF4-FFF2-40B4-BE49-F238E27FC236}">
                <a16:creationId xmlns:a16="http://schemas.microsoft.com/office/drawing/2014/main" id="{B5888A00-FC93-4CEC-BF85-A663D1C0074A}"/>
              </a:ext>
            </a:extLst>
          </p:cNvPr>
          <p:cNvSpPr>
            <a:spLocks xmlns:a="http://schemas.openxmlformats.org/drawingml/2006/main" noGrp="1"/>
          </p:cNvSpPr>
          <p:nvPr/>
        </p:nvSpPr>
        <p:spPr>
          <a:xfrm xmlns:a="http://schemas.openxmlformats.org/drawingml/2006/main">
            <a:off x="3409950" y="3390900"/>
            <a:ext cx="2038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8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Keep the last good feed through a refresh grace window</a:t>
            </a:r>
          </a:p>
        </p:txBody>
      </p:sp>
      <p:sp>
        <p:nvSpPr>
          <p:cNvPr id="18" name="fallback-serve-panel">
            <a:extLst xmlns:a="http://schemas.openxmlformats.org/drawingml/2006/main">
              <a:ext uri="{FF2B5EF4-FFF2-40B4-BE49-F238E27FC236}">
                <a16:creationId xmlns:a16="http://schemas.microsoft.com/office/drawing/2014/main" id="{34900C76-F802-4EE2-91D2-68D051D41554}"/>
              </a:ext>
            </a:extLst>
          </p:cNvPr>
          <p:cNvSpPr>
            <a:spLocks xmlns:a="http://schemas.openxmlformats.org/drawingml/2006/main" noGrp="1"/>
          </p:cNvSpPr>
          <p:nvPr/>
        </p:nvSpPr>
        <p:spPr>
          <a:xfrm xmlns:a="http://schemas.openxmlformats.org/drawingml/2006/main">
            <a:off x="6019800" y="2286000"/>
            <a:ext cx="2381250" cy="219075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9" name="fallback-serve-number">
            <a:extLst xmlns:a="http://schemas.openxmlformats.org/drawingml/2006/main">
              <a:ext uri="{FF2B5EF4-FFF2-40B4-BE49-F238E27FC236}">
                <a16:creationId xmlns:a16="http://schemas.microsoft.com/office/drawing/2014/main" id="{5C0173F1-1096-4186-9249-A88BDC843405}"/>
              </a:ext>
            </a:extLst>
          </p:cNvPr>
          <p:cNvSpPr>
            <a:spLocks xmlns:a="http://schemas.openxmlformats.org/drawingml/2006/main" noGrp="1"/>
          </p:cNvSpPr>
          <p:nvPr/>
        </p:nvSpPr>
        <p:spPr>
          <a:xfrm xmlns:a="http://schemas.openxmlformats.org/drawingml/2006/main">
            <a:off x="6191250" y="24384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03</a:t>
            </a:r>
          </a:p>
        </p:txBody>
      </p:sp>
      <p:sp>
        <p:nvSpPr>
          <p:cNvPr id="20" name="fallback-serve-title">
            <a:extLst xmlns:a="http://schemas.openxmlformats.org/drawingml/2006/main">
              <a:ext uri="{FF2B5EF4-FFF2-40B4-BE49-F238E27FC236}">
                <a16:creationId xmlns:a16="http://schemas.microsoft.com/office/drawing/2014/main" id="{2BB2A3D7-449B-4A91-97AF-6492AE7A2A91}"/>
              </a:ext>
            </a:extLst>
          </p:cNvPr>
          <p:cNvSpPr>
            <a:spLocks xmlns:a="http://schemas.openxmlformats.org/drawingml/2006/main" noGrp="1"/>
          </p:cNvSpPr>
          <p:nvPr/>
        </p:nvSpPr>
        <p:spPr>
          <a:xfrm xmlns:a="http://schemas.openxmlformats.org/drawingml/2006/main">
            <a:off x="6191250" y="282892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94"/>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Serve-time check</a:t>
            </a:r>
          </a:p>
        </p:txBody>
      </p:sp>
      <p:sp>
        <p:nvSpPr>
          <p:cNvPr id="21" name="fallback-serve-detail">
            <a:extLst xmlns:a="http://schemas.openxmlformats.org/drawingml/2006/main">
              <a:ext uri="{FF2B5EF4-FFF2-40B4-BE49-F238E27FC236}">
                <a16:creationId xmlns:a16="http://schemas.microsoft.com/office/drawing/2014/main" id="{586EF44C-3252-43F9-AFBB-8C18BC7628DF}"/>
              </a:ext>
            </a:extLst>
          </p:cNvPr>
          <p:cNvSpPr>
            <a:spLocks xmlns:a="http://schemas.openxmlformats.org/drawingml/2006/main" noGrp="1"/>
          </p:cNvSpPr>
          <p:nvPr/>
        </p:nvSpPr>
        <p:spPr>
          <a:xfrm xmlns:a="http://schemas.openxmlformats.org/drawingml/2006/main">
            <a:off x="6191250" y="3390900"/>
            <a:ext cx="2038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Recheck privacy, blocks, rights, and deletion</a:t>
            </a:r>
          </a:p>
        </p:txBody>
      </p:sp>
      <p:sp>
        <p:nvSpPr>
          <p:cNvPr id="22" name="fallback-online-panel">
            <a:extLst xmlns:a="http://schemas.openxmlformats.org/drawingml/2006/main">
              <a:ext uri="{FF2B5EF4-FFF2-40B4-BE49-F238E27FC236}">
                <a16:creationId xmlns:a16="http://schemas.microsoft.com/office/drawing/2014/main" id="{C75FC2CB-AEEB-4DBE-BF4E-D1A13D320080}"/>
              </a:ext>
            </a:extLst>
          </p:cNvPr>
          <p:cNvSpPr>
            <a:spLocks xmlns:a="http://schemas.openxmlformats.org/drawingml/2006/main" noGrp="1"/>
          </p:cNvSpPr>
          <p:nvPr/>
        </p:nvSpPr>
        <p:spPr>
          <a:xfrm xmlns:a="http://schemas.openxmlformats.org/drawingml/2006/main">
            <a:off x="8801100" y="2286000"/>
            <a:ext cx="2381250" cy="219075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23" name="fallback-online-number">
            <a:extLst xmlns:a="http://schemas.openxmlformats.org/drawingml/2006/main">
              <a:ext uri="{FF2B5EF4-FFF2-40B4-BE49-F238E27FC236}">
                <a16:creationId xmlns:a16="http://schemas.microsoft.com/office/drawing/2014/main" id="{048B9BF4-D6B4-410F-852F-F45071D96D61}"/>
              </a:ext>
            </a:extLst>
          </p:cNvPr>
          <p:cNvSpPr>
            <a:spLocks xmlns:a="http://schemas.openxmlformats.org/drawingml/2006/main" noGrp="1"/>
          </p:cNvSpPr>
          <p:nvPr/>
        </p:nvSpPr>
        <p:spPr>
          <a:xfrm xmlns:a="http://schemas.openxmlformats.org/drawingml/2006/main">
            <a:off x="8972550" y="24384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i="0">
                <a:solidFill>
                  <a:srgbClr val="3D8DFF"/>
                </a:solidFill>
                <a:latin typeface="Helvetica Neue"/>
                <a:ea typeface="Helvetica Neue"/>
                <a:cs typeface="Helvetica Neue"/>
              </a:defRPr>
            </a:pPr>
            <a:r>
              <a:rPr sz="1500" b="1" i="0">
                <a:solidFill>
                  <a:srgbClr val="3D8DFF"/>
                </a:solidFill>
                <a:latin typeface="Helvetica Neue"/>
                <a:ea typeface="Helvetica Neue"/>
                <a:cs typeface="Helvetica Neue"/>
              </a:rPr>
              <a:t>04</a:t>
            </a:r>
          </a:p>
        </p:txBody>
      </p:sp>
      <p:sp>
        <p:nvSpPr>
          <p:cNvPr id="24" name="fallback-online-title">
            <a:extLst xmlns:a="http://schemas.openxmlformats.org/drawingml/2006/main">
              <a:ext uri="{FF2B5EF4-FFF2-40B4-BE49-F238E27FC236}">
                <a16:creationId xmlns:a16="http://schemas.microsoft.com/office/drawing/2014/main" id="{BB5B6595-E3BD-4A51-B751-436AF05F3876}"/>
              </a:ext>
            </a:extLst>
          </p:cNvPr>
          <p:cNvSpPr>
            <a:spLocks xmlns:a="http://schemas.openxmlformats.org/drawingml/2006/main" noGrp="1"/>
          </p:cNvSpPr>
          <p:nvPr/>
        </p:nvSpPr>
        <p:spPr>
          <a:xfrm xmlns:a="http://schemas.openxmlformats.org/drawingml/2006/main">
            <a:off x="8972550" y="2828925"/>
            <a:ext cx="2038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i="0">
                <a:solidFill>
                  <a:srgbClr val="101216"/>
                </a:solidFill>
                <a:latin typeface="Helvetica Neue"/>
                <a:ea typeface="Helvetica Neue"/>
                <a:cs typeface="Helvetica Neue"/>
              </a:defRPr>
            </a:pPr>
            <a:r>
              <a:rPr sz="1875" b="1" i="0">
                <a:solidFill>
                  <a:srgbClr val="101216"/>
                </a:solidFill>
                <a:latin typeface="Helvetica Neue"/>
                <a:ea typeface="Helvetica Neue"/>
                <a:cs typeface="Helvetica Neue"/>
              </a:rPr>
              <a:t>Fallback</a:t>
            </a:r>
          </a:p>
        </p:txBody>
      </p:sp>
      <p:sp>
        <p:nvSpPr>
          <p:cNvPr id="25" name="fallback-online-detail">
            <a:extLst xmlns:a="http://schemas.openxmlformats.org/drawingml/2006/main">
              <a:ext uri="{FF2B5EF4-FFF2-40B4-BE49-F238E27FC236}">
                <a16:creationId xmlns:a16="http://schemas.microsoft.com/office/drawing/2014/main" id="{8B48F2F6-A8FD-4404-A142-68D21C6C1731}"/>
              </a:ext>
            </a:extLst>
          </p:cNvPr>
          <p:cNvSpPr>
            <a:spLocks xmlns:a="http://schemas.openxmlformats.org/drawingml/2006/main" noGrp="1"/>
          </p:cNvSpPr>
          <p:nvPr/>
        </p:nvSpPr>
        <p:spPr>
          <a:xfrm xmlns:a="http://schemas.openxmlformats.org/drawingml/2006/main">
            <a:off x="8972550" y="3390900"/>
            <a:ext cx="20383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Use cached or real-time retrieval on a miss</a:t>
            </a:r>
          </a:p>
        </p:txBody>
      </p:sp>
      <p:sp>
        <p:nvSpPr>
          <p:cNvPr id="26" name="fallback-line">
            <a:extLst xmlns:a="http://schemas.openxmlformats.org/drawingml/2006/main">
              <a:ext uri="{FF2B5EF4-FFF2-40B4-BE49-F238E27FC236}">
                <a16:creationId xmlns:a16="http://schemas.microsoft.com/office/drawing/2014/main" id="{72378DA2-CD15-4E18-AAE9-EBDB942F4BB2}"/>
              </a:ext>
            </a:extLst>
          </p:cNvPr>
          <p:cNvSpPr>
            <a:spLocks xmlns:a="http://schemas.openxmlformats.org/drawingml/2006/main" noGrp="1"/>
          </p:cNvSpPr>
          <p:nvPr/>
        </p:nvSpPr>
        <p:spPr>
          <a:xfrm xmlns:a="http://schemas.openxmlformats.org/drawingml/2006/main">
            <a:off x="1047750" y="5286375"/>
            <a:ext cx="1009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784"/>
          </a:bodyPr>
          <a:lstStyle xmlns:a="http://schemas.openxmlformats.org/drawingml/2006/main"/>
          <a:p xmlns:a="http://schemas.openxmlformats.org/drawingml/2006/main">
            <a:pPr algn="ctr">
              <a:defRPr sz="2100" b="1" i="0">
                <a:solidFill>
                  <a:srgbClr val="3D8DFF"/>
                </a:solidFill>
                <a:latin typeface="Helvetica Neue"/>
                <a:ea typeface="Helvetica Neue"/>
                <a:cs typeface="Helvetica Neue"/>
              </a:defRPr>
            </a:pPr>
            <a:r>
              <a:rPr sz="2100" b="1" i="0">
                <a:solidFill>
                  <a:srgbClr val="3D8DFF"/>
                </a:solidFill>
                <a:latin typeface="Helvetica Neue"/>
                <a:ea typeface="Helvetica Neue"/>
                <a:cs typeface="Helvetica Neue"/>
              </a:rPr>
              <a:t>An offline failure should degrade recommendation quality—not produce an empty homepage.</a:t>
            </a:r>
          </a:p>
        </p:txBody>
      </p:sp>
    </p:spTree>
    <p:extLst>
      <p:ext uri="{BB962C8B-B14F-4D97-AF65-F5344CB8AC3E}">
        <p14:creationId xmlns:p14="http://schemas.microsoft.com/office/powerpoint/2010/main" val="21285771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eyebrow">
            <a:extLst xmlns:a="http://schemas.openxmlformats.org/drawingml/2006/main">
              <a:ext uri="{FF2B5EF4-FFF2-40B4-BE49-F238E27FC236}">
                <a16:creationId xmlns:a16="http://schemas.microsoft.com/office/drawing/2014/main" id="{CC800D5D-12C2-4883-AF4D-C960E11A382C}"/>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EXPERIMENT APPENDIX</a:t>
            </a:r>
          </a:p>
        </p:txBody>
      </p:sp>
      <p:sp>
        <p:nvSpPr>
          <p:cNvPr id="2" name="slide-title">
            <a:extLst xmlns:a="http://schemas.openxmlformats.org/drawingml/2006/main">
              <a:ext uri="{FF2B5EF4-FFF2-40B4-BE49-F238E27FC236}">
                <a16:creationId xmlns:a16="http://schemas.microsoft.com/office/drawing/2014/main" id="{FDD1A1B3-D92A-43F4-8796-EF1841F3B525}"/>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Appendix: measure exposure before outcomes</a:t>
            </a:r>
          </a:p>
        </p:txBody>
      </p:sp>
      <p:sp>
        <p:nvSpPr>
          <p:cNvPr id="3" name="page-number">
            <a:extLst xmlns:a="http://schemas.openxmlformats.org/drawingml/2006/main">
              <a:ext uri="{FF2B5EF4-FFF2-40B4-BE49-F238E27FC236}">
                <a16:creationId xmlns:a16="http://schemas.microsoft.com/office/drawing/2014/main" id="{0969EDB5-8B67-48B9-B2D4-D07E57D5137A}"/>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A5</a:t>
            </a:r>
          </a:p>
        </p:txBody>
      </p:sp>
      <p:sp>
        <p:nvSpPr>
          <p:cNvPr id="4" name="measure-thesis">
            <a:extLst xmlns:a="http://schemas.openxmlformats.org/drawingml/2006/main">
              <a:ext uri="{FF2B5EF4-FFF2-40B4-BE49-F238E27FC236}">
                <a16:creationId xmlns:a16="http://schemas.microsoft.com/office/drawing/2014/main" id="{9FDEA704-865D-45AD-99E1-67D28C3BA45D}"/>
              </a:ext>
            </a:extLst>
          </p:cNvPr>
          <p:cNvSpPr>
            <a:spLocks xmlns:a="http://schemas.openxmlformats.org/drawingml/2006/main" noGrp="1"/>
          </p:cNvSpPr>
          <p:nvPr/>
        </p:nvSpPr>
        <p:spPr>
          <a:xfrm xmlns:a="http://schemas.openxmlformats.org/drawingml/2006/main">
            <a:off x="457200" y="128587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577"/>
          </a:bodyPr>
          <a:lstStyle xmlns:a="http://schemas.openxmlformats.org/drawingml/2006/main"/>
          <a:p xmlns:a="http://schemas.openxmlformats.org/drawingml/2006/main">
            <a:pPr algn="l">
              <a:defRPr sz="2100" b="1" i="0">
                <a:solidFill>
                  <a:srgbClr val="101216"/>
                </a:solidFill>
                <a:latin typeface="Helvetica Neue"/>
                <a:ea typeface="Helvetica Neue"/>
                <a:cs typeface="Helvetica Neue"/>
              </a:defRPr>
            </a:pPr>
            <a:r>
              <a:rPr sz="2100" b="1" i="0">
                <a:solidFill>
                  <a:srgbClr val="101216"/>
                </a:solidFill>
                <a:latin typeface="Helvetica Neue"/>
                <a:ea typeface="Helvetica Neue"/>
                <a:cs typeface="Helvetica Neue"/>
              </a:rPr>
              <a:t>A user can be assigned to a treatment without ever seeing the shelf. Both denominators matter.</a:t>
            </a:r>
          </a:p>
        </p:txBody>
      </p:sp>
      <p:sp>
        <p:nvSpPr>
          <p:cNvPr id="5" name="measure-arrow-0-line">
            <a:extLst xmlns:a="http://schemas.openxmlformats.org/drawingml/2006/main">
              <a:ext uri="{FF2B5EF4-FFF2-40B4-BE49-F238E27FC236}">
                <a16:creationId xmlns:a16="http://schemas.microsoft.com/office/drawing/2014/main" id="{85BB6D7C-1C60-4F4D-909E-54E615A97190}"/>
              </a:ext>
            </a:extLst>
          </p:cNvPr>
          <p:cNvSpPr>
            <a:spLocks xmlns:a="http://schemas.openxmlformats.org/drawingml/2006/main" noGrp="1"/>
          </p:cNvSpPr>
          <p:nvPr/>
        </p:nvSpPr>
        <p:spPr>
          <a:xfrm xmlns:a="http://schemas.openxmlformats.org/drawingml/2006/main">
            <a:off x="2838450" y="3267075"/>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measure-arrow-0-head">
            <a:extLst xmlns:a="http://schemas.openxmlformats.org/drawingml/2006/main">
              <a:ext uri="{FF2B5EF4-FFF2-40B4-BE49-F238E27FC236}">
                <a16:creationId xmlns:a16="http://schemas.microsoft.com/office/drawing/2014/main" id="{423DCB83-41F0-4A44-91D5-DC84ACC3ACEB}"/>
              </a:ext>
            </a:extLst>
          </p:cNvPr>
          <p:cNvSpPr>
            <a:spLocks xmlns:a="http://schemas.openxmlformats.org/drawingml/2006/main" noGrp="1"/>
          </p:cNvSpPr>
          <p:nvPr/>
        </p:nvSpPr>
        <p:spPr>
          <a:xfrm xmlns:a="http://schemas.openxmlformats.org/drawingml/2006/main">
            <a:off x="3086100" y="3190875"/>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7" name="measure-arrow-1-line">
            <a:extLst xmlns:a="http://schemas.openxmlformats.org/drawingml/2006/main">
              <a:ext uri="{FF2B5EF4-FFF2-40B4-BE49-F238E27FC236}">
                <a16:creationId xmlns:a16="http://schemas.microsoft.com/office/drawing/2014/main" id="{5AF18B7F-001F-4E09-B7E8-CB1810F434B6}"/>
              </a:ext>
            </a:extLst>
          </p:cNvPr>
          <p:cNvSpPr>
            <a:spLocks xmlns:a="http://schemas.openxmlformats.org/drawingml/2006/main" noGrp="1"/>
          </p:cNvSpPr>
          <p:nvPr/>
        </p:nvSpPr>
        <p:spPr>
          <a:xfrm xmlns:a="http://schemas.openxmlformats.org/drawingml/2006/main">
            <a:off x="5619750" y="3267075"/>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measure-arrow-1-head">
            <a:extLst xmlns:a="http://schemas.openxmlformats.org/drawingml/2006/main">
              <a:ext uri="{FF2B5EF4-FFF2-40B4-BE49-F238E27FC236}">
                <a16:creationId xmlns:a16="http://schemas.microsoft.com/office/drawing/2014/main" id="{481368CC-3819-48A2-A390-916C72FE6BE9}"/>
              </a:ext>
            </a:extLst>
          </p:cNvPr>
          <p:cNvSpPr>
            <a:spLocks xmlns:a="http://schemas.openxmlformats.org/drawingml/2006/main" noGrp="1"/>
          </p:cNvSpPr>
          <p:nvPr/>
        </p:nvSpPr>
        <p:spPr>
          <a:xfrm xmlns:a="http://schemas.openxmlformats.org/drawingml/2006/main">
            <a:off x="5867400" y="3190875"/>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9" name="measure-arrow-2-line">
            <a:extLst xmlns:a="http://schemas.openxmlformats.org/drawingml/2006/main">
              <a:ext uri="{FF2B5EF4-FFF2-40B4-BE49-F238E27FC236}">
                <a16:creationId xmlns:a16="http://schemas.microsoft.com/office/drawing/2014/main" id="{E0B77517-DD85-4E5B-970C-55246EE7053C}"/>
              </a:ext>
            </a:extLst>
          </p:cNvPr>
          <p:cNvSpPr>
            <a:spLocks xmlns:a="http://schemas.openxmlformats.org/drawingml/2006/main" noGrp="1"/>
          </p:cNvSpPr>
          <p:nvPr/>
        </p:nvSpPr>
        <p:spPr>
          <a:xfrm xmlns:a="http://schemas.openxmlformats.org/drawingml/2006/main">
            <a:off x="8401050" y="3267075"/>
            <a:ext cx="28575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measure-arrow-2-head">
            <a:extLst xmlns:a="http://schemas.openxmlformats.org/drawingml/2006/main">
              <a:ext uri="{FF2B5EF4-FFF2-40B4-BE49-F238E27FC236}">
                <a16:creationId xmlns:a16="http://schemas.microsoft.com/office/drawing/2014/main" id="{052EBEE4-7705-4125-A18E-33FFA4DE526A}"/>
              </a:ext>
            </a:extLst>
          </p:cNvPr>
          <p:cNvSpPr>
            <a:spLocks xmlns:a="http://schemas.openxmlformats.org/drawingml/2006/main" noGrp="1"/>
          </p:cNvSpPr>
          <p:nvPr/>
        </p:nvSpPr>
        <p:spPr>
          <a:xfrm xmlns:a="http://schemas.openxmlformats.org/drawingml/2006/main">
            <a:off x="8648700" y="3190875"/>
            <a:ext cx="152400" cy="171450"/>
          </a:xfrm>
          <a:prstGeom xmlns:a="http://schemas.openxmlformats.org/drawingml/2006/main" prst="triangle">
            <a:avLst/>
          </a:prstGeom>
          <a:solidFill xmlns:a="http://schemas.openxmlformats.org/drawingml/2006/main">
            <a:srgbClr val="B8BCC4"/>
          </a:solidFill>
          <a:ln xmlns:a="http://schemas.openxmlformats.org/drawingml/2006/main" w="0">
            <a:solidFill>
              <a:srgbClr val="B8BCC4"/>
            </a:solidFill>
            <a:prstDash val="solid"/>
          </a:ln>
        </p:spPr>
      </p:sp>
      <p:sp>
        <p:nvSpPr>
          <p:cNvPr id="11" name="measure-panel-0">
            <a:extLst xmlns:a="http://schemas.openxmlformats.org/drawingml/2006/main">
              <a:ext uri="{FF2B5EF4-FFF2-40B4-BE49-F238E27FC236}">
                <a16:creationId xmlns:a16="http://schemas.microsoft.com/office/drawing/2014/main" id="{47E86B41-D4D5-4541-8A3B-775D30F11927}"/>
              </a:ext>
            </a:extLst>
          </p:cNvPr>
          <p:cNvSpPr>
            <a:spLocks xmlns:a="http://schemas.openxmlformats.org/drawingml/2006/main" noGrp="1"/>
          </p:cNvSpPr>
          <p:nvPr/>
        </p:nvSpPr>
        <p:spPr>
          <a:xfrm xmlns:a="http://schemas.openxmlformats.org/drawingml/2006/main">
            <a:off x="457200" y="2571750"/>
            <a:ext cx="2381250" cy="152400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2" name="measure-label-0">
            <a:extLst xmlns:a="http://schemas.openxmlformats.org/drawingml/2006/main">
              <a:ext uri="{FF2B5EF4-FFF2-40B4-BE49-F238E27FC236}">
                <a16:creationId xmlns:a16="http://schemas.microsoft.com/office/drawing/2014/main" id="{EF30326A-6C5C-42B4-9647-943CF65F7289}"/>
              </a:ext>
            </a:extLst>
          </p:cNvPr>
          <p:cNvSpPr>
            <a:spLocks xmlns:a="http://schemas.openxmlformats.org/drawingml/2006/main" noGrp="1"/>
          </p:cNvSpPr>
          <p:nvPr/>
        </p:nvSpPr>
        <p:spPr>
          <a:xfrm xmlns:a="http://schemas.openxmlformats.org/drawingml/2006/main">
            <a:off x="666750" y="28289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Assignment</a:t>
            </a:r>
          </a:p>
        </p:txBody>
      </p:sp>
      <p:sp>
        <p:nvSpPr>
          <p:cNvPr id="13" name="measure-detail-0">
            <a:extLst xmlns:a="http://schemas.openxmlformats.org/drawingml/2006/main">
              <a:ext uri="{FF2B5EF4-FFF2-40B4-BE49-F238E27FC236}">
                <a16:creationId xmlns:a16="http://schemas.microsoft.com/office/drawing/2014/main" id="{71B6A2B7-FAB6-42ED-9ABA-17B11F50D573}"/>
              </a:ext>
            </a:extLst>
          </p:cNvPr>
          <p:cNvSpPr>
            <a:spLocks xmlns:a="http://schemas.openxmlformats.org/drawingml/2006/main" noGrp="1"/>
          </p:cNvSpPr>
          <p:nvPr/>
        </p:nvSpPr>
        <p:spPr>
          <a:xfrm xmlns:a="http://schemas.openxmlformats.org/drawingml/2006/main">
            <a:off x="666750" y="33909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Intent to treat</a:t>
            </a:r>
          </a:p>
        </p:txBody>
      </p:sp>
      <p:sp>
        <p:nvSpPr>
          <p:cNvPr id="14" name="measure-panel-1">
            <a:extLst xmlns:a="http://schemas.openxmlformats.org/drawingml/2006/main">
              <a:ext uri="{FF2B5EF4-FFF2-40B4-BE49-F238E27FC236}">
                <a16:creationId xmlns:a16="http://schemas.microsoft.com/office/drawing/2014/main" id="{3942DB80-39A6-4619-B213-1050690455D2}"/>
              </a:ext>
            </a:extLst>
          </p:cNvPr>
          <p:cNvSpPr>
            <a:spLocks xmlns:a="http://schemas.openxmlformats.org/drawingml/2006/main" noGrp="1"/>
          </p:cNvSpPr>
          <p:nvPr/>
        </p:nvSpPr>
        <p:spPr>
          <a:xfrm xmlns:a="http://schemas.openxmlformats.org/drawingml/2006/main">
            <a:off x="3238500" y="2571750"/>
            <a:ext cx="2381250" cy="152400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15" name="measure-label-1">
            <a:extLst xmlns:a="http://schemas.openxmlformats.org/drawingml/2006/main">
              <a:ext uri="{FF2B5EF4-FFF2-40B4-BE49-F238E27FC236}">
                <a16:creationId xmlns:a16="http://schemas.microsoft.com/office/drawing/2014/main" id="{DC93FBD8-EC85-40F4-94E0-40A275612926}"/>
              </a:ext>
            </a:extLst>
          </p:cNvPr>
          <p:cNvSpPr>
            <a:spLocks xmlns:a="http://schemas.openxmlformats.org/drawingml/2006/main" noGrp="1"/>
          </p:cNvSpPr>
          <p:nvPr/>
        </p:nvSpPr>
        <p:spPr>
          <a:xfrm xmlns:a="http://schemas.openxmlformats.org/drawingml/2006/main">
            <a:off x="3448050" y="28289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Shelf + item seen</a:t>
            </a:r>
          </a:p>
        </p:txBody>
      </p:sp>
      <p:sp>
        <p:nvSpPr>
          <p:cNvPr id="16" name="measure-detail-1">
            <a:extLst xmlns:a="http://schemas.openxmlformats.org/drawingml/2006/main">
              <a:ext uri="{FF2B5EF4-FFF2-40B4-BE49-F238E27FC236}">
                <a16:creationId xmlns:a16="http://schemas.microsoft.com/office/drawing/2014/main" id="{EA58EB69-0F43-4874-B63B-2BD13003A801}"/>
              </a:ext>
            </a:extLst>
          </p:cNvPr>
          <p:cNvSpPr>
            <a:spLocks xmlns:a="http://schemas.openxmlformats.org/drawingml/2006/main" noGrp="1"/>
          </p:cNvSpPr>
          <p:nvPr/>
        </p:nvSpPr>
        <p:spPr>
          <a:xfrm xmlns:a="http://schemas.openxmlformats.org/drawingml/2006/main">
            <a:off x="3448050" y="33909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Actual exposure + position</a:t>
            </a:r>
          </a:p>
        </p:txBody>
      </p:sp>
      <p:sp>
        <p:nvSpPr>
          <p:cNvPr id="17" name="measure-panel-2">
            <a:extLst xmlns:a="http://schemas.openxmlformats.org/drawingml/2006/main">
              <a:ext uri="{FF2B5EF4-FFF2-40B4-BE49-F238E27FC236}">
                <a16:creationId xmlns:a16="http://schemas.microsoft.com/office/drawing/2014/main" id="{6FDB54F6-6343-4623-BE6B-C8DE44BED4F7}"/>
              </a:ext>
            </a:extLst>
          </p:cNvPr>
          <p:cNvSpPr>
            <a:spLocks xmlns:a="http://schemas.openxmlformats.org/drawingml/2006/main" noGrp="1"/>
          </p:cNvSpPr>
          <p:nvPr/>
        </p:nvSpPr>
        <p:spPr>
          <a:xfrm xmlns:a="http://schemas.openxmlformats.org/drawingml/2006/main">
            <a:off x="6019800" y="2571750"/>
            <a:ext cx="2381250" cy="1524000"/>
          </a:xfrm>
          <a:prstGeom xmlns:a="http://schemas.openxmlformats.org/drawingml/2006/main" prst="rect">
            <a:avLst/>
          </a:prstGeom>
          <a:solidFill xmlns:a="http://schemas.openxmlformats.org/drawingml/2006/main">
            <a:srgbClr val="EAF7EE"/>
          </a:solidFill>
          <a:ln xmlns:a="http://schemas.openxmlformats.org/drawingml/2006/main" w="0">
            <a:solidFill>
              <a:srgbClr val="EAF7EE"/>
            </a:solidFill>
            <a:prstDash val="solid"/>
          </a:ln>
        </p:spPr>
      </p:sp>
      <p:sp>
        <p:nvSpPr>
          <p:cNvPr id="18" name="measure-label-2">
            <a:extLst xmlns:a="http://schemas.openxmlformats.org/drawingml/2006/main">
              <a:ext uri="{FF2B5EF4-FFF2-40B4-BE49-F238E27FC236}">
                <a16:creationId xmlns:a16="http://schemas.microsoft.com/office/drawing/2014/main" id="{E530BAE3-4F1A-4BE3-AA3D-50E771D9548F}"/>
              </a:ext>
            </a:extLst>
          </p:cNvPr>
          <p:cNvSpPr>
            <a:spLocks xmlns:a="http://schemas.openxmlformats.org/drawingml/2006/main" noGrp="1"/>
          </p:cNvSpPr>
          <p:nvPr/>
        </p:nvSpPr>
        <p:spPr>
          <a:xfrm xmlns:a="http://schemas.openxmlformats.org/drawingml/2006/main">
            <a:off x="6229350" y="28289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5803D"/>
                </a:solidFill>
                <a:latin typeface="Helvetica Neue"/>
                <a:ea typeface="Helvetica Neue"/>
                <a:cs typeface="Helvetica Neue"/>
              </a:defRPr>
            </a:pPr>
            <a:r>
              <a:rPr sz="1650" b="1" i="0">
                <a:solidFill>
                  <a:srgbClr val="15803D"/>
                </a:solidFill>
                <a:latin typeface="Helvetica Neue"/>
                <a:ea typeface="Helvetica Neue"/>
                <a:cs typeface="Helvetica Neue"/>
              </a:rPr>
              <a:t>Action</a:t>
            </a:r>
          </a:p>
        </p:txBody>
      </p:sp>
      <p:sp>
        <p:nvSpPr>
          <p:cNvPr id="19" name="measure-detail-2">
            <a:extLst xmlns:a="http://schemas.openxmlformats.org/drawingml/2006/main">
              <a:ext uri="{FF2B5EF4-FFF2-40B4-BE49-F238E27FC236}">
                <a16:creationId xmlns:a16="http://schemas.microsoft.com/office/drawing/2014/main" id="{52855A9D-857A-4A28-B143-C3587D46803E}"/>
              </a:ext>
            </a:extLst>
          </p:cNvPr>
          <p:cNvSpPr>
            <a:spLocks xmlns:a="http://schemas.openxmlformats.org/drawingml/2006/main" noGrp="1"/>
          </p:cNvSpPr>
          <p:nvPr/>
        </p:nvSpPr>
        <p:spPr>
          <a:xfrm xmlns:a="http://schemas.openxmlformats.org/drawingml/2006/main">
            <a:off x="6229350" y="33909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Play, like, or follow</a:t>
            </a:r>
          </a:p>
        </p:txBody>
      </p:sp>
      <p:sp>
        <p:nvSpPr>
          <p:cNvPr id="20" name="measure-panel-3">
            <a:extLst xmlns:a="http://schemas.openxmlformats.org/drawingml/2006/main">
              <a:ext uri="{FF2B5EF4-FFF2-40B4-BE49-F238E27FC236}">
                <a16:creationId xmlns:a16="http://schemas.microsoft.com/office/drawing/2014/main" id="{D121D2B6-BBBD-4F09-9333-211D42BE77DD}"/>
              </a:ext>
            </a:extLst>
          </p:cNvPr>
          <p:cNvSpPr>
            <a:spLocks xmlns:a="http://schemas.openxmlformats.org/drawingml/2006/main" noGrp="1"/>
          </p:cNvSpPr>
          <p:nvPr/>
        </p:nvSpPr>
        <p:spPr>
          <a:xfrm xmlns:a="http://schemas.openxmlformats.org/drawingml/2006/main">
            <a:off x="8801100" y="2571750"/>
            <a:ext cx="2381250" cy="1524000"/>
          </a:xfrm>
          <a:prstGeom xmlns:a="http://schemas.openxmlformats.org/drawingml/2006/main" prst="rect">
            <a:avLst/>
          </a:prstGeom>
          <a:solidFill xmlns:a="http://schemas.openxmlformats.org/drawingml/2006/main">
            <a:srgbClr val="F0F2F4"/>
          </a:solidFill>
          <a:ln xmlns:a="http://schemas.openxmlformats.org/drawingml/2006/main" w="0">
            <a:solidFill>
              <a:srgbClr val="F0F2F4"/>
            </a:solidFill>
            <a:prstDash val="solid"/>
          </a:ln>
        </p:spPr>
      </p:sp>
      <p:sp>
        <p:nvSpPr>
          <p:cNvPr id="21" name="measure-label-3">
            <a:extLst xmlns:a="http://schemas.openxmlformats.org/drawingml/2006/main">
              <a:ext uri="{FF2B5EF4-FFF2-40B4-BE49-F238E27FC236}">
                <a16:creationId xmlns:a16="http://schemas.microsoft.com/office/drawing/2014/main" id="{9D800D36-F669-49FA-AAFD-0896FBAC751F}"/>
              </a:ext>
            </a:extLst>
          </p:cNvPr>
          <p:cNvSpPr>
            <a:spLocks xmlns:a="http://schemas.openxmlformats.org/drawingml/2006/main" noGrp="1"/>
          </p:cNvSpPr>
          <p:nvPr/>
        </p:nvSpPr>
        <p:spPr>
          <a:xfrm xmlns:a="http://schemas.openxmlformats.org/drawingml/2006/main">
            <a:off x="9010650" y="28289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101216"/>
                </a:solidFill>
                <a:latin typeface="Helvetica Neue"/>
                <a:ea typeface="Helvetica Neue"/>
                <a:cs typeface="Helvetica Neue"/>
              </a:defRPr>
            </a:pPr>
            <a:r>
              <a:rPr sz="1650" b="1" i="0">
                <a:solidFill>
                  <a:srgbClr val="101216"/>
                </a:solidFill>
                <a:latin typeface="Helvetica Neue"/>
                <a:ea typeface="Helvetica Neue"/>
                <a:cs typeface="Helvetica Neue"/>
              </a:rPr>
              <a:t>Durable quality</a:t>
            </a:r>
          </a:p>
        </p:txBody>
      </p:sp>
      <p:sp>
        <p:nvSpPr>
          <p:cNvPr id="22" name="measure-detail-3">
            <a:extLst xmlns:a="http://schemas.openxmlformats.org/drawingml/2006/main">
              <a:ext uri="{FF2B5EF4-FFF2-40B4-BE49-F238E27FC236}">
                <a16:creationId xmlns:a16="http://schemas.microsoft.com/office/drawing/2014/main" id="{D891AF41-431C-4088-AB45-CB6751B2515B}"/>
              </a:ext>
            </a:extLst>
          </p:cNvPr>
          <p:cNvSpPr>
            <a:spLocks xmlns:a="http://schemas.openxmlformats.org/drawingml/2006/main" noGrp="1"/>
          </p:cNvSpPr>
          <p:nvPr/>
        </p:nvSpPr>
        <p:spPr>
          <a:xfrm xmlns:a="http://schemas.openxmlformats.org/drawingml/2006/main">
            <a:off x="9010650" y="3390900"/>
            <a:ext cx="1962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Retention, return, session depth</a:t>
            </a:r>
          </a:p>
        </p:txBody>
      </p:sp>
      <p:sp>
        <p:nvSpPr>
          <p:cNvPr id="23" name="measure-checklist">
            <a:extLst xmlns:a="http://schemas.openxmlformats.org/drawingml/2006/main">
              <a:ext uri="{FF2B5EF4-FFF2-40B4-BE49-F238E27FC236}">
                <a16:creationId xmlns:a16="http://schemas.microsoft.com/office/drawing/2014/main" id="{A843361A-A67B-47E2-8588-6DE641DA25B5}"/>
              </a:ext>
            </a:extLst>
          </p:cNvPr>
          <p:cNvSpPr>
            <a:spLocks xmlns:a="http://schemas.openxmlformats.org/drawingml/2006/main" noGrp="1"/>
          </p:cNvSpPr>
          <p:nvPr/>
        </p:nvSpPr>
        <p:spPr>
          <a:xfrm xmlns:a="http://schemas.openxmlformats.org/drawingml/2006/main">
            <a:off x="1238250" y="4762500"/>
            <a:ext cx="9525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Always show control and treatment baselines—not relative lift alone.</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Report sample size, duration, confidence interval, and guardrails.</a:t>
            </a:r>
          </a:p>
          <a:p xmlns:a="http://schemas.openxmlformats.org/drawingml/2006/main">
            <a:pPr algn="l">
              <a:defRPr sz="1725" b="0" i="0">
                <a:solidFill>
                  <a:srgbClr val="101216"/>
                </a:solidFill>
                <a:latin typeface="Helvetica Neue"/>
                <a:ea typeface="Helvetica Neue"/>
                <a:cs typeface="Helvetica Neue"/>
              </a:defRPr>
            </a:pPr>
            <a:r>
              <a:rPr sz="1725" b="0" i="0">
                <a:solidFill>
                  <a:srgbClr val="101216"/>
                </a:solidFill>
                <a:latin typeface="Helvetica Neue"/>
                <a:ea typeface="Helvetica Neue"/>
                <a:cs typeface="Helvetica Neue"/>
              </a:rPr>
              <a:t>•  Treat long-term retention as exploratory unless the test is powered for it.</a:t>
            </a:r>
          </a:p>
        </p:txBody>
      </p:sp>
    </p:spTree>
    <p:extLst>
      <p:ext uri="{BB962C8B-B14F-4D97-AF65-F5344CB8AC3E}">
        <p14:creationId xmlns:p14="http://schemas.microsoft.com/office/powerpoint/2010/main" val="18970627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AA88B31F-2A32-42AE-A266-2FE5B057E6B5}"/>
              </a:ext>
            </a:extLst>
          </p:cNvPr>
          <p:cNvSpPr>
            <a:spLocks xmlns:a="http://schemas.openxmlformats.org/drawingml/2006/main" noGrp="1"/>
          </p:cNvSpPr>
          <p:nvPr/>
        </p:nvSpPr>
        <p:spPr>
          <a:xfrm xmlns:a="http://schemas.openxmlformats.org/drawingml/2006/main">
            <a:off x="457200" y="228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REFLECTION APPENDIX</a:t>
            </a:r>
          </a:p>
        </p:txBody>
      </p:sp>
      <p:sp>
        <p:nvSpPr>
          <p:cNvPr id="2" name="slide-title">
            <a:extLst xmlns:a="http://schemas.openxmlformats.org/drawingml/2006/main">
              <a:ext uri="{FF2B5EF4-FFF2-40B4-BE49-F238E27FC236}">
                <a16:creationId xmlns:a16="http://schemas.microsoft.com/office/drawing/2014/main" id="{3CECCE9D-A309-4B84-9FE3-448307C01141}"/>
              </a:ext>
            </a:extLst>
          </p:cNvPr>
          <p:cNvSpPr>
            <a:spLocks xmlns:a="http://schemas.openxmlformats.org/drawingml/2006/main" noGrp="1"/>
          </p:cNvSpPr>
          <p:nvPr/>
        </p:nvSpPr>
        <p:spPr>
          <a:xfrm xmlns:a="http://schemas.openxmlformats.org/drawingml/2006/main">
            <a:off x="457200" y="523875"/>
            <a:ext cx="1104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450" b="1" i="0">
                <a:solidFill>
                  <a:srgbClr val="101216"/>
                </a:solidFill>
                <a:latin typeface="Helvetica Neue"/>
                <a:ea typeface="Helvetica Neue"/>
                <a:cs typeface="Helvetica Neue"/>
              </a:defRPr>
            </a:pPr>
            <a:r>
              <a:rPr sz="3450" b="1" i="0">
                <a:solidFill>
                  <a:srgbClr val="101216"/>
                </a:solidFill>
                <a:latin typeface="Helvetica Neue"/>
                <a:ea typeface="Helvetica Neue"/>
                <a:cs typeface="Helvetica Neue"/>
              </a:rPr>
              <a:t>Appendix: what I would change on day one</a:t>
            </a:r>
          </a:p>
        </p:txBody>
      </p:sp>
      <p:sp>
        <p:nvSpPr>
          <p:cNvPr id="3" name="page-number">
            <a:extLst xmlns:a="http://schemas.openxmlformats.org/drawingml/2006/main">
              <a:ext uri="{FF2B5EF4-FFF2-40B4-BE49-F238E27FC236}">
                <a16:creationId xmlns:a16="http://schemas.microsoft.com/office/drawing/2014/main" id="{68307B93-8A6B-4301-88F9-E264422E67E9}"/>
              </a:ext>
            </a:extLst>
          </p:cNvPr>
          <p:cNvSpPr>
            <a:spLocks xmlns:a="http://schemas.openxmlformats.org/drawingml/2006/main" noGrp="1"/>
          </p:cNvSpPr>
          <p:nvPr/>
        </p:nvSpPr>
        <p:spPr>
          <a:xfrm xmlns:a="http://schemas.openxmlformats.org/drawingml/2006/main">
            <a:off x="11144250" y="6381750"/>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defRPr sz="1050" b="0" i="0">
                <a:solidFill>
                  <a:srgbClr val="5C6470"/>
                </a:solidFill>
                <a:latin typeface="Helvetica Neue"/>
                <a:ea typeface="Helvetica Neue"/>
                <a:cs typeface="Helvetica Neue"/>
              </a:defRPr>
            </a:pPr>
            <a:r>
              <a:rPr sz="1050" b="0" i="0">
                <a:solidFill>
                  <a:srgbClr val="5C6470"/>
                </a:solidFill>
                <a:latin typeface="Helvetica Neue"/>
                <a:ea typeface="Helvetica Neue"/>
                <a:cs typeface="Helvetica Neue"/>
              </a:rPr>
              <a:t>A6</a:t>
            </a:r>
          </a:p>
        </p:txBody>
      </p:sp>
      <p:sp>
        <p:nvSpPr>
          <p:cNvPr id="4" name="change-num-0">
            <a:extLst xmlns:a="http://schemas.openxmlformats.org/drawingml/2006/main">
              <a:ext uri="{FF2B5EF4-FFF2-40B4-BE49-F238E27FC236}">
                <a16:creationId xmlns:a16="http://schemas.microsoft.com/office/drawing/2014/main" id="{CE43B327-5D69-4471-AFA8-3646E639532F}"/>
              </a:ext>
            </a:extLst>
          </p:cNvPr>
          <p:cNvSpPr>
            <a:spLocks xmlns:a="http://schemas.openxmlformats.org/drawingml/2006/main" noGrp="1"/>
          </p:cNvSpPr>
          <p:nvPr/>
        </p:nvSpPr>
        <p:spPr>
          <a:xfrm xmlns:a="http://schemas.openxmlformats.org/drawingml/2006/main">
            <a:off x="571500" y="16192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01</a:t>
            </a:r>
          </a:p>
        </p:txBody>
      </p:sp>
      <p:sp>
        <p:nvSpPr>
          <p:cNvPr id="5" name="change-head-0">
            <a:extLst xmlns:a="http://schemas.openxmlformats.org/drawingml/2006/main">
              <a:ext uri="{FF2B5EF4-FFF2-40B4-BE49-F238E27FC236}">
                <a16:creationId xmlns:a16="http://schemas.microsoft.com/office/drawing/2014/main" id="{8D6C1553-9365-4AC0-BE8F-47B3D0812740}"/>
              </a:ext>
            </a:extLst>
          </p:cNvPr>
          <p:cNvSpPr>
            <a:spLocks xmlns:a="http://schemas.openxmlformats.org/drawingml/2006/main" noGrp="1"/>
          </p:cNvSpPr>
          <p:nvPr/>
        </p:nvSpPr>
        <p:spPr>
          <a:xfrm xmlns:a="http://schemas.openxmlformats.org/drawingml/2006/main">
            <a:off x="1476375" y="16192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01216"/>
                </a:solidFill>
                <a:latin typeface="Helvetica Neue"/>
                <a:ea typeface="Helvetica Neue"/>
                <a:cs typeface="Helvetica Neue"/>
              </a:defRPr>
            </a:pPr>
            <a:r>
              <a:rPr sz="2250" b="1" i="0">
                <a:solidFill>
                  <a:srgbClr val="101216"/>
                </a:solidFill>
                <a:latin typeface="Helvetica Neue"/>
                <a:ea typeface="Helvetica Neue"/>
                <a:cs typeface="Helvetica Neue"/>
              </a:rPr>
              <a:t>Map the system</a:t>
            </a:r>
          </a:p>
        </p:txBody>
      </p:sp>
      <p:sp>
        <p:nvSpPr>
          <p:cNvPr id="6" name="change-body-0">
            <a:extLst xmlns:a="http://schemas.openxmlformats.org/drawingml/2006/main">
              <a:ext uri="{FF2B5EF4-FFF2-40B4-BE49-F238E27FC236}">
                <a16:creationId xmlns:a16="http://schemas.microsoft.com/office/drawing/2014/main" id="{3008F2E7-773C-4075-A7BC-F77A363DBD07}"/>
              </a:ext>
            </a:extLst>
          </p:cNvPr>
          <p:cNvSpPr>
            <a:spLocks xmlns:a="http://schemas.openxmlformats.org/drawingml/2006/main" noGrp="1"/>
          </p:cNvSpPr>
          <p:nvPr/>
        </p:nvSpPr>
        <p:spPr>
          <a:xfrm xmlns:a="http://schemas.openxmlformats.org/drawingml/2006/main">
            <a:off x="4762500" y="161925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Create an explicit source-of-truth, identifier, and grain map before implementation.</a:t>
            </a:r>
          </a:p>
        </p:txBody>
      </p:sp>
      <p:sp>
        <p:nvSpPr>
          <p:cNvPr id="7" name="change-rule-0">
            <a:extLst xmlns:a="http://schemas.openxmlformats.org/drawingml/2006/main">
              <a:ext uri="{FF2B5EF4-FFF2-40B4-BE49-F238E27FC236}">
                <a16:creationId xmlns:a16="http://schemas.microsoft.com/office/drawing/2014/main" id="{F88B4CAE-8D36-4A4E-B70B-811CAD7E0733}"/>
              </a:ext>
            </a:extLst>
          </p:cNvPr>
          <p:cNvSpPr>
            <a:spLocks xmlns:a="http://schemas.openxmlformats.org/drawingml/2006/main" noGrp="1"/>
          </p:cNvSpPr>
          <p:nvPr/>
        </p:nvSpPr>
        <p:spPr>
          <a:xfrm xmlns:a="http://schemas.openxmlformats.org/drawingml/2006/main">
            <a:off x="457200" y="2409825"/>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8" name="change-num-1">
            <a:extLst xmlns:a="http://schemas.openxmlformats.org/drawingml/2006/main">
              <a:ext uri="{FF2B5EF4-FFF2-40B4-BE49-F238E27FC236}">
                <a16:creationId xmlns:a16="http://schemas.microsoft.com/office/drawing/2014/main" id="{0ABD16AD-1CDE-4D01-9BB1-750BF50F89CD}"/>
              </a:ext>
            </a:extLst>
          </p:cNvPr>
          <p:cNvSpPr>
            <a:spLocks xmlns:a="http://schemas.openxmlformats.org/drawingml/2006/main" noGrp="1"/>
          </p:cNvSpPr>
          <p:nvPr/>
        </p:nvSpPr>
        <p:spPr>
          <a:xfrm xmlns:a="http://schemas.openxmlformats.org/drawingml/2006/main">
            <a:off x="571500" y="271462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02</a:t>
            </a:r>
          </a:p>
        </p:txBody>
      </p:sp>
      <p:sp>
        <p:nvSpPr>
          <p:cNvPr id="9" name="change-head-1">
            <a:extLst xmlns:a="http://schemas.openxmlformats.org/drawingml/2006/main">
              <a:ext uri="{FF2B5EF4-FFF2-40B4-BE49-F238E27FC236}">
                <a16:creationId xmlns:a16="http://schemas.microsoft.com/office/drawing/2014/main" id="{CECBB60B-A0BF-4823-BA53-2FF837250862}"/>
              </a:ext>
            </a:extLst>
          </p:cNvPr>
          <p:cNvSpPr>
            <a:spLocks xmlns:a="http://schemas.openxmlformats.org/drawingml/2006/main" noGrp="1"/>
          </p:cNvSpPr>
          <p:nvPr/>
        </p:nvSpPr>
        <p:spPr>
          <a:xfrm xmlns:a="http://schemas.openxmlformats.org/drawingml/2006/main">
            <a:off x="1476375" y="27146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01216"/>
                </a:solidFill>
                <a:latin typeface="Helvetica Neue"/>
                <a:ea typeface="Helvetica Neue"/>
                <a:cs typeface="Helvetica Neue"/>
              </a:defRPr>
            </a:pPr>
            <a:r>
              <a:rPr sz="2250" b="1" i="0">
                <a:solidFill>
                  <a:srgbClr val="101216"/>
                </a:solidFill>
                <a:latin typeface="Helvetica Neue"/>
                <a:ea typeface="Helvetica Neue"/>
                <a:cs typeface="Helvetica Neue"/>
              </a:rPr>
              <a:t>Write the metric tree</a:t>
            </a:r>
          </a:p>
        </p:txBody>
      </p:sp>
      <p:sp>
        <p:nvSpPr>
          <p:cNvPr id="10" name="change-body-1">
            <a:extLst xmlns:a="http://schemas.openxmlformats.org/drawingml/2006/main">
              <a:ext uri="{FF2B5EF4-FFF2-40B4-BE49-F238E27FC236}">
                <a16:creationId xmlns:a16="http://schemas.microsoft.com/office/drawing/2014/main" id="{CEB13CA0-8F86-493F-83A7-8197B8613505}"/>
              </a:ext>
            </a:extLst>
          </p:cNvPr>
          <p:cNvSpPr>
            <a:spLocks xmlns:a="http://schemas.openxmlformats.org/drawingml/2006/main" noGrp="1"/>
          </p:cNvSpPr>
          <p:nvPr/>
        </p:nvSpPr>
        <p:spPr>
          <a:xfrm xmlns:a="http://schemas.openxmlformats.org/drawingml/2006/main">
            <a:off x="4762500" y="271462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Define exposure, north star, mechanisms, and guardrails before building telemetry.</a:t>
            </a:r>
          </a:p>
        </p:txBody>
      </p:sp>
      <p:sp>
        <p:nvSpPr>
          <p:cNvPr id="11" name="change-rule-1">
            <a:extLst xmlns:a="http://schemas.openxmlformats.org/drawingml/2006/main">
              <a:ext uri="{FF2B5EF4-FFF2-40B4-BE49-F238E27FC236}">
                <a16:creationId xmlns:a16="http://schemas.microsoft.com/office/drawing/2014/main" id="{F35F3A65-A40E-48B0-99D8-4F8151B2DCE9}"/>
              </a:ext>
            </a:extLst>
          </p:cNvPr>
          <p:cNvSpPr>
            <a:spLocks xmlns:a="http://schemas.openxmlformats.org/drawingml/2006/main" noGrp="1"/>
          </p:cNvSpPr>
          <p:nvPr/>
        </p:nvSpPr>
        <p:spPr>
          <a:xfrm xmlns:a="http://schemas.openxmlformats.org/drawingml/2006/main">
            <a:off x="457200" y="3505200"/>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12" name="change-num-2">
            <a:extLst xmlns:a="http://schemas.openxmlformats.org/drawingml/2006/main">
              <a:ext uri="{FF2B5EF4-FFF2-40B4-BE49-F238E27FC236}">
                <a16:creationId xmlns:a16="http://schemas.microsoft.com/office/drawing/2014/main" id="{35E3A7FB-785B-4CB2-8C84-E6D0C553E068}"/>
              </a:ext>
            </a:extLst>
          </p:cNvPr>
          <p:cNvSpPr>
            <a:spLocks xmlns:a="http://schemas.openxmlformats.org/drawingml/2006/main" noGrp="1"/>
          </p:cNvSpPr>
          <p:nvPr/>
        </p:nvSpPr>
        <p:spPr>
          <a:xfrm xmlns:a="http://schemas.openxmlformats.org/drawingml/2006/main">
            <a:off x="571500" y="38100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03</a:t>
            </a:r>
          </a:p>
        </p:txBody>
      </p:sp>
      <p:sp>
        <p:nvSpPr>
          <p:cNvPr id="13" name="change-head-2">
            <a:extLst xmlns:a="http://schemas.openxmlformats.org/drawingml/2006/main">
              <a:ext uri="{FF2B5EF4-FFF2-40B4-BE49-F238E27FC236}">
                <a16:creationId xmlns:a16="http://schemas.microsoft.com/office/drawing/2014/main" id="{BFB232AB-CCC0-4A66-95B5-EC6C4EFEA124}"/>
              </a:ext>
            </a:extLst>
          </p:cNvPr>
          <p:cNvSpPr>
            <a:spLocks xmlns:a="http://schemas.openxmlformats.org/drawingml/2006/main" noGrp="1"/>
          </p:cNvSpPr>
          <p:nvPr/>
        </p:nvSpPr>
        <p:spPr>
          <a:xfrm xmlns:a="http://schemas.openxmlformats.org/drawingml/2006/main">
            <a:off x="1476375" y="38100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i="0">
                <a:solidFill>
                  <a:srgbClr val="101216"/>
                </a:solidFill>
                <a:latin typeface="Helvetica Neue"/>
                <a:ea typeface="Helvetica Neue"/>
                <a:cs typeface="Helvetica Neue"/>
              </a:defRPr>
            </a:pPr>
            <a:r>
              <a:rPr sz="2250" b="1" i="0">
                <a:solidFill>
                  <a:srgbClr val="101216"/>
                </a:solidFill>
                <a:latin typeface="Helvetica Neue"/>
                <a:ea typeface="Helvetica Neue"/>
                <a:cs typeface="Helvetica Neue"/>
              </a:rPr>
              <a:t>Prototype behavior</a:t>
            </a:r>
          </a:p>
        </p:txBody>
      </p:sp>
      <p:sp>
        <p:nvSpPr>
          <p:cNvPr id="14" name="change-body-2">
            <a:extLst xmlns:a="http://schemas.openxmlformats.org/drawingml/2006/main">
              <a:ext uri="{FF2B5EF4-FFF2-40B4-BE49-F238E27FC236}">
                <a16:creationId xmlns:a16="http://schemas.microsoft.com/office/drawing/2014/main" id="{9583E1DC-C613-4A28-9D02-96AB30300AD2}"/>
              </a:ext>
            </a:extLst>
          </p:cNvPr>
          <p:cNvSpPr>
            <a:spLocks xmlns:a="http://schemas.openxmlformats.org/drawingml/2006/main" noGrp="1"/>
          </p:cNvSpPr>
          <p:nvPr/>
        </p:nvSpPr>
        <p:spPr>
          <a:xfrm xmlns:a="http://schemas.openxmlformats.org/drawingml/2006/main">
            <a:off x="4762500" y="3810000"/>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Review real feeds with users and partners before optimizing the ranking model.</a:t>
            </a:r>
          </a:p>
        </p:txBody>
      </p:sp>
      <p:sp>
        <p:nvSpPr>
          <p:cNvPr id="15" name="change-rule-2">
            <a:extLst xmlns:a="http://schemas.openxmlformats.org/drawingml/2006/main">
              <a:ext uri="{FF2B5EF4-FFF2-40B4-BE49-F238E27FC236}">
                <a16:creationId xmlns:a16="http://schemas.microsoft.com/office/drawing/2014/main" id="{76469CBE-5198-4E77-BE4C-AF042B8790E7}"/>
              </a:ext>
            </a:extLst>
          </p:cNvPr>
          <p:cNvSpPr>
            <a:spLocks xmlns:a="http://schemas.openxmlformats.org/drawingml/2006/main" noGrp="1"/>
          </p:cNvSpPr>
          <p:nvPr/>
        </p:nvSpPr>
        <p:spPr>
          <a:xfrm xmlns:a="http://schemas.openxmlformats.org/drawingml/2006/main">
            <a:off x="457200" y="4600575"/>
            <a:ext cx="11201400" cy="19050"/>
          </a:xfrm>
          <a:prstGeom xmlns:a="http://schemas.openxmlformats.org/drawingml/2006/main" prst="rect">
            <a:avLst/>
          </a:prstGeom>
          <a:solidFill xmlns:a="http://schemas.openxmlformats.org/drawingml/2006/main">
            <a:srgbClr val="E6E9ED"/>
          </a:solidFill>
          <a:ln xmlns:a="http://schemas.openxmlformats.org/drawingml/2006/main" w="0">
            <a:solidFill>
              <a:srgbClr val="E6E9ED"/>
            </a:solidFill>
            <a:prstDash val="solid"/>
          </a:ln>
        </p:spPr>
      </p:sp>
      <p:sp>
        <p:nvSpPr>
          <p:cNvPr id="16" name="change-num-3">
            <a:extLst xmlns:a="http://schemas.openxmlformats.org/drawingml/2006/main">
              <a:ext uri="{FF2B5EF4-FFF2-40B4-BE49-F238E27FC236}">
                <a16:creationId xmlns:a16="http://schemas.microsoft.com/office/drawing/2014/main" id="{CF6F026F-106D-4EB8-A0D3-6D81269D0703}"/>
              </a:ext>
            </a:extLst>
          </p:cNvPr>
          <p:cNvSpPr>
            <a:spLocks xmlns:a="http://schemas.openxmlformats.org/drawingml/2006/main" noGrp="1"/>
          </p:cNvSpPr>
          <p:nvPr/>
        </p:nvSpPr>
        <p:spPr>
          <a:xfrm xmlns:a="http://schemas.openxmlformats.org/drawingml/2006/main">
            <a:off x="571500" y="490537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04</a:t>
            </a:r>
          </a:p>
        </p:txBody>
      </p:sp>
      <p:sp>
        <p:nvSpPr>
          <p:cNvPr id="17" name="change-head-3">
            <a:extLst xmlns:a="http://schemas.openxmlformats.org/drawingml/2006/main">
              <a:ext uri="{FF2B5EF4-FFF2-40B4-BE49-F238E27FC236}">
                <a16:creationId xmlns:a16="http://schemas.microsoft.com/office/drawing/2014/main" id="{7207E814-4C66-4011-B700-B84A39E18B3B}"/>
              </a:ext>
            </a:extLst>
          </p:cNvPr>
          <p:cNvSpPr>
            <a:spLocks xmlns:a="http://schemas.openxmlformats.org/drawingml/2006/main" noGrp="1"/>
          </p:cNvSpPr>
          <p:nvPr/>
        </p:nvSpPr>
        <p:spPr>
          <a:xfrm xmlns:a="http://schemas.openxmlformats.org/drawingml/2006/main">
            <a:off x="1476375" y="490537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635"/>
          </a:bodyPr>
          <a:lstStyle xmlns:a="http://schemas.openxmlformats.org/drawingml/2006/main"/>
          <a:p xmlns:a="http://schemas.openxmlformats.org/drawingml/2006/main">
            <a:pPr algn="l">
              <a:defRPr sz="2250" b="1" i="0">
                <a:solidFill>
                  <a:srgbClr val="101216"/>
                </a:solidFill>
                <a:latin typeface="Helvetica Neue"/>
                <a:ea typeface="Helvetica Neue"/>
                <a:cs typeface="Helvetica Neue"/>
              </a:defRPr>
            </a:pPr>
            <a:r>
              <a:rPr sz="2250" b="1" i="0">
                <a:solidFill>
                  <a:srgbClr val="101216"/>
                </a:solidFill>
                <a:latin typeface="Helvetica Neue"/>
                <a:ea typeface="Helvetica Neue"/>
                <a:cs typeface="Helvetica Neue"/>
              </a:rPr>
              <a:t>Design operations early</a:t>
            </a:r>
          </a:p>
        </p:txBody>
      </p:sp>
      <p:sp>
        <p:nvSpPr>
          <p:cNvPr id="18" name="change-body-3">
            <a:extLst xmlns:a="http://schemas.openxmlformats.org/drawingml/2006/main">
              <a:ext uri="{FF2B5EF4-FFF2-40B4-BE49-F238E27FC236}">
                <a16:creationId xmlns:a16="http://schemas.microsoft.com/office/drawing/2014/main" id="{E8E08ED9-3D29-47FC-94DA-CF707826A875}"/>
              </a:ext>
            </a:extLst>
          </p:cNvPr>
          <p:cNvSpPr>
            <a:spLocks xmlns:a="http://schemas.openxmlformats.org/drawingml/2006/main" noGrp="1"/>
          </p:cNvSpPr>
          <p:nvPr/>
        </p:nvSpPr>
        <p:spPr>
          <a:xfrm xmlns:a="http://schemas.openxmlformats.org/drawingml/2006/main">
            <a:off x="4762500" y="490537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2"/>
          </a:bodyPr>
          <a:lstStyle xmlns:a="http://schemas.openxmlformats.org/drawingml/2006/main"/>
          <a:p xmlns:a="http://schemas.openxmlformats.org/drawingml/2006/main">
            <a:pPr algn="l">
              <a:defRPr sz="1650" b="0" i="0">
                <a:solidFill>
                  <a:srgbClr val="5C6470"/>
                </a:solidFill>
                <a:latin typeface="Helvetica Neue"/>
                <a:ea typeface="Helvetica Neue"/>
                <a:cs typeface="Helvetica Neue"/>
              </a:defRPr>
            </a:pPr>
            <a:r>
              <a:rPr sz="1650" b="0" i="0">
                <a:solidFill>
                  <a:srgbClr val="5C6470"/>
                </a:solidFill>
                <a:latin typeface="Helvetica Neue"/>
                <a:ea typeface="Helvetica Neue"/>
                <a:cs typeface="Helvetica Neue"/>
              </a:rPr>
              <a:t>Specify fallbacks, health metrics, and incident reproduction with the first architecture.</a:t>
            </a:r>
          </a:p>
        </p:txBody>
      </p:sp>
    </p:spTree>
    <p:extLst>
      <p:ext uri="{BB962C8B-B14F-4D97-AF65-F5344CB8AC3E}">
        <p14:creationId xmlns:p14="http://schemas.microsoft.com/office/powerpoint/2010/main" val="2058103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2026-08-09T20:30:29.3460000Z</dcterms:created>
  <dcterms:modified xsi:type="dcterms:W3CDTF">2026-08-09T20:30:29.3460000Z</dcterms:modified>
</coreProperties>
</file>