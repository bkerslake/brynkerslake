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0edb9b7e4246c8" /><Relationship Type="http://schemas.openxmlformats.org/officeDocument/2006/relationships/extended-properties" Target="/docProps/app.xml" Id="R8dacf42d11ec4f03" /><Relationship Type="http://schemas.openxmlformats.org/officeDocument/2006/relationships/officeDocument" Target="/ppt/presentation.xml" Id="R30e085496d974c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4c2d666ad647e5"/>
  </p:sldMasterIdLst>
  <p:notesMasterIdLst>
    <p:notesMasterId xmlns:r="http://schemas.openxmlformats.org/officeDocument/2006/relationships" r:id="Rf0e3be083d514af9"/>
  </p:notesMasterIdLst>
  <p:sldIdLst>
    <p:sldId xmlns:r="http://schemas.openxmlformats.org/officeDocument/2006/relationships" id="256" r:id="R9473f8e309fe467d"/>
    <p:sldId xmlns:r="http://schemas.openxmlformats.org/officeDocument/2006/relationships" id="257" r:id="Rdc09edc854e84208"/>
    <p:sldId xmlns:r="http://schemas.openxmlformats.org/officeDocument/2006/relationships" id="258" r:id="Rb2432fc71e8f43ce"/>
    <p:sldId xmlns:r="http://schemas.openxmlformats.org/officeDocument/2006/relationships" id="259" r:id="Redc9f229fae84ade"/>
    <p:sldId xmlns:r="http://schemas.openxmlformats.org/officeDocument/2006/relationships" id="260" r:id="R633868c99c714dc0"/>
    <p:sldId xmlns:r="http://schemas.openxmlformats.org/officeDocument/2006/relationships" id="261" r:id="R3e3d180872e74dc1"/>
    <p:sldId xmlns:r="http://schemas.openxmlformats.org/officeDocument/2006/relationships" id="262" r:id="R012290ab1ec64a4d"/>
    <p:sldId xmlns:r="http://schemas.openxmlformats.org/officeDocument/2006/relationships" id="263" r:id="R06622eef54874a7a"/>
    <p:sldId xmlns:r="http://schemas.openxmlformats.org/officeDocument/2006/relationships" id="264" r:id="Raef5ee4cb1e844d8"/>
    <p:sldId xmlns:r="http://schemas.openxmlformats.org/officeDocument/2006/relationships" id="265" r:id="R6c2c9cb031414d45"/>
    <p:sldId xmlns:r="http://schemas.openxmlformats.org/officeDocument/2006/relationships" id="266" r:id="R68f53c05c54543d4"/>
    <p:sldId xmlns:r="http://schemas.openxmlformats.org/officeDocument/2006/relationships" id="267" r:id="R7c094326e1974254"/>
    <p:sldId xmlns:r="http://schemas.openxmlformats.org/officeDocument/2006/relationships" id="268" r:id="Rcc5cd22f94a04df6"/>
    <p:sldId xmlns:r="http://schemas.openxmlformats.org/officeDocument/2006/relationships" id="269" r:id="Rb3276c18b71b48f2"/>
    <p:sldId xmlns:r="http://schemas.openxmlformats.org/officeDocument/2006/relationships" id="270" r:id="R7d5d0979bca743bd"/>
    <p:sldId xmlns:r="http://schemas.openxmlformats.org/officeDocument/2006/relationships" id="271" r:id="Red8769f3b294406a"/>
    <p:sldId xmlns:r="http://schemas.openxmlformats.org/officeDocument/2006/relationships" id="272" r:id="Rb8af151d20294fba"/>
    <p:sldId xmlns:r="http://schemas.openxmlformats.org/officeDocument/2006/relationships" id="273" r:id="Reb81227366b54064"/>
    <p:sldId xmlns:r="http://schemas.openxmlformats.org/officeDocument/2006/relationships" id="274" r:id="Rc3b8aa3e89704d4e"/>
    <p:sldId xmlns:r="http://schemas.openxmlformats.org/officeDocument/2006/relationships" id="275" r:id="R44f472c717bc4f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3b700c2304edc" /><Relationship Type="http://schemas.openxmlformats.org/officeDocument/2006/relationships/slideMaster" Target="/ppt/slideMasters/slideMaster1.xml" Id="Rda4c2d666ad647e5" /><Relationship Type="http://schemas.openxmlformats.org/officeDocument/2006/relationships/notesMaster" Target="/ppt/notesMasters/notesMaster1.xml" Id="Rf0e3be083d514af9" /><Relationship Type="http://schemas.openxmlformats.org/officeDocument/2006/relationships/presProps" Target="/ppt/presProps.xml" Id="R7445dfb8ed7642b0" /><Relationship Type="http://schemas.openxmlformats.org/officeDocument/2006/relationships/tableStyles" Target="/ppt/tableStyles.xml" Id="R07e7ab076e104047" /><Relationship Type="http://schemas.openxmlformats.org/officeDocument/2006/relationships/slide" Target="/ppt/slides/slide1.xml" Id="R9473f8e309fe467d" /><Relationship Type="http://schemas.openxmlformats.org/officeDocument/2006/relationships/slide" Target="/ppt/slides/slide2.xml" Id="Rdc09edc854e84208" /><Relationship Type="http://schemas.openxmlformats.org/officeDocument/2006/relationships/slide" Target="/ppt/slides/slide3.xml" Id="Rb2432fc71e8f43ce" /><Relationship Type="http://schemas.openxmlformats.org/officeDocument/2006/relationships/slide" Target="/ppt/slides/slide4.xml" Id="Redc9f229fae84ade" /><Relationship Type="http://schemas.openxmlformats.org/officeDocument/2006/relationships/slide" Target="/ppt/slides/slide5.xml" Id="R633868c99c714dc0" /><Relationship Type="http://schemas.openxmlformats.org/officeDocument/2006/relationships/slide" Target="/ppt/slides/slide6.xml" Id="R3e3d180872e74dc1" /><Relationship Type="http://schemas.openxmlformats.org/officeDocument/2006/relationships/slide" Target="/ppt/slides/slide7.xml" Id="R012290ab1ec64a4d" /><Relationship Type="http://schemas.openxmlformats.org/officeDocument/2006/relationships/slide" Target="/ppt/slides/slide8.xml" Id="R06622eef54874a7a" /><Relationship Type="http://schemas.openxmlformats.org/officeDocument/2006/relationships/slide" Target="/ppt/slides/slide9.xml" Id="Raef5ee4cb1e844d8" /><Relationship Type="http://schemas.openxmlformats.org/officeDocument/2006/relationships/slide" Target="/ppt/slides/slide10.xml" Id="R6c2c9cb031414d45" /><Relationship Type="http://schemas.openxmlformats.org/officeDocument/2006/relationships/slide" Target="/ppt/slides/slide11.xml" Id="R68f53c05c54543d4" /><Relationship Type="http://schemas.openxmlformats.org/officeDocument/2006/relationships/slide" Target="/ppt/slides/slide12.xml" Id="R7c094326e1974254" /><Relationship Type="http://schemas.openxmlformats.org/officeDocument/2006/relationships/slide" Target="/ppt/slides/slide13.xml" Id="Rcc5cd22f94a04df6" /><Relationship Type="http://schemas.openxmlformats.org/officeDocument/2006/relationships/slide" Target="/ppt/slides/slide14.xml" Id="Rb3276c18b71b48f2" /><Relationship Type="http://schemas.openxmlformats.org/officeDocument/2006/relationships/slide" Target="/ppt/slides/slide15.xml" Id="R7d5d0979bca743bd" /><Relationship Type="http://schemas.openxmlformats.org/officeDocument/2006/relationships/slide" Target="/ppt/slides/slide16.xml" Id="Red8769f3b294406a" /><Relationship Type="http://schemas.openxmlformats.org/officeDocument/2006/relationships/slide" Target="/ppt/slides/slide17.xml" Id="Rb8af151d20294fba" /><Relationship Type="http://schemas.openxmlformats.org/officeDocument/2006/relationships/slide" Target="/ppt/slides/slide18.xml" Id="Reb81227366b54064" /><Relationship Type="http://schemas.openxmlformats.org/officeDocument/2006/relationships/slide" Target="/ppt/slides/slide19.xml" Id="Rc3b8aa3e89704d4e" /><Relationship Type="http://schemas.openxmlformats.org/officeDocument/2006/relationships/slide" Target="/ppt/slides/slide20.xml" Id="R44f472c717bc4f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72812b55eb46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2834c2731f4863" /><Relationship Type="http://schemas.openxmlformats.org/officeDocument/2006/relationships/notesMaster" Target="/ppt/notesMasters/notesMaster1.xml" Id="Reac9e0670b374f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b91da17e6d4833" /><Relationship Type="http://schemas.openxmlformats.org/officeDocument/2006/relationships/notesMaster" Target="/ppt/notesMasters/notesMaster1.xml" Id="R4b12af4271034b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47dabdeaae46ec" /><Relationship Type="http://schemas.openxmlformats.org/officeDocument/2006/relationships/notesMaster" Target="/ppt/notesMasters/notesMaster1.xml" Id="R2124717a0d7445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5e6597484f4d50" /><Relationship Type="http://schemas.openxmlformats.org/officeDocument/2006/relationships/notesMaster" Target="/ppt/notesMasters/notesMaster1.xml" Id="R96fcff2e0e4045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fc1bf9dfe947a3" /><Relationship Type="http://schemas.openxmlformats.org/officeDocument/2006/relationships/notesMaster" Target="/ppt/notesMasters/notesMaster1.xml" Id="R6e58aac21d7145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f8f1ecf8724cca" /><Relationship Type="http://schemas.openxmlformats.org/officeDocument/2006/relationships/notesMaster" Target="/ppt/notesMasters/notesMaster1.xml" Id="Re3833e4cb77949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8ec1755a444b64" /><Relationship Type="http://schemas.openxmlformats.org/officeDocument/2006/relationships/notesMaster" Target="/ppt/notesMasters/notesMaster1.xml" Id="Rfa666a719af74b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be2179cc7b41a0" /><Relationship Type="http://schemas.openxmlformats.org/officeDocument/2006/relationships/notesMaster" Target="/ppt/notesMasters/notesMaster1.xml" Id="R82e88ed80bfc4e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0398ff5bed4bd8" /><Relationship Type="http://schemas.openxmlformats.org/officeDocument/2006/relationships/notesMaster" Target="/ppt/notesMasters/notesMaster1.xml" Id="R47ed7ed1529c48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e3afafd77547ed" /><Relationship Type="http://schemas.openxmlformats.org/officeDocument/2006/relationships/notesMaster" Target="/ppt/notesMasters/notesMaster1.xml" Id="Ra86618df2b0741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b6262a030c4f27" /><Relationship Type="http://schemas.openxmlformats.org/officeDocument/2006/relationships/notesMaster" Target="/ppt/notesMasters/notesMaster1.xml" Id="R44bf5ca380e34a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76d2884dd840b3" /><Relationship Type="http://schemas.openxmlformats.org/officeDocument/2006/relationships/notesMaster" Target="/ppt/notesMasters/notesMaster1.xml" Id="R9075d2db2e6747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7ea1b5350b4a37" /><Relationship Type="http://schemas.openxmlformats.org/officeDocument/2006/relationships/notesMaster" Target="/ppt/notesMasters/notesMaster1.xml" Id="R32b3cc9200404f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2490fe63ba4e3e" /><Relationship Type="http://schemas.openxmlformats.org/officeDocument/2006/relationships/notesMaster" Target="/ppt/notesMasters/notesMaster1.xml" Id="R56b9e0bbcd334b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341af170c24eed" /><Relationship Type="http://schemas.openxmlformats.org/officeDocument/2006/relationships/notesMaster" Target="/ppt/notesMasters/notesMaster1.xml" Id="R0ea435e0d8ad41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7d6e4a1fc84dec" /><Relationship Type="http://schemas.openxmlformats.org/officeDocument/2006/relationships/notesMaster" Target="/ppt/notesMasters/notesMaster1.xml" Id="R0f70162a6b8740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b55666cd1f426d" /><Relationship Type="http://schemas.openxmlformats.org/officeDocument/2006/relationships/notesMaster" Target="/ppt/notesMasters/notesMaster1.xml" Id="Rb1b7760e37814c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ea3796b5b04b3f" /><Relationship Type="http://schemas.openxmlformats.org/officeDocument/2006/relationships/notesMaster" Target="/ppt/notesMasters/notesMaster1.xml" Id="Rdd4bf564508c45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11cd99a6504311" /><Relationship Type="http://schemas.openxmlformats.org/officeDocument/2006/relationships/notesMaster" Target="/ppt/notesMasters/notesMaster1.xml" Id="R7121b87359e94d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d59ad3779cc4da8" /><Relationship Type="http://schemas.openxmlformats.org/officeDocument/2006/relationships/notesMaster" Target="/ppt/notesMasters/notesMaster1.xml" Id="R6d179c1b668e47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Open with scope: three production feeds, about eight weeks of recommendation work.</a:t>
            </a:r>
          </a:p>
          <a:p xmlns:a="http://schemas.openxmlformats.org/drawingml/2006/main">
            <a:r>
              <a:t>- I completed my assigned internship project in three weeks, then asked to join the recommendation effort.</a:t>
            </a:r>
          </a:p>
          <a:p xmlns:a="http://schemas.openxmlformats.org/drawingml/2006/main">
            <a:r>
              <a:t>- My focus today: ownership, setbacks, launch evidence, and what I would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Spend the first minute here. This is the scale and business relevance.</a:t>
            </a:r>
          </a:p>
          <a:p xmlns:a="http://schemas.openxmlformats.org/drawingml/2006/main">
            <a:r>
              <a:t>- Because You Create: feed playtime rose 63 percent; feed plays rose 36 percent.</a:t>
            </a:r>
          </a:p>
          <a:p xmlns:a="http://schemas.openxmlformats.org/drawingml/2006/main">
            <a:r>
              <a:t>- Creators You May Like: net follows rose 15 percent and the result was statistically significant.</a:t>
            </a:r>
          </a:p>
          <a:p xmlns:a="http://schemas.openxmlformats.org/drawingml/2006/main">
            <a:r>
              <a:t>- Retention was a company priority, so homepage discovery was a high-leverage product surface.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Explain the product difference before discussing algorithms.</a:t>
            </a:r>
          </a:p>
          <a:p xmlns:a="http://schemas.openxmlformats.org/drawingml/2006/main">
            <a:r>
              <a:t>- A creation is content and a strong expression of taste.</a:t>
            </a:r>
          </a:p>
          <a:p xmlns:a="http://schemas.openxmlformats.org/drawingml/2006/main">
            <a:r>
              <a:t>- Sparse listening history does not imply sparse preference data at Suno.</a:t>
            </a:r>
          </a:p>
          <a:p xmlns:a="http://schemas.openxmlformats.org/drawingml/2006/main">
            <a:r>
              <a:t>- This changed seed selection, quality filters, ranking, and the metrics we cared about.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State the autonomy clearly: the recommendation work was not my initial assignment.</a:t>
            </a:r>
          </a:p>
          <a:p xmlns:a="http://schemas.openxmlformats.org/drawingml/2006/main">
            <a:r>
              <a:t>- I saw the weakness as a user, asked to join the effort, and scoped an engineering plan with the ML scientist.</a:t>
            </a:r>
          </a:p>
          <a:p xmlns:a="http://schemas.openxmlformats.org/drawingml/2006/main">
            <a:r>
              <a:t>- The three feed timelines overlapped; each took roughly three to six weeks from first implementation through experiment analysis.</a:t>
            </a:r>
          </a:p>
          <a:p xmlns:a="http://schemas.openxmlformats.org/drawingml/2006/main">
            <a:r>
              <a:t>- No dedicated PM owned sequencing or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Use exact ownership language and avoid implying that I designed every ranking decision alone.</a:t>
            </a:r>
          </a:p>
          <a:p xmlns:a="http://schemas.openxmlformats.org/drawingml/2006/main">
            <a:r>
              <a:t>- I owned all data pipelines, most serving and UI work, rollout, and production health.</a:t>
            </a:r>
          </a:p>
          <a:p xmlns:a="http://schemas.openxmlformats.org/drawingml/2006/main">
            <a:r>
              <a:t>- The ML scientist was strongest on algorithms, scoring, and experiment interpretation.</a:t>
            </a:r>
          </a:p>
          <a:p xmlns:a="http://schemas.openxmlformats.org/drawingml/2006/main">
            <a:r>
              <a:t>- The partnership worked because the technical responsibilities were complementary.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Use this slide to prevent the audience from treating the feeds as three copies of one algorithm.</a:t>
            </a:r>
          </a:p>
          <a:p xmlns:a="http://schemas.openxmlformats.org/drawingml/2006/main">
            <a:r>
              <a:t>- For You combines several weak and strong signals.</a:t>
            </a:r>
          </a:p>
          <a:p xmlns:a="http://schemas.openxmlformats.org/drawingml/2006/main">
            <a:r>
              <a:t>- Because You Create starts from one strong, visible creation anchor.</a:t>
            </a:r>
          </a:p>
          <a:p xmlns:a="http://schemas.openxmlformats.org/drawingml/2006/main">
            <a:r>
              <a:t>- Creator recommendations optimize a relationship outcome rather than a song 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Keep the first explanation at system level; use the appendix for scoring detail.</a:t>
            </a:r>
          </a:p>
          <a:p xmlns:a="http://schemas.openxmlformats.org/drawingml/2006/main">
            <a:r>
              <a:t>- I built the data flow, feed assembly, serving path, and instrumentation across this loop.</a:t>
            </a:r>
          </a:p>
          <a:p xmlns:a="http://schemas.openxmlformats.org/drawingml/2006/main">
            <a:r>
              <a:t>- Shared infrastructure reduced duplicate engineering, while feed-specific ranking preserved product intent.</a:t>
            </a:r>
          </a:p>
          <a:p xmlns:a="http://schemas.openxmlformats.org/drawingml/2006/main">
            <a:r>
              <a:t>- Attribution linked generated candidates to impressions, position, actions, and experiment assignment.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This was my clearest technical setback.</a:t>
            </a:r>
          </a:p>
          <a:p xmlns:a="http://schemas.openxmlformats.org/drawingml/2006/main">
            <a:r>
              <a:t>- The query was logically correct and passed small tests, but it materialized invalid combinations before filtering.</a:t>
            </a:r>
          </a:p>
          <a:p xmlns:a="http://schemas.openxmlformats.org/drawingml/2006/main">
            <a:r>
              <a:t>- Evidence: 23.4 billion rows, about 4 terabytes of spill, and a timeout beyond four hours.</a:t>
            </a:r>
          </a:p>
          <a:p xmlns:a="http://schemas.openxmlformats.org/drawingml/2006/main">
            <a:r>
              <a:t>- I traced the fan-out to the join grain and moved eligibility into the join condition.</a:t>
            </a:r>
          </a:p>
          <a:p xmlns:a="http://schemas.openxmlformats.org/drawingml/2006/main">
            <a:r>
              <a:t>- Do not claim an exact after-runtime; the launch summary did not preserve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dangerous failures looked plausible. They did not always produce obvious errors.</a:t>
            </a:r>
          </a:p>
          <a:p xmlns:a="http://schemas.openxmlformats.org/drawingml/2006/main">
            <a:r>
              <a:t>- I initially used the wrong source in parts of the pipeline because the codebase had several representations of the same concept.</a:t>
            </a:r>
          </a:p>
          <a:p xmlns:a="http://schemas.openxmlformats.org/drawingml/2006/main">
            <a:r>
              <a:t>- I stopped tuning ranking until the source, identifier, and grain were verified for one user end to end.</a:t>
            </a:r>
          </a:p>
          <a:p xmlns:a="http://schemas.openxmlformats.org/drawingml/2006/main">
            <a:r>
              <a:t>- The fix was a set of explicit data contracts and telemetry rather than a one-off query patch.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This bug was small in code and large in product effect.</a:t>
            </a:r>
          </a:p>
          <a:p xmlns:a="http://schemas.openxmlformats.org/drawingml/2006/main">
            <a:r>
              <a:t>- Sampling first meant a bad draw erased users who still had other eligible creations.</a:t>
            </a:r>
          </a:p>
          <a:p xmlns:a="http://schemas.openxmlformats.org/drawingml/2006/main">
            <a:r>
              <a:t>- Moving validation ahead of sampling reduced zero-seed users from 47.12 percent to 7.91 percent.</a:t>
            </a:r>
          </a:p>
          <a:p xmlns:a="http://schemas.openxmlformats.org/drawingml/2006/main">
            <a:r>
              <a:t>- The remaining 7.91 percent represented the real no-seed floor under the eligibility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Read the primary signal first, then explain the supporting metric and guardrail.</a:t>
            </a:r>
          </a:p>
          <a:p xmlns:a="http://schemas.openxmlformats.org/drawingml/2006/main">
            <a:r>
              <a:t>- Because You Create moved both shelf depth and a site-wide listening measure.</a:t>
            </a:r>
          </a:p>
          <a:p xmlns:a="http://schemas.openxmlformats.org/drawingml/2006/main">
            <a:r>
              <a:t>- The creator result was statistically significant after variance adjustment and bot filtering.</a:t>
            </a:r>
          </a:p>
          <a:p xmlns:a="http://schemas.openxmlformats.org/drawingml/2006/main">
            <a:r>
              <a:t>- Be explicit about the limits: launch summaries did not include sample size, duration, or confidence intervals in the material available for this deck.</a:t>
            </a:r>
          </a:p>
          <a:p xmlns:a="http://schemas.openxmlformats.org/drawingml/2006/main">
            <a:r>
              <a:t>- Do not claim a quantitative For You lift without the underlying readout.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Separate feature output from organizational capability.</a:t>
            </a:r>
          </a:p>
          <a:p xmlns:a="http://schemas.openxmlformats.org/drawingml/2006/main">
            <a:r>
              <a:t>- The immediate output was three feeds; the durable output was a shared delivery and measurement path.</a:t>
            </a:r>
          </a:p>
          <a:p xmlns:a="http://schemas.openxmlformats.org/drawingml/2006/main">
            <a:r>
              <a:t>- Configuration, fallback behavior, and attribution reduced the cost of future experiments.</a:t>
            </a:r>
          </a:p>
          <a:p xmlns:a="http://schemas.openxmlformats.org/drawingml/2006/main">
            <a:r>
              <a:t>- I owned the operational path from staging through production health.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Close the main presentation here and leave time for questions.</a:t>
            </a:r>
          </a:p>
          <a:p xmlns:a="http://schemas.openxmlformats.org/drawingml/2006/main">
            <a:r>
              <a:t>- The strongest part of the project was ownership across boundaries.</a:t>
            </a:r>
          </a:p>
          <a:p xmlns:a="http://schemas.openxmlformats.org/drawingml/2006/main">
            <a:r>
              <a:t>- The main cost was learning data grain, source semantics, and metric design while building.</a:t>
            </a:r>
          </a:p>
          <a:p xmlns:a="http://schemas.openxmlformats.org/drawingml/2006/main">
            <a:r>
              <a:t>- My day-one changes would reduce rework without removing the useful experimentation.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Stop here unless a question calls for more detail.</a:t>
            </a:r>
          </a:p>
          <a:p xmlns:a="http://schemas.openxmlformats.org/drawingml/2006/main">
            <a:r>
              <a:t>- The appendix covers ownership, feed semantics, scoring, safety, measurement, and day-one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Use this slide when asked what I personally built.</a:t>
            </a:r>
          </a:p>
          <a:p xmlns:a="http://schemas.openxmlformats.org/drawingml/2006/main">
            <a:r>
              <a:t>- Choose one workstream and give a concrete artifact or decision.</a:t>
            </a:r>
          </a:p>
          <a:p xmlns:a="http://schemas.openxmlformats.org/drawingml/2006/main">
            <a:r>
              <a:t>- Repeat the partner contribution when the question touches ranking or experiment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Use this comparison to answer feed-specific architecture questions.</a:t>
            </a:r>
          </a:p>
          <a:p xmlns:a="http://schemas.openxmlformats.org/drawingml/2006/main">
            <a:r>
              <a:t>- The shared platform handles common mechanics; the semantic contract changes by feed.</a:t>
            </a:r>
          </a:p>
          <a:p xmlns:a="http://schemas.openxmlformats.org/drawingml/2006/main">
            <a:r>
              <a:t>- Creator recommendations have a different entity type and a different success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Keep this explanation conceptual unless the interviewer asks for exact feature logic.</a:t>
            </a:r>
          </a:p>
          <a:p xmlns:a="http://schemas.openxmlformats.org/drawingml/2006/main">
            <a:r>
              <a:t>- Retrieval maximizes candidate coverage; ranking and assembly enforce the feed's product objective.</a:t>
            </a:r>
          </a:p>
          <a:p xmlns:a="http://schemas.openxmlformats.org/drawingml/2006/main">
            <a:r>
              <a:t>- The formula is conceptual and omits internal implementation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Use this slide for production-readiness questions.</a:t>
            </a:r>
          </a:p>
          <a:p xmlns:a="http://schemas.openxmlformats.org/drawingml/2006/main">
            <a:r>
              <a:t>- Candidate eligibility is checked before storage and again at serve time because state can change.</a:t>
            </a:r>
          </a:p>
          <a:p xmlns:a="http://schemas.openxmlformats.org/drawingml/2006/main">
            <a:r>
              <a:t>- Fallback behavior protects user experience when the offline path is late or missing.</a:t>
            </a:r>
          </a:p>
          <a:p xmlns:a="http://schemas.openxmlformats.org/drawingml/2006/main">
            <a:r>
              <a:t>- The program launched without a production outage after staging and rollout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 user can be assigned to treatment without seeing the shelf.</a:t>
            </a:r>
          </a:p>
          <a:p xmlns:a="http://schemas.openxmlformats.org/drawingml/2006/main">
            <a:r>
              <a:t>- Separate intent-to-treat and actual-exposure views before explaining a lift.</a:t>
            </a:r>
          </a:p>
          <a:p xmlns:a="http://schemas.openxmlformats.org/drawingml/2006/main">
            <a:r>
              <a:t>- Report baselines, sample size, duration, confidence interval, and guardrails when available.</a:t>
            </a:r>
          </a:p>
          <a:p xmlns:a="http://schemas.openxmlformats.org/drawingml/2006/main">
            <a:r>
              <a:t>- Treat long-term retention as exploratory unless the experiment is powered for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Frame these as sequencing improvements, not a rejection of the approach.</a:t>
            </a:r>
          </a:p>
          <a:p xmlns:a="http://schemas.openxmlformats.org/drawingml/2006/main">
            <a:r>
              <a:t>- The goal is to preserve autonomy while reducing avoidable rework.</a:t>
            </a:r>
          </a:p>
          <a:p xmlns:a="http://schemas.openxmlformats.org/drawingml/2006/main">
            <a:r>
              <a:t>- The first two changes address data and experiment ambiguity; the last two address product and operations ambiguity.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documentation and experiment summaries,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09148f30641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b2eae1ef7442ed" /><Relationship Type="http://schemas.openxmlformats.org/officeDocument/2006/relationships/slideLayout" Target="/ppt/slideLayouts/slideLayout1.xml" Id="Rd2bc128c8d9d41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bc128c8d9d41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7e589fc6942d0" /><Relationship Type="http://schemas.openxmlformats.org/officeDocument/2006/relationships/notesSlide" Target="/ppt/notesSlides/notesSlide1.xml" Id="Re109c64b05594c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00b59199b40aa" /><Relationship Type="http://schemas.openxmlformats.org/officeDocument/2006/relationships/notesSlide" Target="/ppt/notesSlides/notesSlide2.xml" Id="R40240eb6566d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14ccb06e04e37" /><Relationship Type="http://schemas.openxmlformats.org/officeDocument/2006/relationships/notesSlide" Target="/ppt/notesSlides/notesSlide3.xml" Id="R278829c6434344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de0e8289f4734" /><Relationship Type="http://schemas.openxmlformats.org/officeDocument/2006/relationships/notesSlide" Target="/ppt/notesSlides/notesSlide4.xml" Id="R1035bf17316b46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29626cf2d498b" /><Relationship Type="http://schemas.openxmlformats.org/officeDocument/2006/relationships/notesSlide" Target="/ppt/notesSlides/notesSlide5.xml" Id="Reb554023b0f34d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0c7e7095a45e9" /><Relationship Type="http://schemas.openxmlformats.org/officeDocument/2006/relationships/notesSlide" Target="/ppt/notesSlides/notesSlide6.xml" Id="R4ffc2b5ebf944c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70e0cc8db4330" /><Relationship Type="http://schemas.openxmlformats.org/officeDocument/2006/relationships/notesSlide" Target="/ppt/notesSlides/notesSlide7.xml" Id="R8d8de345ee9446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fd5a5b8eb4851" /><Relationship Type="http://schemas.openxmlformats.org/officeDocument/2006/relationships/notesSlide" Target="/ppt/notesSlides/notesSlide8.xml" Id="R87d1a72622ba46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5534cbbb048fc" /><Relationship Type="http://schemas.openxmlformats.org/officeDocument/2006/relationships/notesSlide" Target="/ppt/notesSlides/notesSlide9.xml" Id="Rebe8ba1a6b5842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bd3bdfdfd4dc7" /><Relationship Type="http://schemas.openxmlformats.org/officeDocument/2006/relationships/notesSlide" Target="/ppt/notesSlides/notesSlide10.xml" Id="R68d50075ee8740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7054427c145a5" /><Relationship Type="http://schemas.openxmlformats.org/officeDocument/2006/relationships/notesSlide" Target="/ppt/notesSlides/notesSlide11.xml" Id="Rff22f270cd2d48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41e89de9c44e4" /><Relationship Type="http://schemas.openxmlformats.org/officeDocument/2006/relationships/notesSlide" Target="/ppt/notesSlides/notesSlide12.xml" Id="R6850bf2ed9b646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52f7c0b5d4a12" /><Relationship Type="http://schemas.openxmlformats.org/officeDocument/2006/relationships/notesSlide" Target="/ppt/notesSlides/notesSlide13.xml" Id="Rb79f9612bdd54c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2f242e4634830" /><Relationship Type="http://schemas.openxmlformats.org/officeDocument/2006/relationships/notesSlide" Target="/ppt/notesSlides/notesSlide14.xml" Id="R0ff3911d458f4c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d75f7305b44ff" /><Relationship Type="http://schemas.openxmlformats.org/officeDocument/2006/relationships/notesSlide" Target="/ppt/notesSlides/notesSlide15.xml" Id="R42d700795e9248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f0f665c444786" /><Relationship Type="http://schemas.openxmlformats.org/officeDocument/2006/relationships/notesSlide" Target="/ppt/notesSlides/notesSlide16.xml" Id="R32285c54693c4a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ba7f6340342b6" /><Relationship Type="http://schemas.openxmlformats.org/officeDocument/2006/relationships/notesSlide" Target="/ppt/notesSlides/notesSlide17.xml" Id="R8bfd6a309ce745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93a43e3364acf" /><Relationship Type="http://schemas.openxmlformats.org/officeDocument/2006/relationships/notesSlide" Target="/ppt/notesSlides/notesSlide18.xml" Id="R4015e47f9aa64e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45f1c52db461c" /><Relationship Type="http://schemas.openxmlformats.org/officeDocument/2006/relationships/notesSlide" Target="/ppt/notesSlides/notesSlide19.xml" Id="R1d0251aa471f4c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a98d93271434a" /><Relationship Type="http://schemas.openxmlformats.org/officeDocument/2006/relationships/notesSlide" Target="/ppt/notesSlides/notesSlide20.xml" Id="Rfb4dac164de54a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93F51-CCF1-4787-BCF2-29D2667B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F00BA-43CB-4C6C-972C-73530B8B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AFC4D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4DD"/>
                </a:solidFill>
                <a:latin typeface="Arial"/>
                <a:ea typeface="Arial"/>
                <a:cs typeface="Arial"/>
              </a:rPr>
              <a:t>PAST WORK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8828A-EEA4-4FD7-9F21-1DFCEE18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66825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Building Suno's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recommendation feeds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AA924-FBFB-44F3-A407-F14C3216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D6E1E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E1EE"/>
                </a:solidFill>
                <a:latin typeface="Arial"/>
                <a:ea typeface="Arial"/>
                <a:cs typeface="Arial"/>
              </a:rPr>
              <a:t>Three production feeds in eight weeks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67A85-BFE5-4190-977E-C779D8BA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5D86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85050-BAA8-496D-8689-2C2E631E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Bryn Kerslake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5EBD9-EADC-4ED2-8C96-B96D7479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FC4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DD"/>
                </a:solidFill>
                <a:latin typeface="Arial"/>
                <a:ea typeface="Arial"/>
                <a:cs typeface="Arial"/>
              </a:rPr>
              <a:t>Suno internship project | Cognition interview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BEA85-C545-4312-B8ED-43B7E946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FC4D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4D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35046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052F3-1829-4712-A1D3-2B796167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8AB1E-7C5F-4EC2-8ABE-2D46B3ED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DD522-5605-498C-BF5F-C036C842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Three feeds reached production; launch tests improved listening and follows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02402-A99C-4CE5-8FA5-4961080F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850D9-98F1-4250-BFFC-E7096C50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741AB-F663-45DC-B4FA-470332AB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0EF19-7BA5-4069-844F-B97573C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9E545-3497-4682-93C1-C9F9EF74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73194-1140-4876-86F7-EA96277B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Platform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7A4CC-FB8A-4DA9-A93B-1F19AFF9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~1.1M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6271A-118C-44C6-817A-00EB0E5B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02A"/>
                </a:solidFill>
                <a:latin typeface="Arial"/>
                <a:ea typeface="Arial"/>
                <a:cs typeface="Arial"/>
              </a:rPr>
              <a:t>daily active 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48366-950C-4A2A-B9DD-71AEE734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71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~7M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37F0D-158B-45E1-9C63-09D5A747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02A"/>
                </a:solidFill>
                <a:latin typeface="Arial"/>
                <a:ea typeface="Arial"/>
                <a:cs typeface="Arial"/>
              </a:rPr>
              <a:t>monthly active 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858A2-C24E-42BE-AD40-EC864D51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0975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8B7A5-3710-49F9-B300-365F684C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Launch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AEEF5-E502-43B3-A5DE-AD63A7C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+63%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8B918-EA07-4137-8A65-62D2C843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02A"/>
                </a:solidFill>
                <a:latin typeface="Arial"/>
                <a:ea typeface="Arial"/>
                <a:cs typeface="Arial"/>
              </a:rPr>
              <a:t>Because You Create feed playtime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BC3D9-790D-4605-AFF3-7CCBAFA9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147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Time spent listening inside the shelf vs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EE8DE-196E-4038-A784-950FA135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717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+15%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02735-DA95-480C-86D7-7EECD2AB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02A"/>
                </a:solidFill>
                <a:latin typeface="Arial"/>
                <a:ea typeface="Arial"/>
                <a:cs typeface="Arial"/>
              </a:rPr>
              <a:t>personalized creator net follows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B86B4-B18B-4566-86DD-9AB41B07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147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Net new follow relationships vs control; statistically significant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CE778-2A64-4EB5-A3A5-F130263C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A9AED2-C031-4971-B243-DF457D05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3 feeds live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94B0F6-EF8D-4B02-AF1D-5627475B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29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For You | Because You Create | Creators You May Like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4DAE7-9344-4219-BB59-CA4DF60D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1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All lifts are relative to experiment control. Platform scale is approximate.</a:t>
            </a:r>
          </a:p>
        </p:txBody>
      </p:sp>
    </p:spTree>
    <p:extLst>
      <p:ext uri="{BB962C8B-B14F-4D97-AF65-F5344CB8AC3E}">
        <p14:creationId xmlns:p14="http://schemas.microsoft.com/office/powerpoint/2010/main" val="410675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7FD272-8DBA-4151-BDF4-2A9A7992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7FD99-A378-4EB9-82F3-98932F70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PRODUCT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45A5A-F3F4-40C0-AD64-94E4631A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Creation behavior provides preference signals that streaming products do not have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111CF-B1B1-4770-9319-7E1A00C9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74F10-ACB8-4B54-A902-F60A9431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862DF-04F5-499F-9D63-F3DD5A28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975FE-150C-4303-8F63-1F33A1FA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FDEF0-B1DF-4C54-84C9-7B8BF569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FB3A3-503E-4BA6-A7C3-63D8F530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CONSUMPTION-FIRST 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8E20A-A783-4EB1-BA2A-C71B9F02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Listen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1F40C-C712-4F35-980F-A88D37E3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1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0932A-0E11-4093-B067-E5305E2B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574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Engage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F0226-8EC1-419A-9563-9F42710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669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1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E9143-D875-46C1-906E-7D91FB8F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574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68CAD-8C06-474C-B9E9-C74A7C46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98659-916C-4B10-B041-F8814BD4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SUNO'S CREATION-FIRST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52E0A-B037-4EB6-9206-34AC333C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FA3B0-0EF3-452D-81AE-A8CB02D4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005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High-intent taste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2929E-7F95-44AF-825A-EEA3A1CC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CE3D3-13D9-41C0-9399-FE66AEF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81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Infer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AE6C3-B789-4BFE-8E22-899E4C8E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2005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Audio, genre, and behavior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996DA-714A-44AF-8A53-B5333FB0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81CC3-2258-4468-8029-00C8ED5D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81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10D93-3F15-40A1-887C-CF2B7807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005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Songs and creators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B6F52-894A-4BA9-A898-3FFA9EC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814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29A39-0CC4-4EF9-ABC6-1EA1AF1C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81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Listen / follow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F82AE-D2F4-439C-8AF9-BB36FBF1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005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Discovery outcome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A316C3-739F-4DCF-93ED-7F5A5667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814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D8E25B-7148-43FB-8DBE-D316363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81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A535F-3ADF-4F33-8879-F90EB5D5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005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Retention 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E2868-BA10-43CD-A353-6E17DBE9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0915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8202A"/>
                </a:solidFill>
                <a:latin typeface="Arial"/>
                <a:ea typeface="Arial"/>
                <a:cs typeface="Arial"/>
              </a:rPr>
              <a:t>New users may have sparse listening histories but several strong creation signals.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8202A"/>
                </a:solidFill>
                <a:latin typeface="Arial"/>
                <a:ea typeface="Arial"/>
                <a:cs typeface="Arial"/>
              </a:rPr>
              <a:t>The product must create value for listeners, creators, and the return loop.</a:t>
            </a:r>
          </a:p>
        </p:txBody>
      </p:sp>
    </p:spTree>
    <p:extLst>
      <p:ext uri="{BB962C8B-B14F-4D97-AF65-F5344CB8AC3E}">
        <p14:creationId xmlns:p14="http://schemas.microsoft.com/office/powerpoint/2010/main" val="1484307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991BBC-5EA8-48FC-81FB-BC97BBD1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904C1-162A-4BB8-8280-FEA75FCC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AUTONOMY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5BCDC-C644-4384-9420-41AA1D91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I defined the recommendations workstream after finishing my assigned project in three weeks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BB9F5-36DC-49F3-81A3-8F245DCA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2946A-3848-46DE-95BA-C4F7759E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3361F-B5F7-466D-B267-BA92CCF7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A95BB-F390-4E80-B5E4-1220CAD8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912B4-AD25-4AB7-9908-A6CEBB3D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5FAFB-1062-4A39-A0A8-E5F795F1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81375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B2707-F373-4C3C-A8ED-FA8B6F79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4F77B-5232-43D6-AA09-9BF98C7D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WEEK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E23F9-7221-455C-8038-FF8DA532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Joined as a full-stack intern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49E6A-878F-43D0-80DC-4CDE7F7B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Limited prior experience with recommendation systems or data engineering.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EC558-40BD-4298-8E18-18A3FE91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76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B6786-06F9-44E0-BF53-76102BCE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43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983A8-E7FB-4C99-9E34-F94CD210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479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Assigned project shipped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1BF49-C7C9-4CC9-9B05-E8A9B08D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14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Bot detection and a data-agent system for a self-improving data codebase.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BC2A3-3087-4E4C-BDEA-1B71E368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960E9-1FF3-4B97-8C55-F805C45A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NEXT ~8 WEEKS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968BA-C228-44C4-B3BB-84A21EDB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Three feeds built in parallel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2A17D-30BD-4606-8BC5-F5064B6D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Asked to join the recommendation effort and defined the engineering path.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91E38-6AA6-40A2-9850-AA3632E1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11010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6E80B-88E5-4938-A0C4-193DDB05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Team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16DD8-3E30-484B-B11F-064502BD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38750"/>
            <a:ext cx="893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No dedicated PM | No predefined roadmap | ML scientist as core partner | Data science and design support as needed</a:t>
            </a:r>
          </a:p>
        </p:txBody>
      </p:sp>
    </p:spTree>
    <p:extLst>
      <p:ext uri="{BB962C8B-B14F-4D97-AF65-F5344CB8AC3E}">
        <p14:creationId xmlns:p14="http://schemas.microsoft.com/office/powerpoint/2010/main" val="1972543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4C348F-8C82-466C-847A-B5B1DA98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484CD-AE35-469B-8731-BD7527C6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56622-FD59-4B2A-97C5-C4CE378D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I owned delivery and production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80372-C476-41E5-A725-B26120AE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7F93C-E8A2-4B6F-9253-A8E71506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243FE-BE36-4449-A5DD-C17BE5A1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8E781-7F4F-478E-950C-9F6977D6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8E102-76C7-41B4-9011-F096FCCF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F55BB-0E57-45EA-8D9E-B2CDF824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EA5CB-686A-4876-BA9F-3905913E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Workstream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6713B-3008-426A-865C-83DDED20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811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95B02-AE48-44F9-AFFA-FBC4BE3A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7640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3FB3B-8721-4DD5-8ABB-A32B0CDA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81150"/>
            <a:ext cx="4343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90ECE-EA2B-4C86-B370-AB5EA5C8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D424D-98F8-432D-8FFC-4D921AC3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3DCD5-D42D-47E2-BF13-E242FA4A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CC128-0EBE-4A30-932B-3591B072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7645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25EF6-4F21-41D7-AB63-8032E41C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71700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Co-owned system design and contracts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089FD-BEA2-43DE-B06E-E295818C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7645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94B78-6506-458E-8290-E9CFF6D5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ML scientist: retrieval and ranking judgment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F0993-35E8-4E63-85AA-AEED0C7D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7BB68-03A6-462B-848B-68255759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Data pipelines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A1FDA-D459-4DC6-914A-809F2799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0510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9EF9B-99DC-4FC0-9B2E-3AA9EE02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0350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Owned end to 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F3867-9D71-4A8D-8C0A-063CCB23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0510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7DF32-07BF-473B-A4E1-D1CF14B6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0035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Reviews and domain input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C95FB-6F0A-4D3C-A90A-5B237EE2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69BA33-716A-4145-8177-06ACD0CC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Retrieval and ranking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58AEA8-7ABD-441F-B4C2-7FE7F223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3375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CA403-D951-4F86-8F8B-00A6BE79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29000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Implemented most logic; co-designed scoring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03CFBE-D3FE-44D3-81F0-FA810B5C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2F1C15-1F9A-4C8D-AA5F-18A05D9E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ML scientist: algorithms, scoring, metric interpretation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B6693-8468-4749-B1A1-21343ADE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1F0633-D191-4AEE-BD56-5D29D4B3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Serving and UI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149E22-81E3-4F57-B2DD-D61109D4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6240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FD02BC-0905-450C-B491-6EF1D4F6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57650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Implemented most backend and frontend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87F53F-903A-4910-9233-0C729575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6240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E734F9-F8C0-44A6-9599-CEADB978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Design specifications; occasional engineering support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D1D033-3806-44ED-B44D-88529DD7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8932B5-ED40-4049-9F61-9626F827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Experiments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EA28FB-E205-43C3-9729-E9EB6969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71C70A-7DB3-45FF-9A84-EAEEA3E6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86300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Co-owned setup, instrumentation, and readout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79E7B8-0A09-4C32-913C-057A66F6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9105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BABCB8-CDF8-41A0-B8DB-A1B3EC58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8630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ML scientist and data scientist: analysis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65C550-9508-4F06-A79A-06057853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346A51-BCD0-4C9D-9D2D-8B457D6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Rollout and health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448A25-14C7-45A3-BD3C-76809A04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1970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362512-C37C-4C12-8FDF-CA2CE6C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Owned staging, launch, and monitoring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569E7B-2DAA-4181-8AB5-F37EA93B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1970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43FB79-C32D-493B-9D79-C7411939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1495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Team reviewed launch decisions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1F85B3-EF6D-45E7-9300-AD361588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91225"/>
            <a:ext cx="1091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Ownership language is intentionally specific: owned, co-owned, or implemented most.</a:t>
            </a:r>
          </a:p>
        </p:txBody>
      </p:sp>
    </p:spTree>
    <p:extLst>
      <p:ext uri="{BB962C8B-B14F-4D97-AF65-F5344CB8AC3E}">
        <p14:creationId xmlns:p14="http://schemas.microsoft.com/office/powerpoint/2010/main" val="1452987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1E3607-AE0B-4563-B73E-D826FF67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D7D0A-366D-4E6F-B53C-81143FB1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PRODUCT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56F3C-3159-4D99-8347-712D693A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Each feed addressed a different recommendation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0A5BE-1A1A-4C35-9BA4-25ADCDB8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F199B-6CA2-45A9-A33E-BB653088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BBB4E-962B-4262-8A47-08D24B63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00984-439B-4DD3-9020-85EF4BE1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93ADD-9FFC-43F7-8762-D11C1F6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44BE1-B2FE-4454-9324-C704BFD4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45B7C-D5D9-487A-9692-53A95A2C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EED93-19ED-4CE8-A044-C95FA693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FA76E-D120-4E4F-84FA-212C214E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52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2E7AD-F73F-4D62-85F1-850C318C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186EE-85F3-4A3C-913B-D095FB6B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55DCE-5D80-4D9B-884D-C1E66458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B0C4F-9B6E-458A-A30F-23BD1CBB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Launch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C182C-C43D-4553-8EA7-D57DA656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D90C1-2D04-4097-851D-3563542E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For You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0315D-924C-493D-837F-29E71917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5414E-2F60-48E2-A593-2D59A0ED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2914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Which songs should I hear next?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27FCF-9351-485E-B321-97FC8BB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717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11137-0023-4472-8D1C-DF61D6B8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Listening, creation, interaction, similarity, and fallback 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75742-E33B-4955-AC8C-496D3EAE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71700"/>
            <a:ext cx="2724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D0FD7-29D4-4352-B882-A64254AC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Live; quantitative readout not included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1FB63E-2729-416A-85B1-40DFD2B9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B4D3D3-2080-47E0-9C88-2CF71366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Because You Create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9010E-273C-4BB6-B2C3-B39A525A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4A03A-AA8F-4E6B-9A37-1C0F5B6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71850"/>
            <a:ext cx="2914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What should I hear based on music I made?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DE321A-8BCA-4719-88D7-1790E4F0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766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33D67A-72DA-4EEE-98BD-AE755612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One eligible creation as an anchor; musically adjacent songs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2A08A-0DAB-4BEA-A921-13C1ED78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2724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0B394D-6441-42FD-B1FC-5778660F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71850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7A5B"/>
                </a:solidFill>
                <a:latin typeface="Arial"/>
                <a:ea typeface="Arial"/>
                <a:cs typeface="Arial"/>
              </a:rPr>
              <a:t>+63% feed playtime; +36% feed plays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E4ABA4-209D-43F8-99D2-CC56E2D5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5F4121-2B89-4AAF-B78B-DBD8F984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Creators You May Like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2197C5-C4B2-485C-AC2F-C2ED73A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8150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6BEE9D-803B-42B7-9B89-58710BDE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76750"/>
            <a:ext cx="2914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Which creators should I follow?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3953ED-8DD6-4A59-967E-0427BF98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815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71D30B-675E-459A-AA0F-D872E6D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7675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Listening and creation profile; creator similarity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E508E4-41F7-4208-9F29-D6F2970E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81500"/>
            <a:ext cx="2724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1B0476-8659-4E08-8EA1-5421CDBB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76750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7A5B"/>
                </a:solidFill>
                <a:latin typeface="Arial"/>
                <a:ea typeface="Arial"/>
                <a:cs typeface="Arial"/>
              </a:rPr>
              <a:t>+15% net follows; +7.9% carousel CTR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B0F5A7-79D8-49A3-8D6A-ED0903A1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1010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6CE934-0692-4989-8CC1-82CCD3D1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Design implication: retrieval could be shared; eligibility, ranking, and assembly stayed feed-specific.</a:t>
            </a:r>
          </a:p>
        </p:txBody>
      </p:sp>
    </p:spTree>
    <p:extLst>
      <p:ext uri="{BB962C8B-B14F-4D97-AF65-F5344CB8AC3E}">
        <p14:creationId xmlns:p14="http://schemas.microsoft.com/office/powerpoint/2010/main" val="434047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A884C4-3563-4847-B121-A75A72A5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EC271-F748-4172-88EC-1EB51854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27356-5011-429B-AD63-0662EC3A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 shared offline pipeline supported all three feeds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D137D-C6A9-4B28-A968-E929A48C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49F72-FECC-49F8-A5ED-A030C50D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84043-C2D2-4336-903C-F1FF2CC9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5D400-5F17-4F80-857E-5E2C62E5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53BEB-4567-47A5-9B86-27B263F4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94742-86F9-4A5B-8335-252FB097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9050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91F7A-0519-421C-8074-80DB3D5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2359E-7FA3-419F-A5E2-9EACD605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D9EB6-A169-4845-B4F6-8C0C1427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Listening, likes, creations, profiles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A826E-023F-41C5-A7F4-49A998C0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28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5B213-F68B-4CC2-A1AD-B4B27E39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71675"/>
            <a:ext cx="19050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178D7-E36C-4B40-B4FE-B4CE9675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3797E-1879-4864-997D-F28D0F79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Candidate 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38B68-2554-4ABD-9DC8-AADC77F5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Similarity, personal sources, trends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DC581-B0E6-4304-B02E-6143696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62ADD-4920-4566-A60B-73FC6B75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71675"/>
            <a:ext cx="19050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A4324-98AE-451F-A1E7-ADF67CBA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431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63CAE-EF5B-4016-ABAC-13D4B70D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Per-feed ranking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8E925-B4E7-4956-A369-DA28647E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Relevance, quality, novelty, negatives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AFF0A-1917-4FF1-9B56-9496C944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C48AC-FD31-4401-A6BF-65A7F3A9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71675"/>
            <a:ext cx="19050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2485B-5A4A-47DA-BC73-F2A4573E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B68B0-4D3D-4950-87C7-9FFF9CD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Assembly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F559D-AD2E-4EDF-BABD-8344AF5C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Slots, deduplication, refill, hard floors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6C2756-14C0-45B1-88AE-83E75DC6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FEB9AF-CA30-4B24-B8CE-5CA4C560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71675"/>
            <a:ext cx="19050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5D86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88890-6302-4246-A09C-BE21327C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431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91A9DC-4BBB-495D-B182-D216A662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Serve and learn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956240-4573-4EC5-934D-29A5C6AA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Fast lookup, fallback, attribution, experiments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D062BC-007A-4CFE-97D3-E7CA0C08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817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Offline computation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A45119-D215-4043-9C17-A7333FA4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624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Online serving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4C7526-91A2-4E55-AAB2-E915F783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1010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08710C-47FC-456A-BD20-C274EC18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Operating contract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49EB26-9413-46BD-BA41-F77F02FC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870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Every served item carries feed, position, source, and experiment attribution. Online checks protect privacy, rights, and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1994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DE8C7-4026-4140-AAB6-00038C46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C1F2B-8E43-46EA-ADEC-7AC2785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SETBACK 1: PIPELINE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2038-DA79-4279-9CFD-F297383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 feed-aware join removed a 23.4B-row intermediate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75A11-DB38-4AAF-A6E8-E7C6BC66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14366-3163-4E37-94FA-1904E22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79CFA-3A3C-4C5D-9739-AF0A54A8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B4BD7-5AAE-4B77-9634-AB85C0D3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F2601-5731-40BF-AAC2-AF4738FC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89BF7-4D48-4962-85C7-4D6D50C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FIRST 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9CD10-E3DE-48E3-8E86-90D7DC72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501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Join every candidate to every feed configuration, then filter unsupported feeds.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51AC4-2321-4F6F-B0C2-DFF5DC7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5200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718C6-8DF1-4324-B71F-7C931174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23.4B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B571C-4593-4B66-AB9A-86F60367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02A"/>
                </a:solidFill>
                <a:latin typeface="Arial"/>
                <a:ea typeface="Arial"/>
                <a:cs typeface="Arial"/>
              </a:rPr>
              <a:t>intermediate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3C3AB-DA97-4377-9DA5-128BE3AF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7657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~4 TB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846D0-8C68-45D3-A8C0-3F26ABDA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38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02A"/>
                </a:solidFill>
                <a:latin typeface="Arial"/>
                <a:ea typeface="Arial"/>
                <a:cs typeface="Arial"/>
              </a:rPr>
              <a:t>spill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33851-8CBB-4525-94CE-ECF6C5CA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7657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&gt;4 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66D6D-D232-421E-8E3C-5436945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02A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D410C-10E1-43B8-B4C7-E62C4B0D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76400"/>
            <a:ext cx="0" cy="2914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9EE2A-277D-4DE9-9101-D9F2FE9B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REVISED JOIN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1E25A-B462-447A-AD4B-C0BD0846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Join on user and bucket eligibility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551B1-D5A6-4A79-8994-5D46F079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Expand a candidate only to feeds that can consume its bucket.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CAAFF-5CBA-41AB-908C-0C0A87FB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667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5577F-3C03-44D9-8F60-FEFCA685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24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6F43E-4562-4F2F-A809-880EAD86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1000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Output-equivalent; invalid fan-out avoided; production-feasible execution.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39F77-D9E1-4788-947F-05F667A1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0534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EEE43E-25E4-49EF-9687-DCCE3536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Lesson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10C23F-B97B-45EF-AA69-CACE7B4A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863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At this scale, data grain is an architectural decision.</a:t>
            </a:r>
          </a:p>
        </p:txBody>
      </p:sp>
    </p:spTree>
    <p:extLst>
      <p:ext uri="{BB962C8B-B14F-4D97-AF65-F5344CB8AC3E}">
        <p14:creationId xmlns:p14="http://schemas.microsoft.com/office/powerpoint/2010/main" val="50436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72B772-2CD8-4FBD-BE42-6024ECC7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FC3C5-6E2E-4389-8905-B8A4447C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SETBACK 2: MESSY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4F266-A58D-48F7-84F5-0E509E7B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Explicit data contracts eliminated silent source and identity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DCEC3-4BC7-43D4-857B-D4AA18BD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F6298-F036-40FA-AB8A-36524B0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6F28A-F70F-4138-9754-BCC04E3E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D4B2D-998C-4058-B257-2C346127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C8ADD-8F76-491D-9B68-7B751B98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86A0C-3CE8-4E10-BF09-93EC026A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9D458-080A-430E-B232-FF6832CD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Ambiguity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68BA4-FD27-4610-A81B-E8D9716A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573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33323-B340-452A-9D7E-567ABA83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526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it failed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B492C-CC64-4390-B9DD-9807FBE8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4152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57B98-D7EB-404A-AE6D-7F793350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5260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added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0B965-56B1-489B-90BA-F9521CF6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2952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31719-FC80-464B-AD93-2297A968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Current state vs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D24D2-9798-46B9-B250-80F68451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3905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6B80E-7B57-4109-919D-FB949609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3676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Valid-looking results could be stale or duplicated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125DC-45BF-4A68-A4D5-F67BD577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71700"/>
            <a:ext cx="4152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77E45-464C-4419-A74D-5828A484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66950"/>
            <a:ext cx="3924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Current-state contracts and snapshot replacement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D343C-B50D-4DC6-83FB-E0375720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2952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46176-066F-4626-90CA-7DCB5F7F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Numeric IDs vs UUIDs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91151-0FB8-4359-BB45-6041A5C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3905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B578C-925A-477D-AF5E-322C6A42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76600"/>
            <a:ext cx="3676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Joins could return empty or incomplete results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FD5FB-1BB5-4E46-9B1A-650758A8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4152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1AE52B-4BEF-4F36-A8EF-D25C8097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76600"/>
            <a:ext cx="3924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Explicit identity map and conversion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87B0B-3F66-4EB0-9AE4-B9B4A3D4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2952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15ED6-CE07-42C9-A6DE-E43E6353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Generated vs served feeds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934AE2-3739-4256-BEF3-873E0B96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91000"/>
            <a:ext cx="3905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409A70-2B72-47C9-AC07-C74209C2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3676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Offline output could differ from what users saw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0DC68-8014-4DCA-8C58-11260499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4152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B85683-6546-4781-B391-D46053F3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86250"/>
            <a:ext cx="3924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Source tagging plus serving and impression telemetry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6096E2-4487-4F2D-8D8F-DC45E7F6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1010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8B33FB-F0E5-442A-B4DD-A17570A3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Debug sequence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B911D1-367C-4A45-AF1C-485328E1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673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Trace one user end to end → verify identity and grain → compare generated, stored, served, and impressed items</a:t>
            </a:r>
          </a:p>
        </p:txBody>
      </p:sp>
    </p:spTree>
    <p:extLst>
      <p:ext uri="{BB962C8B-B14F-4D97-AF65-F5344CB8AC3E}">
        <p14:creationId xmlns:p14="http://schemas.microsoft.com/office/powerpoint/2010/main" val="106918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FCAB6-4FFB-463A-811F-49178477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BFD81-1DCE-4C67-B436-9EB3C50B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SETBACK 3: PRODUCT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B57F6-50DE-4D6B-8043-310BA679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Validating before sampling reduced unusable creation seeds from 47.12% to 7.91%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163AD-B24C-4496-ACC2-2A431DAE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BD531-F8CA-461C-BCE2-60819B0B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8F654-6C5E-405A-97A0-7EC6BE15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3B102-AC13-42F3-8637-D50E9B01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1AA17-0906-434C-B37A-7FED543B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675D9-ECB3-421C-8068-24961F17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8C64A-4757-4921-91F6-F0B571B5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Sample a creation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80C60-B312-4230-81FA-A1ADD5D4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717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40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25A25-33D6-4B16-AE3D-824A8C56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90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Validate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CF070-5BC0-44F7-BF9C-0DD1BA36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47.12%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D1D08-7E6F-4F3D-A8A1-37A3C557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users ended with no usable seed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A01A7-3B74-4283-B498-7D3AF386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0" cy="2838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5BBB3-A610-439F-8DC8-82A56C0A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A6459-727D-4125-9D3D-8321E90D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Validate eligible pool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C17A2-34DB-4CA6-93A5-09AFEF30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717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A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0FF67-0ABD-465F-9028-71135B1F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90750"/>
            <a:ext cx="1638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Sample an anchor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C99FD-7955-449F-B550-43142DD6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7.91%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363AB-260C-4E03-8C8F-C6CBB0A4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76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true no-seed floor after eligibility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AA27E-75F6-483D-9661-A03BC71B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101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AA555-23B6-4D2A-86F2-F72B2AB8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Product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2D121-867C-4736-8790-6771E2FC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57750"/>
            <a:ext cx="908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 creation is useful as a recommendation seed only after quality, rights, privacy, and product eligibility checks.</a:t>
            </a:r>
          </a:p>
        </p:txBody>
      </p:sp>
    </p:spTree>
    <p:extLst>
      <p:ext uri="{BB962C8B-B14F-4D97-AF65-F5344CB8AC3E}">
        <p14:creationId xmlns:p14="http://schemas.microsoft.com/office/powerpoint/2010/main" val="15016979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1C7A51-96F1-4903-A8E6-9809DAAA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50EA9-0998-48A5-8E89-84CF40CE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EXPERIMENTATION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697CA-006B-47DD-A7E7-3D7673FC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Experiment results supported launch decisions across three recommendation surfaces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25332-8165-4D00-A926-2E9D1D60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95D5F-1024-4E84-9084-0217DB01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01789-FBF2-4719-B58A-BC5A10D4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F6E79-DCCC-48A9-B9E6-6C0D1E6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C176B-427C-4EB7-940E-1F88B163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256BC-FCF6-459E-B504-A3FCCED6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8E5AD-944E-4574-9CC1-CE4972E4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23DEB-D16D-48EB-A4EF-5BC6BF83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811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91DC8-F4D6-4A5F-99AF-2EEB1C30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764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79E0D-98F5-41F0-9200-1471BFB0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8115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3BDCD-8409-4EAC-8E01-887A87C9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Supporting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937A6-A53E-4F5F-B992-BFA55C7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8115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8FBE9-77F1-42EF-9425-DD4A7558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764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96A23-1102-4884-AC7C-946AA603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04C7B-817C-4831-B5CF-6D15EF34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247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Listening-seeded precursor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85384-4D4F-4AB5-AF23-19388DF0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6B556-8043-45F3-B13A-948BCC08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71700"/>
            <a:ext cx="2343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+18% feed playtime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7BFA0-CFB0-432D-862A-51147EFA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764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D6D01-3DC9-4C5F-84BF-22941D25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2914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+5.6% feed plays; +4.2% likes on others' clips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98BEE-F33D-495D-81DB-B1207032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2819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7E195-04CA-4B41-9DFD-E1FBE18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Validated a personalized listening shelf; no reported regressions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FB247-0991-4B72-8C4D-95C62D76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B1C55-C151-4F8E-9EDA-4732E10C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247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Because You Create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CF838-C87D-4DA9-A628-49AD0286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D6E3C-6601-4841-8BF9-747A52D6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2343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+63% feed playtime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89A65-8A7A-4FAE-9379-6A0369A6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C162D-AFBA-401E-9868-9CD84C9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2914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+36% feed plays; +0.83% total web clip plays; +1.5% community playtime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FF624F-1183-4778-89DC-F21D09AB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2819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394BD1-D2B8-482D-A3CC-4133972A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7660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Creation-seeded discovery increased depth and total listening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E8A27A-77D2-4F13-9521-EC6F1650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B4402-92BF-43CC-B06D-62BEEACD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247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Creators You May Like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219A31-3DE1-40DE-B3BA-F7A8EAFD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862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22CA5-C408-4C31-87DF-E7257DB5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81500"/>
            <a:ext cx="2343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+15% net follows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3DCC95-31B7-4E9E-928F-DEF9C804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862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3A6B1F-756B-4E85-92BA-CA9B42E5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81500"/>
            <a:ext cx="2914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+7.9% carousel CTR; +17% profile follows; guardrails flat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0CB2C2-6BDD-480F-87E6-393788BC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86250"/>
            <a:ext cx="2819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4E2934-DD54-47A8-8392-C152B26A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8150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Personalized creators created more follow relationships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D17BA7-9EFE-4006-AD96-0A903895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Metric meaning: feed playtime measures listening inside the shelf; carousel CTR measures click-through from creator impressions; net follows measures new follow relationships net of losses.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26DEDC-AFE4-414D-A0B3-142D549F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Relative lift vs control. Sample size, duration, and confidence intervals were not included in the launch summaries used for this deck. For You quantitative readout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21051254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E717DD-3FC0-4F71-B56C-AC268F17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C07B5-56B9-4EAE-9792-AF0AD385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50893-E729-4940-A4AD-4DF4C2AA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The project created a reusable delivery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10D8D-7FEF-4C61-BFB1-9463A5B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7753D-2766-4654-B1AC-1ECAEE3D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B4EEF-170D-4DB0-940F-E8CD8A43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55252-43E1-498A-B64B-A6DFFD15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76412-1675-449C-9FB8-153CEC95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09AD1-6227-49AD-BF7F-3F85B706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1E84F-F260-4E0E-B4E1-A551E775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24454-535F-40CD-9799-F7902D03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E4F39-1D3C-46ED-88E3-C55706FC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145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became reusable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225CB-F3EE-49CA-BD30-175BEE16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4057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9DE27-2AE1-4626-93A2-B72A07B2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AE999-419D-488D-BFB0-06FE9FD4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22618-3EDB-47E8-8905-038C1EB9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Product configuration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AD58A-0B79-421F-8F56-4D5FBBA0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1CF79-FE73-40D4-8B48-1716A4E2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2885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Feed-specific candidate mixes, ranking weights, slot patterns, and fallbacks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A60EA-1A05-494C-96EE-DD32A8E6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4057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0A470-9D5F-482D-B55F-5FB7D8CA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28850"/>
            <a:ext cx="382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New experiments do not require a separate stack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F8FED-9E80-4ADB-917F-0A9BBACB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2A83D-1BDB-4F39-8CFB-A287E92A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Production serving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04798-91B1-433A-AF70-F2048745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9AB6A-7A46-453B-9DD0-EE1A647F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Precomputed results, online checks, hard floors, and fallback retrieval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5F89C-0742-42E0-8DBE-54D30449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71800"/>
            <a:ext cx="4057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8FFAA-8201-4CFC-BD05-CAA9C7E2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382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Offline failures degrade quality without emptying the homepage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769653-1E52-42C1-85DD-D98BC4A7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FB1C8A-885C-4F41-88ED-38B8227D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12511E-9F6C-4616-A804-FB5099BC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BFC5F-81EC-470C-9330-EA7A3950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Feed, position, source, impression, action, and experiment attribution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FBD5A5-072B-42D0-9E66-A8103F9F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4057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687322-6D3B-4A96-91E2-584286A3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05250"/>
            <a:ext cx="382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Product changes can be evaluated from exposure through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FDD8BF-F797-40C9-A393-19DE43B7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C86C07-E454-4646-ABAA-BFBCA065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C3AA00-BF01-4037-8C65-192BDD2A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482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F071A2-0FFA-46B3-8CD3-00C7999C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4345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Staging checks, launch validation, health metrics, and failure diagnosis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D36F18-14DC-4DC2-B490-86F6FA8E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48200"/>
            <a:ext cx="4057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B5B533-A234-4139-8483-0F27BFBB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3450"/>
            <a:ext cx="382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Rollouts have a clear owner and recovery path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1663A8-0893-4ABE-BB58-394E1ED2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1010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616173-252F-4592-961C-9A233AD0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Result: future feed iterations can reuse the data, serving, measurement, and rollout path.</a:t>
            </a:r>
          </a:p>
        </p:txBody>
      </p:sp>
    </p:spTree>
    <p:extLst>
      <p:ext uri="{BB962C8B-B14F-4D97-AF65-F5344CB8AC3E}">
        <p14:creationId xmlns:p14="http://schemas.microsoft.com/office/powerpoint/2010/main" val="3270828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13EC8-A89D-41C3-BA41-73B9ADEE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54CB0-0E5E-4098-B435-21F57121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8C133-0FA2-469D-9D84-CADF3023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Recommendation quality depends on data and operations as much as scoring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FA278-78C1-4CE3-B243-205DB78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EB550-4E1F-4456-8F68-5F6147A8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8A93B-11E3-42A2-812D-4E8FA314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6AA25-5869-4F23-A727-434BC41B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91ED8-5CFA-4B09-843A-C0EEFF6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C40D5-EB30-4133-8790-ECEAF4F1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WHAT WORKED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801BA-1FD0-4487-8810-695775BF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4953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Defined a delivery path without a PM or a predefined roadmap.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Paired ML judgment with end-to-end engineering ownership.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Tested in staging and rolled out without a production outage.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Instrumented exposure, action, and production health before launch.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C09CC-B2E5-4482-8E71-4ABFE708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1D020-A4E2-43A3-A0CE-E042977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WHAT I WOULD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C8DDB-A95E-4BD2-BC0A-280E3CEC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52006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Map source-of-truth tables, identifiers, and grain before implementation.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Define the metric tree before building experiment telemetry.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Run production-scale data prototypes earlier.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Review real recommendation examples with users and partners earlier.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DE4FC-507B-4307-AEE2-5E37D0A5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1010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50AE8-1818-4604-9803-4A3B98E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learned fastest when I treated product behavior, data contracts, and operations as one system.</a:t>
            </a:r>
          </a:p>
        </p:txBody>
      </p:sp>
    </p:spTree>
    <p:extLst>
      <p:ext uri="{BB962C8B-B14F-4D97-AF65-F5344CB8AC3E}">
        <p14:creationId xmlns:p14="http://schemas.microsoft.com/office/powerpoint/2010/main" val="3577215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C5FB0-90C6-4001-93D5-8628B3C8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4C41E-675E-46E8-A1E0-655E9D6E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AFC4D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4DD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CF04D-227A-4EC3-84BB-4764798D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 and experiment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94D4C-761C-4096-A842-D23634B6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D6E1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6E1EE"/>
                </a:solidFill>
                <a:latin typeface="Arial"/>
                <a:ea typeface="Arial"/>
                <a:cs typeface="Arial"/>
              </a:rPr>
              <a:t>Use selectively during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ABBF5-4C93-46F4-82E8-E1EB716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5D86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52130-A54C-4533-8B9C-4E63287F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FC4D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4D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063192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B87428-A144-4AE1-A706-8A1AFC4A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69043-A01A-44C6-9256-C3CE0788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D1F21-A333-42CF-A2C9-4AD79221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Ownership by workstream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C2DD2-7550-4FB5-89DD-68D1ABCB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AD038-E611-4642-94D1-4AB7596F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D056F-9214-4B21-8C3A-5A949C0D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EC6DF-E2DA-4AD4-8CCE-8D93DD2E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18E09-EE6C-4A24-9017-9A56490A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37C3F-8917-4905-80C9-7DB80B70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DDD10-2CD6-45CF-9E59-4A893096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Workstream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42B7D-530D-451A-AE2D-C17D5A4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811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C2580-C700-4020-B250-F3BF7DAA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764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 responsibility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DBD79-DA14-47FD-881B-4BAFABD5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8115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C7C5A-5332-43E1-9D16-22105A6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764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Concrete artifact or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AA5BD-0420-47DA-9158-9718FE65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307B1-3C56-4B02-B439-6B881ED3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382D4-6769-4206-9626-374DF104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764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C5ABA-A07A-4832-A5D4-C07D6057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7170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Co-owned contracts and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7F695-E95B-4538-A853-944599F3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76450"/>
            <a:ext cx="472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96372-601E-4F08-A9A8-439545AF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717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Shared pipeline; offline/online boundary; attribution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9596D-ED56-4F7B-AF65-30E11466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7EC18-DDA0-4AE6-B43A-06C4894A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Data pipelines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AB0C8-98BE-4A10-8E17-F8FED68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051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07EE0A-725E-4EE8-B654-DEF1C7A2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035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Owned end to 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9281D-87FB-431C-8B37-3AE8FA3A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72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8B529-B365-452D-A631-B10EC634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Signals, candidates, ranking inputs, assembly, and materialization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E6A22-CB19-4AEA-AF7A-75EDF641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FEA4F4-EAD3-4BE8-BA27-A4838C99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Retrieval and ranking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E4CEA-0A1F-4C85-9518-22A58B18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337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8AEFD-98B4-4B12-987B-3AA3E5DC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2900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Implemented most logic; co-designed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B5DC7E-7E33-4450-A429-DD1BA984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472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9F90EA-E191-42B5-AFF8-F7F7771A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Candidate sources, weights, negatives, eligibility, refill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05D013-2066-44DF-8CAA-9F7644FB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7F1DA7-53B6-4C0E-AED0-1A3603AF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Serving and UI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98212A-6C15-41F9-9FE0-4DECF334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624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309E7E-C221-4E8D-9018-BEB439BF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5765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Implemented most backend and frontend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510C22-FAEF-4061-A103-13F6FF74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62400"/>
            <a:ext cx="472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4022F9-9833-47A7-9B9A-95F8F5D6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576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Feed endpoints, fallbacks, homepage integration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25243B-8081-4479-8BB4-3D7857DD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17432E-8B08-4036-90D3-36E3A6F0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Experiments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B6DE04-2F35-40E4-B50D-B525133B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8D8AF-6884-4B43-87A9-0D9A74B7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8630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Co-owned setup and readout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5E3DF0-AE11-423E-A2F4-8C135CDA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91050"/>
            <a:ext cx="472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C3EEE-7C3B-44F9-9329-1ABE182F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863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Assignment, exposure, event attribution, guardrails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32B482-EB1F-4E09-8AC4-45803A86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501AB0-00D7-42C8-9050-10CA201D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Rollout and health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CF80DC-DFAE-4DB0-8063-26D3A4EA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197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34A01F-F7AC-4611-BC8E-0E42B30C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Owned staging and production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090DD3-5A40-4679-8A74-638A9B99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19700"/>
            <a:ext cx="472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0C4C0D-CE72-4F8B-8636-8FECC158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149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Launch checks, dashboards, diagnosis, rollback path</a:t>
            </a:r>
          </a:p>
        </p:txBody>
      </p:sp>
    </p:spTree>
    <p:extLst>
      <p:ext uri="{BB962C8B-B14F-4D97-AF65-F5344CB8AC3E}">
        <p14:creationId xmlns:p14="http://schemas.microsoft.com/office/powerpoint/2010/main" val="18311557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3C37EF-1D9B-4ECF-8F18-74E20F3B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A57B1-F527-4524-B221-011AC17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9E8B0-3F9C-4FE4-9607-76B7BBC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Feed design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6CCB9-F538-4462-847D-3C2C27B4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F4C4A-751E-41A2-AA4E-7CA481C0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5227C-7B67-48E7-AACE-9B642099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21D22-92CD-4465-9ADD-699A3131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139FA-5D9F-4BC0-A37A-8AF85A14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E35C8-3F11-40E2-841D-12EC5BB7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BCC3B-DFD4-4D99-A7A5-5E663327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67436-B738-4C9D-9A9E-9B107B42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62100"/>
            <a:ext cx="2895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DA83D-5DE9-480B-BEBF-8A2AB98F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57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72ECA-C622-4C76-87EB-2A21C9D3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5C7C8-FAAF-4A6B-A30C-510CF546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57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Because You Create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AAF56-4EE2-4F47-BD6A-B3F692EE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621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12FBD-F6DD-4D32-B0A3-F91AA6AC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573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Creators You May Like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88A77-D810-43DA-887A-C2B2464B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20BBDB-4E15-4D85-95C1-4C3F38F2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8B29E-F20D-4FFE-9E23-33B4F1DB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76450"/>
            <a:ext cx="2895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92853-8A89-487E-A7C7-D90A5471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71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Song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D8672-6EC5-4C45-81A1-D3BEA094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764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B8EC6-0B71-4C1C-8581-638BE467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7170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Song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7498B-6774-4A0D-87DC-653D1220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76450"/>
            <a:ext cx="2971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EB019-8B63-4D04-84E0-71B8ECEC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Creator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4491BE-84A6-4AED-BCD8-960D6AC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BBDD94-6E60-4B16-8F85-BD3C0FA8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Core input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FBE710-6628-4187-9A3D-76B0D40E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2895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C3452-3466-46CC-8614-D0EB7128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03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Mixed 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A45D63-CA83-49CF-9260-1F9D027C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051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9F4F88-FEF2-40BA-9A6E-BB3C52A1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One strong own creation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7A04B2-5D0B-4960-AE1F-F8AB76B2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05100"/>
            <a:ext cx="2971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AF18E9-D373-4A5F-819E-607AD4C8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035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Listening and creation profile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A7349-C295-4D12-9DCA-23DD3793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DE4614-C8CC-480E-9380-6B94FD71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9293E9-7A37-41EE-B836-FC82ECAE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2895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94E1F3-7F8B-4FCD-B1DA-DD51F4A4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Audio and personal buckets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34BBD1-8AFB-49FD-8CC6-1106D32F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337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5063F4-1FC3-4F0D-B29D-6F3FD2F4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2900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Audio similarity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A75FDD-141C-4D55-9333-A6F00B7D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33750"/>
            <a:ext cx="2971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FD7EE6-F1F9-4624-B9B6-694CD760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Profile similarity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BF0845-37C4-4978-881C-19952EEB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BF3060-C5FF-47C9-9140-600E55CF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Assembly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E72250-9433-4E1C-9DB6-98DD0D7B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62400"/>
            <a:ext cx="2895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44F786-312E-426A-B67E-B9C9919B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576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Multi-signal slots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18E09D-EA7F-41A5-9DDE-13999994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624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72BE8F-5545-4576-BC13-3282B778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576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Anchor then neighbors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79D9A4-E7BD-43AF-B475-CAFE3874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62400"/>
            <a:ext cx="2971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13BAF1-7F4C-44E6-B30B-42F0F90A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5765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Ranked creator list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5F16A4-1C2A-46A9-9C4B-46317031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A385E3-E4F3-4013-8166-BBA7135A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Cold start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2DF618-761E-4EFA-9091-97F1394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91050"/>
            <a:ext cx="2895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17CEE7-20E1-4C25-8CB6-4AC55A4B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863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Local and global trends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B71A0A-F89E-4403-84C9-9B87CFEA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910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04B313-6EB8-49C4-AE3B-4BF36C9E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8630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Online fallback when no seed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3C55CF-28BA-4A5C-81ED-BE94548C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91050"/>
            <a:ext cx="2971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C97662-936E-4F17-A383-B37EB553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8630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Curated or search fallback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DC30DE-42B9-4D63-9826-2C545D40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E244F5-9A7C-4F85-901E-C948B02F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46D4F1-ABEA-40EB-A68D-627E9362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19700"/>
            <a:ext cx="2895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8A9671-FF85-47FD-9307-622337D3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149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Qualified listening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E6A2C7-6452-4840-A41E-BB95D81B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197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8E9DB0-2472-4B6A-AA54-0CF6B76A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149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Creation-adjacent listening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EFA48B-0FAE-48D1-A873-2D2848EC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19700"/>
            <a:ext cx="2971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D827EC-E316-426E-99BE-9508588F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Follow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978982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A6FC1-99A9-4057-AC41-FA507275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523A1-74FC-45F8-AE00-9AE3A34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5E3FD-B896-41C1-AAF3-4A1404EB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Retrieval broadens the pool; ranking applies feed-specific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DD8E7-9418-44BA-B491-D6821CFC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96248-6CFD-456D-88E1-C1818886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7AAF0-69B3-4CA4-8F35-BBB99AE3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5689C-4A09-42AE-89B7-BCBC781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48B10-C6A4-4D1F-9913-C6D07399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306C7-F8A1-4692-AE82-0348F391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CANDIDATE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71C33-F251-4CBF-BA6D-5BD99447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4629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spcAft>
                <a:spcPts val="15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Audio or profile similarity.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5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Listening, likes, and creations.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5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Country-first and global fallbacks.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5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Broad pool with intentionally mixed quality.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F8307-2997-48C7-BF70-FA27213D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0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590E3-CA9C-48E5-86E4-FD02EAA7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PER-FEED RANKING AND ASSEMBLY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BCF78-BBD6-47CC-9023-9E9B65AC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353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spcAft>
                <a:spcPts val="15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Bucket weights and rank fusion.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5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Negative signals and cooldown.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5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Privacy, rights, quality, and safety eligibility.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5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>Slot pattern, deduplication, refill, and hard floor.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9502B-2B25-4DB2-A5F7-556519BD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81575"/>
            <a:ext cx="10915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02846-A81B-4320-9BC2-3C1380F9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Conceptual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F6E6C-E055-4768-AB7E-C06FB905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054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relevance x feed weight x quality x novelty</a:t>
            </a:r>
          </a:p>
        </p:txBody>
      </p:sp>
    </p:spTree>
    <p:extLst>
      <p:ext uri="{BB962C8B-B14F-4D97-AF65-F5344CB8AC3E}">
        <p14:creationId xmlns:p14="http://schemas.microsoft.com/office/powerpoint/2010/main" val="9117234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5F664-E7D8-4C5A-A65F-2EAD58C7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0C6F1-68D5-4D0D-8464-2BA3F1EF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C53C7-9E4A-4FA4-90AF-C62B6FD1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Safety and availability checks run at generation and serve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B6CF7-109A-40B3-BE8F-977ECA42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2DC3C-BD4E-44FA-BA5C-EC0C9223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7362C-8F9D-4DB6-927F-82C4D6DA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0C6B2-219C-416D-8BE6-ACB08102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B3A2F-3807-4DCC-B007-A201FF43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FCA17-F00D-4B67-A358-E099129E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2495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0FB9F-C0AF-4806-8443-0DC19E9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64A21-3B64-4ABA-A4FD-18D99029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455CE-789D-4407-A1F1-151DC678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Remove unsafe or low-quality candidates before 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2695F-1B5B-4C0B-9E09-AA6E3CC9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66900"/>
            <a:ext cx="2495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5D3F3-4ED7-4904-A202-34244D62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383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D58A3-567D-4E26-B445-67EC17FF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527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Offline row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82B10-B09F-4085-9C5D-C0AF10C9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Keep the last good feed during a refresh grace window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1BB1F-40C0-4F6C-9418-46BAF11F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66900"/>
            <a:ext cx="2495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0F91A-7502-41DE-A581-57770F18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130E2-CA1C-46C1-BABB-EDAC9917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Serve-time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740C2-A3BA-4500-A64C-0A949496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Recheck privacy, blocks, rights, and deletion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37E1A-03AF-42E1-A172-32242B71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2495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5D86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7A53D-6EB3-4A5D-867A-35C16FC1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383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ADAE9-6497-4A79-8C3E-4B3D2992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527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A069A-7AA3-4C85-B3D9-FA9314B6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38500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Use cached or real-time retrieval on a miss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F96EA4-7028-4F7C-B8E6-8BE184F8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0810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F5915F-27C8-47F0-A074-AFD41422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AFC4D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FC4DD"/>
                </a:solidFill>
                <a:latin typeface="Arial"/>
                <a:ea typeface="Arial"/>
                <a:cs typeface="Arial"/>
              </a:rPr>
              <a:t>Operating objective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23FD97-C372-4FDA-964C-92D9E2B9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830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offline failure should reduce recommendation quality without producing an empty homepage.</a:t>
            </a:r>
          </a:p>
        </p:txBody>
      </p:sp>
    </p:spTree>
    <p:extLst>
      <p:ext uri="{BB962C8B-B14F-4D97-AF65-F5344CB8AC3E}">
        <p14:creationId xmlns:p14="http://schemas.microsoft.com/office/powerpoint/2010/main" val="10142379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23FF6-AE81-4D18-90FD-962850D9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CAC6F-B584-4EEE-A59E-97C83C4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9458F-E4D5-4573-82C5-76E90111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Measure exposure before interpreting outcome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88D68-CE12-4240-A68F-A8FEFDAD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B4E36-D363-4B42-8025-84B3BE38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527FA-8F42-496C-B88D-5DC5E62A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FA252-318A-4E9B-874A-13A122EB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600C0-88AC-40F3-A173-C4183784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DAC55-9A60-4110-AA9D-3B11903B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CDE3A-CE57-4E26-B78C-53E41071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91839-48C9-4D2F-8F82-B73A41B9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Intent-to-treat population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07105-BE21-4AA1-8552-A49A8089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E113F-A05F-4618-8525-2553824D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145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044A3-39BF-4D7C-91B3-D3ECE041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7650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Shelf and item seen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505D4-D669-4772-83C3-96304045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90875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Actual exposure and 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3B1F6-821D-4987-A023-5BCEAEBB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003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E92A6-C433-4831-AE10-F66126C2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145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F0124-CF56-43FE-B246-EF052677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EAF57-3346-4E51-8CA5-EF3947DE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90875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Play, like, click, or follow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D1A5E-E59A-4A31-8CE9-B63F5129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22E41C-63E8-47DE-B3D1-E5F789F4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145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52881-2721-45A7-B2BB-E2904E46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Durable 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222AD-96F4-4B9C-97BB-C9FD8B75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90875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Return, retention, session depth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96DD0-6B03-4C9E-93CD-AE4BDFBC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1010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8C5838-CEBD-4E93-95E5-F5994EE6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REPORTING CHECKLIST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169EF-0982-465B-86D0-1474694A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61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Control and treatment baselines | Sample size | Duration | Confidence interval | Guardrails | Exposure denominator</a:t>
            </a:r>
          </a:p>
        </p:txBody>
      </p:sp>
    </p:spTree>
    <p:extLst>
      <p:ext uri="{BB962C8B-B14F-4D97-AF65-F5344CB8AC3E}">
        <p14:creationId xmlns:p14="http://schemas.microsoft.com/office/powerpoint/2010/main" val="13577914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E4658-C05F-471B-99F0-F4C3CF02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D04ED-EC33-4D9D-81C1-90E7D2F5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D50C4-BE8B-415B-9A16-9370C0BA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What I would change on day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851B7-FB8A-4805-A60A-1C4875D5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43EA-4B74-4CC4-8C75-BBF86BDD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4A8C0-A998-4254-A0A4-EEF34DA9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D32D0-908A-4138-AA51-E6B7D80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A4EBE-396F-4457-A8D4-DF842427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A8A50-FFA7-4A4C-BE49-088DEF94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5DC12-1A92-4368-9F16-E265B84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764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Map the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EC9F6-8583-4151-8EF9-1ABA99CF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687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Write the source-of-truth, identifier, and data-grain map before implementation.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0AB6B-B316-4DF7-98A2-8E53C7EE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6CD51-BE69-470C-B85C-BEFDE929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0FD92-0763-4C6C-8625-E668C04F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765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Write the metric tree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A1ED5-759A-4091-BABB-CE324AA1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76525"/>
            <a:ext cx="687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Define exposure, primary outcome, mechanisms, and guardrails before telemetry.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03904-C26A-4B73-8EFC-7CFEC33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BCD3A-0AF4-41F7-929D-E776EFDB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9D358-0D91-465D-B9C1-B55DDFA4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Prototype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DCFD1-8125-4D98-A381-8A5BB1A5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687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Review real feeds with users and partners before optimizing ranking.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BA7FE-77CD-4915-BA62-5A41F249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EB762-071E-4396-A359-CF8BB77F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767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63B91-6BA1-4EFB-B0C1-1DF7799B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767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Design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9002A-B36D-4E98-9F97-771EE7B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76775"/>
            <a:ext cx="687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Specify fallbacks, health metrics, and incident reproduction with the first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093536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2026-08-09T22:43:21.5110000Z</dcterms:created>
  <dcterms:modified xsi:type="dcterms:W3CDTF">2026-08-09T22:43:21.5110000Z</dcterms:modified>
</coreProperties>
</file>